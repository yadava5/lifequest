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3"/>
  </p:notesMasterIdLst>
  <p:sldIdLst>
    <p:sldId id="292" r:id="rId3"/>
    <p:sldId id="280" r:id="rId4"/>
    <p:sldId id="275" r:id="rId5"/>
    <p:sldId id="301" r:id="rId6"/>
    <p:sldId id="282" r:id="rId7"/>
    <p:sldId id="302" r:id="rId8"/>
    <p:sldId id="284" r:id="rId9"/>
    <p:sldId id="306" r:id="rId10"/>
    <p:sldId id="286" r:id="rId11"/>
    <p:sldId id="287" r:id="rId12"/>
    <p:sldId id="288" r:id="rId13"/>
    <p:sldId id="304" r:id="rId14"/>
    <p:sldId id="293" r:id="rId15"/>
    <p:sldId id="307" r:id="rId16"/>
    <p:sldId id="295" r:id="rId17"/>
    <p:sldId id="296" r:id="rId18"/>
    <p:sldId id="297" r:id="rId19"/>
    <p:sldId id="298" r:id="rId20"/>
    <p:sldId id="299" r:id="rId21"/>
    <p:sldId id="30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me" id="{B875EA3A-0F3A-42D7-B6E2-7E1A05C2A3DA}">
          <p14:sldIdLst>
            <p14:sldId id="292"/>
            <p14:sldId id="280"/>
          </p14:sldIdLst>
        </p14:section>
        <p14:section name="Our Mission" id="{88495344-40FB-4841-99CC-E364E4B3FA60}">
          <p14:sldIdLst>
            <p14:sldId id="275"/>
            <p14:sldId id="301"/>
          </p14:sldIdLst>
        </p14:section>
        <p14:section name="Problem" id="{89DC3976-4114-4C72-A3F7-CD5F9D4A7E2B}">
          <p14:sldIdLst>
            <p14:sldId id="282"/>
            <p14:sldId id="302"/>
          </p14:sldIdLst>
        </p14:section>
        <p14:section name="Solution" id="{B0161835-6204-4266-8552-F3667AA67871}">
          <p14:sldIdLst>
            <p14:sldId id="284"/>
            <p14:sldId id="306"/>
          </p14:sldIdLst>
        </p14:section>
        <p14:section name="Market Potential" id="{B78F869A-DB52-4C0F-9771-93BD0B0C77E6}">
          <p14:sldIdLst>
            <p14:sldId id="286"/>
            <p14:sldId id="287"/>
          </p14:sldIdLst>
        </p14:section>
        <p14:section name="Business Model" id="{8EDEC664-D3C4-4592-8786-C99AA6E5D5F4}">
          <p14:sldIdLst>
            <p14:sldId id="288"/>
            <p14:sldId id="304"/>
          </p14:sldIdLst>
        </p14:section>
        <p14:section name="Growth Strategy" id="{F496BB06-4A29-4BF5-BA77-B16347F04B8B}">
          <p14:sldIdLst>
            <p14:sldId id="293"/>
            <p14:sldId id="307"/>
          </p14:sldIdLst>
        </p14:section>
        <p14:section name="Competition" id="{5F9BCD4A-9433-48A8-B291-287BE2581A63}">
          <p14:sldIdLst>
            <p14:sldId id="295"/>
            <p14:sldId id="296"/>
          </p14:sldIdLst>
        </p14:section>
        <p14:section name="Financials" id="{DAF8DABC-592A-4901-A0AC-5CDA09D8F45E}">
          <p14:sldIdLst>
            <p14:sldId id="297"/>
            <p14:sldId id="298"/>
          </p14:sldIdLst>
        </p14:section>
        <p14:section name="Team" id="{98810976-D7DB-4275-9710-9A2889E2A734}">
          <p14:sldIdLst>
            <p14:sldId id="299"/>
            <p14:sldId id="30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A046"/>
    <a:srgbClr val="5F6437"/>
    <a:srgbClr val="484525"/>
    <a:srgbClr val="16180A"/>
    <a:srgbClr val="100C07"/>
    <a:srgbClr val="47342D"/>
    <a:srgbClr val="EEDF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3BFD58-8251-4901-BDF2-5A9C7D762628}" v="1834" dt="2024-08-03T14:41:55.8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58" autoAdjust="0"/>
    <p:restoredTop sz="86404" autoAdjust="0"/>
  </p:normalViewPr>
  <p:slideViewPr>
    <p:cSldViewPr snapToGrid="0">
      <p:cViewPr>
        <p:scale>
          <a:sx n="46" d="100"/>
          <a:sy n="46" d="100"/>
        </p:scale>
        <p:origin x="2136" y="1328"/>
      </p:cViewPr>
      <p:guideLst>
        <p:guide orient="horz" pos="2160"/>
        <p:guide pos="3840"/>
      </p:guideLst>
    </p:cSldViewPr>
  </p:slideViewPr>
  <p:outlineViewPr>
    <p:cViewPr>
      <p:scale>
        <a:sx n="20" d="100"/>
        <a:sy n="20" d="100"/>
      </p:scale>
      <p:origin x="0" y="0"/>
    </p:cViewPr>
  </p:outlineViewPr>
  <p:notesTextViewPr>
    <p:cViewPr>
      <p:scale>
        <a:sx n="1" d="1"/>
        <a:sy n="1" d="1"/>
      </p:scale>
      <p:origin x="0" y="0"/>
    </p:cViewPr>
  </p:notesTextViewPr>
  <p:gridSpacing cx="90001" cy="90001"/>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C3AF2F-7BE3-498F-9766-58B5DA79A88E}" type="datetimeFigureOut">
              <a:rPr lang="en-GB" smtClean="0"/>
              <a:t>09/03/2025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727244-25DA-4FDD-ADED-482C09915D8A}" type="slidenum">
              <a:rPr lang="en-GB" smtClean="0"/>
              <a:t>‹#›</a:t>
            </a:fld>
            <a:endParaRPr lang="en-GB"/>
          </a:p>
        </p:txBody>
      </p:sp>
    </p:spTree>
    <p:extLst>
      <p:ext uri="{BB962C8B-B14F-4D97-AF65-F5344CB8AC3E}">
        <p14:creationId xmlns:p14="http://schemas.microsoft.com/office/powerpoint/2010/main" val="2933466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0727244-25DA-4FDD-ADED-482C09915D8A}" type="slidenum">
              <a:rPr lang="en-GB" smtClean="0"/>
              <a:t>1</a:t>
            </a:fld>
            <a:endParaRPr lang="en-GB"/>
          </a:p>
        </p:txBody>
      </p:sp>
    </p:spTree>
    <p:extLst>
      <p:ext uri="{BB962C8B-B14F-4D97-AF65-F5344CB8AC3E}">
        <p14:creationId xmlns:p14="http://schemas.microsoft.com/office/powerpoint/2010/main" val="18796722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https://www.freepik.com/free-ai-image/photorealistic-timber-house-interior-with-wooden-decor-furnishings_152371631.htm</a:t>
            </a:r>
          </a:p>
        </p:txBody>
      </p:sp>
      <p:sp>
        <p:nvSpPr>
          <p:cNvPr id="4" name="Slide Number Placeholder 3"/>
          <p:cNvSpPr>
            <a:spLocks noGrp="1"/>
          </p:cNvSpPr>
          <p:nvPr>
            <p:ph type="sldNum" sz="quarter" idx="5"/>
          </p:nvPr>
        </p:nvSpPr>
        <p:spPr/>
        <p:txBody>
          <a:bodyPr/>
          <a:lstStyle/>
          <a:p>
            <a:fld id="{80727244-25DA-4FDD-ADED-482C09915D8A}" type="slidenum">
              <a:rPr lang="en-GB" smtClean="0"/>
              <a:t>2</a:t>
            </a:fld>
            <a:endParaRPr lang="en-GB"/>
          </a:p>
        </p:txBody>
      </p:sp>
    </p:spTree>
    <p:extLst>
      <p:ext uri="{BB962C8B-B14F-4D97-AF65-F5344CB8AC3E}">
        <p14:creationId xmlns:p14="http://schemas.microsoft.com/office/powerpoint/2010/main" val="18608530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0727244-25DA-4FDD-ADED-482C09915D8A}" type="slidenum">
              <a:rPr lang="en-GB" smtClean="0"/>
              <a:t>3</a:t>
            </a:fld>
            <a:endParaRPr lang="en-GB"/>
          </a:p>
        </p:txBody>
      </p:sp>
    </p:spTree>
    <p:extLst>
      <p:ext uri="{BB962C8B-B14F-4D97-AF65-F5344CB8AC3E}">
        <p14:creationId xmlns:p14="http://schemas.microsoft.com/office/powerpoint/2010/main" val="22643427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727244-25DA-4FDD-ADED-482C09915D8A}" type="slidenum">
              <a:rPr lang="en-GB" smtClean="0"/>
              <a:t>8</a:t>
            </a:fld>
            <a:endParaRPr lang="en-GB"/>
          </a:p>
        </p:txBody>
      </p:sp>
    </p:spTree>
    <p:extLst>
      <p:ext uri="{BB962C8B-B14F-4D97-AF65-F5344CB8AC3E}">
        <p14:creationId xmlns:p14="http://schemas.microsoft.com/office/powerpoint/2010/main" val="21936102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727244-25DA-4FDD-ADED-482C09915D8A}" type="slidenum">
              <a:rPr lang="en-GB" smtClean="0"/>
              <a:t>10</a:t>
            </a:fld>
            <a:endParaRPr lang="en-GB"/>
          </a:p>
        </p:txBody>
      </p:sp>
    </p:spTree>
    <p:extLst>
      <p:ext uri="{BB962C8B-B14F-4D97-AF65-F5344CB8AC3E}">
        <p14:creationId xmlns:p14="http://schemas.microsoft.com/office/powerpoint/2010/main" val="2737007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727244-25DA-4FDD-ADED-482C09915D8A}" type="slidenum">
              <a:rPr lang="en-GB" smtClean="0"/>
              <a:t>16</a:t>
            </a:fld>
            <a:endParaRPr lang="en-GB"/>
          </a:p>
        </p:txBody>
      </p:sp>
    </p:spTree>
    <p:extLst>
      <p:ext uri="{BB962C8B-B14F-4D97-AF65-F5344CB8AC3E}">
        <p14:creationId xmlns:p14="http://schemas.microsoft.com/office/powerpoint/2010/main" val="15480969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727244-25DA-4FDD-ADED-482C09915D8A}" type="slidenum">
              <a:rPr lang="en-GB" smtClean="0"/>
              <a:t>18</a:t>
            </a:fld>
            <a:endParaRPr lang="en-GB"/>
          </a:p>
        </p:txBody>
      </p:sp>
    </p:spTree>
    <p:extLst>
      <p:ext uri="{BB962C8B-B14F-4D97-AF65-F5344CB8AC3E}">
        <p14:creationId xmlns:p14="http://schemas.microsoft.com/office/powerpoint/2010/main" val="42187031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727244-25DA-4FDD-ADED-482C09915D8A}" type="slidenum">
              <a:rPr lang="en-GB" smtClean="0"/>
              <a:t>19</a:t>
            </a:fld>
            <a:endParaRPr lang="en-GB"/>
          </a:p>
        </p:txBody>
      </p:sp>
    </p:spTree>
    <p:extLst>
      <p:ext uri="{BB962C8B-B14F-4D97-AF65-F5344CB8AC3E}">
        <p14:creationId xmlns:p14="http://schemas.microsoft.com/office/powerpoint/2010/main" val="15423986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727244-25DA-4FDD-ADED-482C09915D8A}" type="slidenum">
              <a:rPr lang="en-GB" smtClean="0"/>
              <a:t>20</a:t>
            </a:fld>
            <a:endParaRPr lang="en-GB"/>
          </a:p>
        </p:txBody>
      </p:sp>
    </p:spTree>
    <p:extLst>
      <p:ext uri="{BB962C8B-B14F-4D97-AF65-F5344CB8AC3E}">
        <p14:creationId xmlns:p14="http://schemas.microsoft.com/office/powerpoint/2010/main" val="4387771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EBC4C-A618-39DD-A004-6F099E7521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A76177B-D510-70F6-1D00-4FCAE62283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3648EFF-9FC7-4F9C-94A3-EA5AC7C69724}"/>
              </a:ext>
            </a:extLst>
          </p:cNvPr>
          <p:cNvSpPr>
            <a:spLocks noGrp="1"/>
          </p:cNvSpPr>
          <p:nvPr>
            <p:ph type="dt" sz="half" idx="10"/>
          </p:nvPr>
        </p:nvSpPr>
        <p:spPr/>
        <p:txBody>
          <a:bodyPr/>
          <a:lstStyle/>
          <a:p>
            <a:fld id="{9D50113B-307E-4BCC-B109-BBD51B521CA0}" type="datetimeFigureOut">
              <a:rPr lang="en-GB" smtClean="0"/>
              <a:t>09/03/2025</a:t>
            </a:fld>
            <a:endParaRPr lang="en-GB"/>
          </a:p>
        </p:txBody>
      </p:sp>
      <p:sp>
        <p:nvSpPr>
          <p:cNvPr id="5" name="Footer Placeholder 4">
            <a:extLst>
              <a:ext uri="{FF2B5EF4-FFF2-40B4-BE49-F238E27FC236}">
                <a16:creationId xmlns:a16="http://schemas.microsoft.com/office/drawing/2014/main" id="{1589C630-0B09-53E1-31C9-BABEB07096A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7651915-DC9A-8D6C-F485-926681312B58}"/>
              </a:ext>
            </a:extLst>
          </p:cNvPr>
          <p:cNvSpPr>
            <a:spLocks noGrp="1"/>
          </p:cNvSpPr>
          <p:nvPr>
            <p:ph type="sldNum" sz="quarter" idx="12"/>
          </p:nvPr>
        </p:nvSpPr>
        <p:spPr/>
        <p:txBody>
          <a:bodyPr/>
          <a:lstStyle/>
          <a:p>
            <a:fld id="{B314E427-6CF7-43B6-97E6-2AF54BA7AF6B}" type="slidenum">
              <a:rPr lang="en-GB" smtClean="0"/>
              <a:t>‹#›</a:t>
            </a:fld>
            <a:endParaRPr lang="en-GB"/>
          </a:p>
        </p:txBody>
      </p:sp>
    </p:spTree>
    <p:extLst>
      <p:ext uri="{BB962C8B-B14F-4D97-AF65-F5344CB8AC3E}">
        <p14:creationId xmlns:p14="http://schemas.microsoft.com/office/powerpoint/2010/main" val="24626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45329-AAE3-3E58-F378-BAD4CB611D8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3EA91E4-A116-2E09-B4CB-D5DBA73A20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F7879D2-C552-EF51-DACF-B6C7FB7544FE}"/>
              </a:ext>
            </a:extLst>
          </p:cNvPr>
          <p:cNvSpPr>
            <a:spLocks noGrp="1"/>
          </p:cNvSpPr>
          <p:nvPr>
            <p:ph type="dt" sz="half" idx="10"/>
          </p:nvPr>
        </p:nvSpPr>
        <p:spPr/>
        <p:txBody>
          <a:bodyPr/>
          <a:lstStyle/>
          <a:p>
            <a:fld id="{9D50113B-307E-4BCC-B109-BBD51B521CA0}" type="datetimeFigureOut">
              <a:rPr lang="en-GB" smtClean="0"/>
              <a:t>09/03/2025</a:t>
            </a:fld>
            <a:endParaRPr lang="en-GB"/>
          </a:p>
        </p:txBody>
      </p:sp>
      <p:sp>
        <p:nvSpPr>
          <p:cNvPr id="5" name="Footer Placeholder 4">
            <a:extLst>
              <a:ext uri="{FF2B5EF4-FFF2-40B4-BE49-F238E27FC236}">
                <a16:creationId xmlns:a16="http://schemas.microsoft.com/office/drawing/2014/main" id="{F89E4186-D9C6-7254-A6CF-085AE5DAFD5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2687F46-1A54-4E99-9F0F-02FD07BA3CDA}"/>
              </a:ext>
            </a:extLst>
          </p:cNvPr>
          <p:cNvSpPr>
            <a:spLocks noGrp="1"/>
          </p:cNvSpPr>
          <p:nvPr>
            <p:ph type="sldNum" sz="quarter" idx="12"/>
          </p:nvPr>
        </p:nvSpPr>
        <p:spPr/>
        <p:txBody>
          <a:bodyPr/>
          <a:lstStyle/>
          <a:p>
            <a:fld id="{B314E427-6CF7-43B6-97E6-2AF54BA7AF6B}" type="slidenum">
              <a:rPr lang="en-GB" smtClean="0"/>
              <a:t>‹#›</a:t>
            </a:fld>
            <a:endParaRPr lang="en-GB"/>
          </a:p>
        </p:txBody>
      </p:sp>
    </p:spTree>
    <p:extLst>
      <p:ext uri="{BB962C8B-B14F-4D97-AF65-F5344CB8AC3E}">
        <p14:creationId xmlns:p14="http://schemas.microsoft.com/office/powerpoint/2010/main" val="3118141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82D31-7C3E-9B21-11F3-04D042B2C4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70517DC-0E3B-090C-D59E-CF4189BB41F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89B8AB-AECE-460D-ECF1-F71B5A9CB3EB}"/>
              </a:ext>
            </a:extLst>
          </p:cNvPr>
          <p:cNvSpPr>
            <a:spLocks noGrp="1"/>
          </p:cNvSpPr>
          <p:nvPr>
            <p:ph type="dt" sz="half" idx="10"/>
          </p:nvPr>
        </p:nvSpPr>
        <p:spPr/>
        <p:txBody>
          <a:bodyPr/>
          <a:lstStyle/>
          <a:p>
            <a:fld id="{9D50113B-307E-4BCC-B109-BBD51B521CA0}" type="datetimeFigureOut">
              <a:rPr lang="en-GB" smtClean="0"/>
              <a:t>09/03/2025</a:t>
            </a:fld>
            <a:endParaRPr lang="en-GB"/>
          </a:p>
        </p:txBody>
      </p:sp>
      <p:sp>
        <p:nvSpPr>
          <p:cNvPr id="5" name="Footer Placeholder 4">
            <a:extLst>
              <a:ext uri="{FF2B5EF4-FFF2-40B4-BE49-F238E27FC236}">
                <a16:creationId xmlns:a16="http://schemas.microsoft.com/office/drawing/2014/main" id="{657B0EE6-6B9F-C899-8CB2-BFC4C22F307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CDB339F-44CD-99B1-E8A1-DB352F647225}"/>
              </a:ext>
            </a:extLst>
          </p:cNvPr>
          <p:cNvSpPr>
            <a:spLocks noGrp="1"/>
          </p:cNvSpPr>
          <p:nvPr>
            <p:ph type="sldNum" sz="quarter" idx="12"/>
          </p:nvPr>
        </p:nvSpPr>
        <p:spPr/>
        <p:txBody>
          <a:bodyPr/>
          <a:lstStyle/>
          <a:p>
            <a:fld id="{B314E427-6CF7-43B6-97E6-2AF54BA7AF6B}" type="slidenum">
              <a:rPr lang="en-GB" smtClean="0"/>
              <a:t>‹#›</a:t>
            </a:fld>
            <a:endParaRPr lang="en-GB"/>
          </a:p>
        </p:txBody>
      </p:sp>
    </p:spTree>
    <p:extLst>
      <p:ext uri="{BB962C8B-B14F-4D97-AF65-F5344CB8AC3E}">
        <p14:creationId xmlns:p14="http://schemas.microsoft.com/office/powerpoint/2010/main" val="30575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DAB0E-B469-C409-AFFA-2E7D54D7384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69159B5-6998-F676-C099-A3B516B920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A2BB8FA-7C7D-AAC3-03E6-C37C8DBCBD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559741E-FA99-DDFE-22EC-ED37E8EFED2F}"/>
              </a:ext>
            </a:extLst>
          </p:cNvPr>
          <p:cNvSpPr>
            <a:spLocks noGrp="1"/>
          </p:cNvSpPr>
          <p:nvPr>
            <p:ph type="dt" sz="half" idx="10"/>
          </p:nvPr>
        </p:nvSpPr>
        <p:spPr/>
        <p:txBody>
          <a:bodyPr/>
          <a:lstStyle/>
          <a:p>
            <a:fld id="{9D50113B-307E-4BCC-B109-BBD51B521CA0}" type="datetimeFigureOut">
              <a:rPr lang="en-GB" smtClean="0"/>
              <a:t>09/03/2025</a:t>
            </a:fld>
            <a:endParaRPr lang="en-GB"/>
          </a:p>
        </p:txBody>
      </p:sp>
      <p:sp>
        <p:nvSpPr>
          <p:cNvPr id="6" name="Footer Placeholder 5">
            <a:extLst>
              <a:ext uri="{FF2B5EF4-FFF2-40B4-BE49-F238E27FC236}">
                <a16:creationId xmlns:a16="http://schemas.microsoft.com/office/drawing/2014/main" id="{699B26E2-8080-3035-BA21-383ACED9E28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9C850BC-FE52-B1FF-6350-3E751999EFA8}"/>
              </a:ext>
            </a:extLst>
          </p:cNvPr>
          <p:cNvSpPr>
            <a:spLocks noGrp="1"/>
          </p:cNvSpPr>
          <p:nvPr>
            <p:ph type="sldNum" sz="quarter" idx="12"/>
          </p:nvPr>
        </p:nvSpPr>
        <p:spPr/>
        <p:txBody>
          <a:bodyPr/>
          <a:lstStyle/>
          <a:p>
            <a:fld id="{B314E427-6CF7-43B6-97E6-2AF54BA7AF6B}" type="slidenum">
              <a:rPr lang="en-GB" smtClean="0"/>
              <a:t>‹#›</a:t>
            </a:fld>
            <a:endParaRPr lang="en-GB"/>
          </a:p>
        </p:txBody>
      </p:sp>
    </p:spTree>
    <p:extLst>
      <p:ext uri="{BB962C8B-B14F-4D97-AF65-F5344CB8AC3E}">
        <p14:creationId xmlns:p14="http://schemas.microsoft.com/office/powerpoint/2010/main" val="1330832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B7F57-39D5-C614-4045-8C236549A5C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21B197E-557E-4427-9EBC-537882EF5A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A809BE-7F98-0816-D773-19E230279A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63C4FD4-A360-787F-3521-F4F1240684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910C97-2AF6-44DB-A7CA-9349559F72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AEE5B7E-BF9D-4409-F287-34E5C844F22B}"/>
              </a:ext>
            </a:extLst>
          </p:cNvPr>
          <p:cNvSpPr>
            <a:spLocks noGrp="1"/>
          </p:cNvSpPr>
          <p:nvPr>
            <p:ph type="dt" sz="half" idx="10"/>
          </p:nvPr>
        </p:nvSpPr>
        <p:spPr/>
        <p:txBody>
          <a:bodyPr/>
          <a:lstStyle/>
          <a:p>
            <a:fld id="{9D50113B-307E-4BCC-B109-BBD51B521CA0}" type="datetimeFigureOut">
              <a:rPr lang="en-GB" smtClean="0"/>
              <a:t>09/03/2025</a:t>
            </a:fld>
            <a:endParaRPr lang="en-GB"/>
          </a:p>
        </p:txBody>
      </p:sp>
      <p:sp>
        <p:nvSpPr>
          <p:cNvPr id="8" name="Footer Placeholder 7">
            <a:extLst>
              <a:ext uri="{FF2B5EF4-FFF2-40B4-BE49-F238E27FC236}">
                <a16:creationId xmlns:a16="http://schemas.microsoft.com/office/drawing/2014/main" id="{F2F544D2-2FFC-E60C-6746-D35B7B40D45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CC603DE-1205-4F8E-BC80-C26DD5412929}"/>
              </a:ext>
            </a:extLst>
          </p:cNvPr>
          <p:cNvSpPr>
            <a:spLocks noGrp="1"/>
          </p:cNvSpPr>
          <p:nvPr>
            <p:ph type="sldNum" sz="quarter" idx="12"/>
          </p:nvPr>
        </p:nvSpPr>
        <p:spPr/>
        <p:txBody>
          <a:bodyPr/>
          <a:lstStyle/>
          <a:p>
            <a:fld id="{B314E427-6CF7-43B6-97E6-2AF54BA7AF6B}" type="slidenum">
              <a:rPr lang="en-GB" smtClean="0"/>
              <a:t>‹#›</a:t>
            </a:fld>
            <a:endParaRPr lang="en-GB"/>
          </a:p>
        </p:txBody>
      </p:sp>
    </p:spTree>
    <p:extLst>
      <p:ext uri="{BB962C8B-B14F-4D97-AF65-F5344CB8AC3E}">
        <p14:creationId xmlns:p14="http://schemas.microsoft.com/office/powerpoint/2010/main" val="1770636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4CD14-B560-5502-8FA7-7C5ED24758A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83E143C-9D80-7B20-53F1-F62F1622C8A2}"/>
              </a:ext>
            </a:extLst>
          </p:cNvPr>
          <p:cNvSpPr>
            <a:spLocks noGrp="1"/>
          </p:cNvSpPr>
          <p:nvPr>
            <p:ph type="dt" sz="half" idx="10"/>
          </p:nvPr>
        </p:nvSpPr>
        <p:spPr/>
        <p:txBody>
          <a:bodyPr/>
          <a:lstStyle/>
          <a:p>
            <a:fld id="{9D50113B-307E-4BCC-B109-BBD51B521CA0}" type="datetimeFigureOut">
              <a:rPr lang="en-GB" smtClean="0"/>
              <a:t>09/03/2025</a:t>
            </a:fld>
            <a:endParaRPr lang="en-GB"/>
          </a:p>
        </p:txBody>
      </p:sp>
      <p:sp>
        <p:nvSpPr>
          <p:cNvPr id="4" name="Footer Placeholder 3">
            <a:extLst>
              <a:ext uri="{FF2B5EF4-FFF2-40B4-BE49-F238E27FC236}">
                <a16:creationId xmlns:a16="http://schemas.microsoft.com/office/drawing/2014/main" id="{423224EA-D8AD-8467-6FA2-551B21B89EA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28D5502-98CE-1730-CF44-A6E43451D70E}"/>
              </a:ext>
            </a:extLst>
          </p:cNvPr>
          <p:cNvSpPr>
            <a:spLocks noGrp="1"/>
          </p:cNvSpPr>
          <p:nvPr>
            <p:ph type="sldNum" sz="quarter" idx="12"/>
          </p:nvPr>
        </p:nvSpPr>
        <p:spPr/>
        <p:txBody>
          <a:bodyPr/>
          <a:lstStyle/>
          <a:p>
            <a:fld id="{B314E427-6CF7-43B6-97E6-2AF54BA7AF6B}" type="slidenum">
              <a:rPr lang="en-GB" smtClean="0"/>
              <a:t>‹#›</a:t>
            </a:fld>
            <a:endParaRPr lang="en-GB"/>
          </a:p>
        </p:txBody>
      </p:sp>
    </p:spTree>
    <p:extLst>
      <p:ext uri="{BB962C8B-B14F-4D97-AF65-F5344CB8AC3E}">
        <p14:creationId xmlns:p14="http://schemas.microsoft.com/office/powerpoint/2010/main" val="37167460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D3DF59-3DE8-1391-6796-F8628072A2C5}"/>
              </a:ext>
            </a:extLst>
          </p:cNvPr>
          <p:cNvSpPr>
            <a:spLocks noGrp="1"/>
          </p:cNvSpPr>
          <p:nvPr>
            <p:ph type="dt" sz="half" idx="10"/>
          </p:nvPr>
        </p:nvSpPr>
        <p:spPr/>
        <p:txBody>
          <a:bodyPr/>
          <a:lstStyle/>
          <a:p>
            <a:fld id="{9D50113B-307E-4BCC-B109-BBD51B521CA0}" type="datetimeFigureOut">
              <a:rPr lang="en-GB" smtClean="0"/>
              <a:t>09/03/2025</a:t>
            </a:fld>
            <a:endParaRPr lang="en-GB"/>
          </a:p>
        </p:txBody>
      </p:sp>
      <p:sp>
        <p:nvSpPr>
          <p:cNvPr id="3" name="Footer Placeholder 2">
            <a:extLst>
              <a:ext uri="{FF2B5EF4-FFF2-40B4-BE49-F238E27FC236}">
                <a16:creationId xmlns:a16="http://schemas.microsoft.com/office/drawing/2014/main" id="{3E1741E8-5687-ABAE-BFDA-ABFB4E3F957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E1F92D4-5F01-F416-5AB8-5946FF38D62C}"/>
              </a:ext>
            </a:extLst>
          </p:cNvPr>
          <p:cNvSpPr>
            <a:spLocks noGrp="1"/>
          </p:cNvSpPr>
          <p:nvPr>
            <p:ph type="sldNum" sz="quarter" idx="12"/>
          </p:nvPr>
        </p:nvSpPr>
        <p:spPr/>
        <p:txBody>
          <a:bodyPr/>
          <a:lstStyle/>
          <a:p>
            <a:fld id="{B314E427-6CF7-43B6-97E6-2AF54BA7AF6B}" type="slidenum">
              <a:rPr lang="en-GB" smtClean="0"/>
              <a:t>‹#›</a:t>
            </a:fld>
            <a:endParaRPr lang="en-GB"/>
          </a:p>
        </p:txBody>
      </p:sp>
    </p:spTree>
    <p:extLst>
      <p:ext uri="{BB962C8B-B14F-4D97-AF65-F5344CB8AC3E}">
        <p14:creationId xmlns:p14="http://schemas.microsoft.com/office/powerpoint/2010/main" val="10591753"/>
      </p:ext>
    </p:extLst>
  </p:cSld>
  <p:clrMapOvr>
    <a:masterClrMapping/>
  </p:clrMapOvr>
  <p:extLst>
    <p:ext uri="{DCECCB84-F9BA-43D5-87BE-67443E8EF086}">
      <p15:sldGuideLst xmlns:p15="http://schemas.microsoft.com/office/powerpoint/2012/main">
        <p15:guide id="1" userDrawn="1">
          <p15:clr>
            <a:srgbClr val="FBAE40"/>
          </p15:clr>
        </p15:guide>
        <p15:guide id="2" pos="7680" userDrawn="1">
          <p15:clr>
            <a:srgbClr val="FBAE40"/>
          </p15:clr>
        </p15:guide>
        <p15:guide id="3" pos="170" userDrawn="1">
          <p15:clr>
            <a:srgbClr val="FBAE40"/>
          </p15:clr>
        </p15:guide>
        <p15:guide id="4" pos="781" userDrawn="1">
          <p15:clr>
            <a:srgbClr val="FBAE40"/>
          </p15:clr>
        </p15:guide>
        <p15:guide id="5" pos="1393" userDrawn="1">
          <p15:clr>
            <a:srgbClr val="FBAE40"/>
          </p15:clr>
        </p15:guide>
        <p15:guide id="6" pos="2005" userDrawn="1">
          <p15:clr>
            <a:srgbClr val="FBAE40"/>
          </p15:clr>
        </p15:guide>
        <p15:guide id="7" pos="2616" userDrawn="1">
          <p15:clr>
            <a:srgbClr val="FBAE40"/>
          </p15:clr>
        </p15:guide>
        <p15:guide id="8" pos="3228" userDrawn="1">
          <p15:clr>
            <a:srgbClr val="FBAE40"/>
          </p15:clr>
        </p15:guide>
        <p15:guide id="9" pos="3840" userDrawn="1">
          <p15:clr>
            <a:srgbClr val="FBAE40"/>
          </p15:clr>
        </p15:guide>
        <p15:guide id="10" pos="4451" userDrawn="1">
          <p15:clr>
            <a:srgbClr val="FBAE40"/>
          </p15:clr>
        </p15:guide>
        <p15:guide id="11" pos="5063" userDrawn="1">
          <p15:clr>
            <a:srgbClr val="FBAE40"/>
          </p15:clr>
        </p15:guide>
        <p15:guide id="12" pos="5674" userDrawn="1">
          <p15:clr>
            <a:srgbClr val="FBAE40"/>
          </p15:clr>
        </p15:guide>
        <p15:guide id="13" pos="6286" userDrawn="1">
          <p15:clr>
            <a:srgbClr val="FBAE40"/>
          </p15:clr>
        </p15:guide>
        <p15:guide id="14" pos="6898" userDrawn="1">
          <p15:clr>
            <a:srgbClr val="FBAE40"/>
          </p15:clr>
        </p15:guide>
        <p15:guide id="15" pos="7509" userDrawn="1">
          <p15:clr>
            <a:srgbClr val="FBAE40"/>
          </p15:clr>
        </p15:guide>
        <p15:guide id="16" orient="horz" userDrawn="1">
          <p15:clr>
            <a:srgbClr val="FBAE40"/>
          </p15:clr>
        </p15:guide>
        <p15:guide id="17" orient="horz" pos="4320" userDrawn="1">
          <p15:clr>
            <a:srgbClr val="FBAE40"/>
          </p15:clr>
        </p15:guide>
        <p15:guide id="18" orient="horz" pos="170" userDrawn="1">
          <p15:clr>
            <a:srgbClr val="FBAE40"/>
          </p15:clr>
        </p15:guide>
        <p15:guide id="19" orient="horz" pos="4149"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C80FC-954B-3902-44DA-728C90F766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C7B6F3C-2639-35E1-B777-330AF3DBBD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E163C5E-D09C-57C5-2EC2-70882C8667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DF375C-4470-09D6-15BE-9BF9331F0EC2}"/>
              </a:ext>
            </a:extLst>
          </p:cNvPr>
          <p:cNvSpPr>
            <a:spLocks noGrp="1"/>
          </p:cNvSpPr>
          <p:nvPr>
            <p:ph type="dt" sz="half" idx="10"/>
          </p:nvPr>
        </p:nvSpPr>
        <p:spPr/>
        <p:txBody>
          <a:bodyPr/>
          <a:lstStyle/>
          <a:p>
            <a:fld id="{9D50113B-307E-4BCC-B109-BBD51B521CA0}" type="datetimeFigureOut">
              <a:rPr lang="en-GB" smtClean="0"/>
              <a:t>09/03/2025</a:t>
            </a:fld>
            <a:endParaRPr lang="en-GB"/>
          </a:p>
        </p:txBody>
      </p:sp>
      <p:sp>
        <p:nvSpPr>
          <p:cNvPr id="6" name="Footer Placeholder 5">
            <a:extLst>
              <a:ext uri="{FF2B5EF4-FFF2-40B4-BE49-F238E27FC236}">
                <a16:creationId xmlns:a16="http://schemas.microsoft.com/office/drawing/2014/main" id="{DE8796F1-3EE7-BE1C-93CC-2135E5BBDCC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9C2ACCB-8014-917F-BE76-14490BABA76E}"/>
              </a:ext>
            </a:extLst>
          </p:cNvPr>
          <p:cNvSpPr>
            <a:spLocks noGrp="1"/>
          </p:cNvSpPr>
          <p:nvPr>
            <p:ph type="sldNum" sz="quarter" idx="12"/>
          </p:nvPr>
        </p:nvSpPr>
        <p:spPr/>
        <p:txBody>
          <a:bodyPr/>
          <a:lstStyle/>
          <a:p>
            <a:fld id="{B314E427-6CF7-43B6-97E6-2AF54BA7AF6B}" type="slidenum">
              <a:rPr lang="en-GB" smtClean="0"/>
              <a:t>‹#›</a:t>
            </a:fld>
            <a:endParaRPr lang="en-GB"/>
          </a:p>
        </p:txBody>
      </p:sp>
    </p:spTree>
    <p:extLst>
      <p:ext uri="{BB962C8B-B14F-4D97-AF65-F5344CB8AC3E}">
        <p14:creationId xmlns:p14="http://schemas.microsoft.com/office/powerpoint/2010/main" val="2014191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65C55-DE59-AD45-2ED2-29A7911569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E21D154-BEFF-4042-8137-4CE2589046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2B5F2CF-5E0E-84D9-7794-1E1EC50C41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3EA2CF-FF4B-F037-DBB0-1AE8C8E06AA6}"/>
              </a:ext>
            </a:extLst>
          </p:cNvPr>
          <p:cNvSpPr>
            <a:spLocks noGrp="1"/>
          </p:cNvSpPr>
          <p:nvPr>
            <p:ph type="dt" sz="half" idx="10"/>
          </p:nvPr>
        </p:nvSpPr>
        <p:spPr/>
        <p:txBody>
          <a:bodyPr/>
          <a:lstStyle/>
          <a:p>
            <a:fld id="{9D50113B-307E-4BCC-B109-BBD51B521CA0}" type="datetimeFigureOut">
              <a:rPr lang="en-GB" smtClean="0"/>
              <a:t>09/03/2025</a:t>
            </a:fld>
            <a:endParaRPr lang="en-GB"/>
          </a:p>
        </p:txBody>
      </p:sp>
      <p:sp>
        <p:nvSpPr>
          <p:cNvPr id="6" name="Footer Placeholder 5">
            <a:extLst>
              <a:ext uri="{FF2B5EF4-FFF2-40B4-BE49-F238E27FC236}">
                <a16:creationId xmlns:a16="http://schemas.microsoft.com/office/drawing/2014/main" id="{0D4DDD2A-A5F6-F1C5-05E8-64CD9D51A77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B3BC7A3-B58F-13B7-9995-D27EF38245E9}"/>
              </a:ext>
            </a:extLst>
          </p:cNvPr>
          <p:cNvSpPr>
            <a:spLocks noGrp="1"/>
          </p:cNvSpPr>
          <p:nvPr>
            <p:ph type="sldNum" sz="quarter" idx="12"/>
          </p:nvPr>
        </p:nvSpPr>
        <p:spPr/>
        <p:txBody>
          <a:bodyPr/>
          <a:lstStyle/>
          <a:p>
            <a:fld id="{B314E427-6CF7-43B6-97E6-2AF54BA7AF6B}" type="slidenum">
              <a:rPr lang="en-GB" smtClean="0"/>
              <a:t>‹#›</a:t>
            </a:fld>
            <a:endParaRPr lang="en-GB"/>
          </a:p>
        </p:txBody>
      </p:sp>
    </p:spTree>
    <p:extLst>
      <p:ext uri="{BB962C8B-B14F-4D97-AF65-F5344CB8AC3E}">
        <p14:creationId xmlns:p14="http://schemas.microsoft.com/office/powerpoint/2010/main" val="3712217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77BD0-2508-909C-716B-4E68C7E4E62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A178145-3E79-6BD3-70F0-F691CA1290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4619B2-6441-48C8-7E6B-4ABE242E6A4A}"/>
              </a:ext>
            </a:extLst>
          </p:cNvPr>
          <p:cNvSpPr>
            <a:spLocks noGrp="1"/>
          </p:cNvSpPr>
          <p:nvPr>
            <p:ph type="dt" sz="half" idx="10"/>
          </p:nvPr>
        </p:nvSpPr>
        <p:spPr/>
        <p:txBody>
          <a:bodyPr/>
          <a:lstStyle/>
          <a:p>
            <a:fld id="{9D50113B-307E-4BCC-B109-BBD51B521CA0}" type="datetimeFigureOut">
              <a:rPr lang="en-GB" smtClean="0"/>
              <a:t>09/03/2025</a:t>
            </a:fld>
            <a:endParaRPr lang="en-GB"/>
          </a:p>
        </p:txBody>
      </p:sp>
      <p:sp>
        <p:nvSpPr>
          <p:cNvPr id="5" name="Footer Placeholder 4">
            <a:extLst>
              <a:ext uri="{FF2B5EF4-FFF2-40B4-BE49-F238E27FC236}">
                <a16:creationId xmlns:a16="http://schemas.microsoft.com/office/drawing/2014/main" id="{62FC68C0-EDE2-C1FD-F7FD-BD969B56B25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0FA48DB-4380-CE54-ACD9-5559F8133184}"/>
              </a:ext>
            </a:extLst>
          </p:cNvPr>
          <p:cNvSpPr>
            <a:spLocks noGrp="1"/>
          </p:cNvSpPr>
          <p:nvPr>
            <p:ph type="sldNum" sz="quarter" idx="12"/>
          </p:nvPr>
        </p:nvSpPr>
        <p:spPr/>
        <p:txBody>
          <a:bodyPr/>
          <a:lstStyle/>
          <a:p>
            <a:fld id="{B314E427-6CF7-43B6-97E6-2AF54BA7AF6B}" type="slidenum">
              <a:rPr lang="en-GB" smtClean="0"/>
              <a:t>‹#›</a:t>
            </a:fld>
            <a:endParaRPr lang="en-GB"/>
          </a:p>
        </p:txBody>
      </p:sp>
    </p:spTree>
    <p:extLst>
      <p:ext uri="{BB962C8B-B14F-4D97-AF65-F5344CB8AC3E}">
        <p14:creationId xmlns:p14="http://schemas.microsoft.com/office/powerpoint/2010/main" val="3467430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506D35-54B1-A678-851B-FCA645D284C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BC2D8D1-8933-43E3-68F5-4D65C467A2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31BDD04-642A-2CEF-ACD9-5D419188C95C}"/>
              </a:ext>
            </a:extLst>
          </p:cNvPr>
          <p:cNvSpPr>
            <a:spLocks noGrp="1"/>
          </p:cNvSpPr>
          <p:nvPr>
            <p:ph type="dt" sz="half" idx="10"/>
          </p:nvPr>
        </p:nvSpPr>
        <p:spPr/>
        <p:txBody>
          <a:bodyPr/>
          <a:lstStyle/>
          <a:p>
            <a:fld id="{9D50113B-307E-4BCC-B109-BBD51B521CA0}" type="datetimeFigureOut">
              <a:rPr lang="en-GB" smtClean="0"/>
              <a:t>09/03/2025</a:t>
            </a:fld>
            <a:endParaRPr lang="en-GB"/>
          </a:p>
        </p:txBody>
      </p:sp>
      <p:sp>
        <p:nvSpPr>
          <p:cNvPr id="5" name="Footer Placeholder 4">
            <a:extLst>
              <a:ext uri="{FF2B5EF4-FFF2-40B4-BE49-F238E27FC236}">
                <a16:creationId xmlns:a16="http://schemas.microsoft.com/office/drawing/2014/main" id="{B5E33EDA-94B8-5637-5166-9F58C6948B9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1870ABD-3C03-215E-3BA0-CF733B94545A}"/>
              </a:ext>
            </a:extLst>
          </p:cNvPr>
          <p:cNvSpPr>
            <a:spLocks noGrp="1"/>
          </p:cNvSpPr>
          <p:nvPr>
            <p:ph type="sldNum" sz="quarter" idx="12"/>
          </p:nvPr>
        </p:nvSpPr>
        <p:spPr/>
        <p:txBody>
          <a:bodyPr/>
          <a:lstStyle/>
          <a:p>
            <a:fld id="{B314E427-6CF7-43B6-97E6-2AF54BA7AF6B}" type="slidenum">
              <a:rPr lang="en-GB" smtClean="0"/>
              <a:t>‹#›</a:t>
            </a:fld>
            <a:endParaRPr lang="en-GB"/>
          </a:p>
        </p:txBody>
      </p:sp>
    </p:spTree>
    <p:extLst>
      <p:ext uri="{BB962C8B-B14F-4D97-AF65-F5344CB8AC3E}">
        <p14:creationId xmlns:p14="http://schemas.microsoft.com/office/powerpoint/2010/main" val="24988033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927CA-EC04-FDCE-9CFC-53FBF80B2A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75C4E92-D8AF-45DE-4432-E800693780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4036554-42D0-0742-A750-B703AEFCBAB7}"/>
              </a:ext>
            </a:extLst>
          </p:cNvPr>
          <p:cNvSpPr>
            <a:spLocks noGrp="1"/>
          </p:cNvSpPr>
          <p:nvPr>
            <p:ph type="dt" sz="half" idx="10"/>
          </p:nvPr>
        </p:nvSpPr>
        <p:spPr/>
        <p:txBody>
          <a:bodyPr/>
          <a:lstStyle/>
          <a:p>
            <a:fld id="{68F5C24A-9409-42F1-AFD4-D88E5171A316}" type="datetime1">
              <a:rPr lang="en-GB" smtClean="0"/>
              <a:t>09/03/2025</a:t>
            </a:fld>
            <a:endParaRPr lang="en-GB"/>
          </a:p>
        </p:txBody>
      </p:sp>
      <p:sp>
        <p:nvSpPr>
          <p:cNvPr id="5" name="Footer Placeholder 4">
            <a:extLst>
              <a:ext uri="{FF2B5EF4-FFF2-40B4-BE49-F238E27FC236}">
                <a16:creationId xmlns:a16="http://schemas.microsoft.com/office/drawing/2014/main" id="{DC1C2A28-BEAA-D28B-8F6D-360C7F6E4AF7}"/>
              </a:ext>
            </a:extLst>
          </p:cNvPr>
          <p:cNvSpPr>
            <a:spLocks noGrp="1"/>
          </p:cNvSpPr>
          <p:nvPr>
            <p:ph type="ftr" sz="quarter" idx="11"/>
          </p:nvPr>
        </p:nvSpPr>
        <p:spPr/>
        <p:txBody>
          <a:bodyPr/>
          <a:lstStyle/>
          <a:p>
            <a:r>
              <a:rPr lang="en-GB"/>
              <a:t>Designed by One Skill</a:t>
            </a:r>
          </a:p>
        </p:txBody>
      </p:sp>
      <p:sp>
        <p:nvSpPr>
          <p:cNvPr id="6" name="Slide Number Placeholder 5">
            <a:extLst>
              <a:ext uri="{FF2B5EF4-FFF2-40B4-BE49-F238E27FC236}">
                <a16:creationId xmlns:a16="http://schemas.microsoft.com/office/drawing/2014/main" id="{E3E760C1-75AB-344F-27D3-2137BB8EE398}"/>
              </a:ext>
            </a:extLst>
          </p:cNvPr>
          <p:cNvSpPr>
            <a:spLocks noGrp="1"/>
          </p:cNvSpPr>
          <p:nvPr>
            <p:ph type="sldNum" sz="quarter" idx="12"/>
          </p:nvPr>
        </p:nvSpPr>
        <p:spPr/>
        <p:txBody>
          <a:bodyPr/>
          <a:lstStyle/>
          <a:p>
            <a:fld id="{41EB0B11-EF5C-41FA-A23E-99E3908ED535}" type="slidenum">
              <a:rPr lang="en-GB" smtClean="0"/>
              <a:t>‹#›</a:t>
            </a:fld>
            <a:endParaRPr lang="en-GB"/>
          </a:p>
        </p:txBody>
      </p:sp>
    </p:spTree>
    <p:extLst>
      <p:ext uri="{BB962C8B-B14F-4D97-AF65-F5344CB8AC3E}">
        <p14:creationId xmlns:p14="http://schemas.microsoft.com/office/powerpoint/2010/main" val="25352871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53387-52C0-5B6A-6F6C-67FD472CA73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A2E3C19-97F7-B057-C5A8-E5CE271F7D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12C0E83-50A0-F62F-EE08-250DAE07F8F1}"/>
              </a:ext>
            </a:extLst>
          </p:cNvPr>
          <p:cNvSpPr>
            <a:spLocks noGrp="1"/>
          </p:cNvSpPr>
          <p:nvPr>
            <p:ph type="dt" sz="half" idx="10"/>
          </p:nvPr>
        </p:nvSpPr>
        <p:spPr/>
        <p:txBody>
          <a:bodyPr/>
          <a:lstStyle/>
          <a:p>
            <a:fld id="{3EA54FF3-9659-441D-886C-9DA4B7C21964}" type="datetime1">
              <a:rPr lang="en-GB" smtClean="0"/>
              <a:t>09/03/2025</a:t>
            </a:fld>
            <a:endParaRPr lang="en-GB"/>
          </a:p>
        </p:txBody>
      </p:sp>
      <p:sp>
        <p:nvSpPr>
          <p:cNvPr id="5" name="Footer Placeholder 4">
            <a:extLst>
              <a:ext uri="{FF2B5EF4-FFF2-40B4-BE49-F238E27FC236}">
                <a16:creationId xmlns:a16="http://schemas.microsoft.com/office/drawing/2014/main" id="{2BAA5126-015E-26C8-9777-AD4E0B1FC6DE}"/>
              </a:ext>
            </a:extLst>
          </p:cNvPr>
          <p:cNvSpPr>
            <a:spLocks noGrp="1"/>
          </p:cNvSpPr>
          <p:nvPr>
            <p:ph type="ftr" sz="quarter" idx="11"/>
          </p:nvPr>
        </p:nvSpPr>
        <p:spPr/>
        <p:txBody>
          <a:bodyPr/>
          <a:lstStyle/>
          <a:p>
            <a:r>
              <a:rPr lang="en-GB"/>
              <a:t>Designed by One Skill</a:t>
            </a:r>
          </a:p>
        </p:txBody>
      </p:sp>
      <p:sp>
        <p:nvSpPr>
          <p:cNvPr id="6" name="Slide Number Placeholder 5">
            <a:extLst>
              <a:ext uri="{FF2B5EF4-FFF2-40B4-BE49-F238E27FC236}">
                <a16:creationId xmlns:a16="http://schemas.microsoft.com/office/drawing/2014/main" id="{3D80E731-D4E3-1F29-4105-4BC1839D0BED}"/>
              </a:ext>
            </a:extLst>
          </p:cNvPr>
          <p:cNvSpPr>
            <a:spLocks noGrp="1"/>
          </p:cNvSpPr>
          <p:nvPr>
            <p:ph type="sldNum" sz="quarter" idx="12"/>
          </p:nvPr>
        </p:nvSpPr>
        <p:spPr/>
        <p:txBody>
          <a:bodyPr/>
          <a:lstStyle/>
          <a:p>
            <a:fld id="{41EB0B11-EF5C-41FA-A23E-99E3908ED535}" type="slidenum">
              <a:rPr lang="en-GB" smtClean="0"/>
              <a:t>‹#›</a:t>
            </a:fld>
            <a:endParaRPr lang="en-GB"/>
          </a:p>
        </p:txBody>
      </p:sp>
    </p:spTree>
    <p:extLst>
      <p:ext uri="{BB962C8B-B14F-4D97-AF65-F5344CB8AC3E}">
        <p14:creationId xmlns:p14="http://schemas.microsoft.com/office/powerpoint/2010/main" val="38064946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293CE-DC18-7EBB-FD8E-814F3522CD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0EB9178-C934-2288-EC5A-DAC080A9F62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207F36-ABE2-B599-3B45-FB385749FB92}"/>
              </a:ext>
            </a:extLst>
          </p:cNvPr>
          <p:cNvSpPr>
            <a:spLocks noGrp="1"/>
          </p:cNvSpPr>
          <p:nvPr>
            <p:ph type="dt" sz="half" idx="10"/>
          </p:nvPr>
        </p:nvSpPr>
        <p:spPr/>
        <p:txBody>
          <a:bodyPr/>
          <a:lstStyle/>
          <a:p>
            <a:fld id="{1CBE0393-4DC3-4B15-8652-4766F50BDB94}" type="datetime1">
              <a:rPr lang="en-GB" smtClean="0"/>
              <a:t>09/03/2025</a:t>
            </a:fld>
            <a:endParaRPr lang="en-GB"/>
          </a:p>
        </p:txBody>
      </p:sp>
      <p:sp>
        <p:nvSpPr>
          <p:cNvPr id="5" name="Footer Placeholder 4">
            <a:extLst>
              <a:ext uri="{FF2B5EF4-FFF2-40B4-BE49-F238E27FC236}">
                <a16:creationId xmlns:a16="http://schemas.microsoft.com/office/drawing/2014/main" id="{ED77A94B-EA40-561F-0E00-4D71ABE10DC9}"/>
              </a:ext>
            </a:extLst>
          </p:cNvPr>
          <p:cNvSpPr>
            <a:spLocks noGrp="1"/>
          </p:cNvSpPr>
          <p:nvPr>
            <p:ph type="ftr" sz="quarter" idx="11"/>
          </p:nvPr>
        </p:nvSpPr>
        <p:spPr/>
        <p:txBody>
          <a:bodyPr/>
          <a:lstStyle/>
          <a:p>
            <a:r>
              <a:rPr lang="en-GB"/>
              <a:t>Designed by One Skill</a:t>
            </a:r>
          </a:p>
        </p:txBody>
      </p:sp>
      <p:sp>
        <p:nvSpPr>
          <p:cNvPr id="6" name="Slide Number Placeholder 5">
            <a:extLst>
              <a:ext uri="{FF2B5EF4-FFF2-40B4-BE49-F238E27FC236}">
                <a16:creationId xmlns:a16="http://schemas.microsoft.com/office/drawing/2014/main" id="{A8203142-0649-0702-E644-F78C75B0A2A1}"/>
              </a:ext>
            </a:extLst>
          </p:cNvPr>
          <p:cNvSpPr>
            <a:spLocks noGrp="1"/>
          </p:cNvSpPr>
          <p:nvPr>
            <p:ph type="sldNum" sz="quarter" idx="12"/>
          </p:nvPr>
        </p:nvSpPr>
        <p:spPr/>
        <p:txBody>
          <a:bodyPr/>
          <a:lstStyle/>
          <a:p>
            <a:fld id="{41EB0B11-EF5C-41FA-A23E-99E3908ED535}" type="slidenum">
              <a:rPr lang="en-GB" smtClean="0"/>
              <a:t>‹#›</a:t>
            </a:fld>
            <a:endParaRPr lang="en-GB"/>
          </a:p>
        </p:txBody>
      </p:sp>
    </p:spTree>
    <p:extLst>
      <p:ext uri="{BB962C8B-B14F-4D97-AF65-F5344CB8AC3E}">
        <p14:creationId xmlns:p14="http://schemas.microsoft.com/office/powerpoint/2010/main" val="35688642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7EBE7-5725-2027-6C19-02A8472DD1F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E3EC399-F347-D0FB-AAC5-BB452DA45B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8FE23FA-119D-D03B-8CDB-C0B784E3D46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479C3B32-C36F-CC0E-645F-04EE564CCBCC}"/>
              </a:ext>
            </a:extLst>
          </p:cNvPr>
          <p:cNvSpPr>
            <a:spLocks noGrp="1"/>
          </p:cNvSpPr>
          <p:nvPr>
            <p:ph type="dt" sz="half" idx="10"/>
          </p:nvPr>
        </p:nvSpPr>
        <p:spPr/>
        <p:txBody>
          <a:bodyPr/>
          <a:lstStyle/>
          <a:p>
            <a:fld id="{8DB746B6-5631-4AC1-900D-706E9B0D7B63}" type="datetime1">
              <a:rPr lang="en-GB" smtClean="0"/>
              <a:t>09/03/2025</a:t>
            </a:fld>
            <a:endParaRPr lang="en-GB"/>
          </a:p>
        </p:txBody>
      </p:sp>
      <p:sp>
        <p:nvSpPr>
          <p:cNvPr id="6" name="Footer Placeholder 5">
            <a:extLst>
              <a:ext uri="{FF2B5EF4-FFF2-40B4-BE49-F238E27FC236}">
                <a16:creationId xmlns:a16="http://schemas.microsoft.com/office/drawing/2014/main" id="{8E9CFCF0-556C-BF46-05B1-FB1F17591F83}"/>
              </a:ext>
            </a:extLst>
          </p:cNvPr>
          <p:cNvSpPr>
            <a:spLocks noGrp="1"/>
          </p:cNvSpPr>
          <p:nvPr>
            <p:ph type="ftr" sz="quarter" idx="11"/>
          </p:nvPr>
        </p:nvSpPr>
        <p:spPr/>
        <p:txBody>
          <a:bodyPr/>
          <a:lstStyle/>
          <a:p>
            <a:r>
              <a:rPr lang="en-GB"/>
              <a:t>Designed by One Skill</a:t>
            </a:r>
          </a:p>
        </p:txBody>
      </p:sp>
      <p:sp>
        <p:nvSpPr>
          <p:cNvPr id="7" name="Slide Number Placeholder 6">
            <a:extLst>
              <a:ext uri="{FF2B5EF4-FFF2-40B4-BE49-F238E27FC236}">
                <a16:creationId xmlns:a16="http://schemas.microsoft.com/office/drawing/2014/main" id="{866B6493-3CBF-FD4E-EE7C-088CCE434C7B}"/>
              </a:ext>
            </a:extLst>
          </p:cNvPr>
          <p:cNvSpPr>
            <a:spLocks noGrp="1"/>
          </p:cNvSpPr>
          <p:nvPr>
            <p:ph type="sldNum" sz="quarter" idx="12"/>
          </p:nvPr>
        </p:nvSpPr>
        <p:spPr/>
        <p:txBody>
          <a:bodyPr/>
          <a:lstStyle/>
          <a:p>
            <a:fld id="{41EB0B11-EF5C-41FA-A23E-99E3908ED535}" type="slidenum">
              <a:rPr lang="en-GB" smtClean="0"/>
              <a:t>‹#›</a:t>
            </a:fld>
            <a:endParaRPr lang="en-GB"/>
          </a:p>
        </p:txBody>
      </p:sp>
    </p:spTree>
    <p:extLst>
      <p:ext uri="{BB962C8B-B14F-4D97-AF65-F5344CB8AC3E}">
        <p14:creationId xmlns:p14="http://schemas.microsoft.com/office/powerpoint/2010/main" val="5002292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C480C-5F0C-EF6B-69FE-88938DD6486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0FF698D-F9DC-8256-2772-5DCD8EA9D5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7DD954-1E5D-1CA5-AF1E-089B371029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0152888-0209-873C-C8AB-6DD83628D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C10F12-C3AA-5409-24D5-7973DB32AB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F828A34-700E-CCCC-89A1-489F8837E36F}"/>
              </a:ext>
            </a:extLst>
          </p:cNvPr>
          <p:cNvSpPr>
            <a:spLocks noGrp="1"/>
          </p:cNvSpPr>
          <p:nvPr>
            <p:ph type="dt" sz="half" idx="10"/>
          </p:nvPr>
        </p:nvSpPr>
        <p:spPr/>
        <p:txBody>
          <a:bodyPr/>
          <a:lstStyle/>
          <a:p>
            <a:fld id="{3613351D-D414-4628-B6BA-F3CF23231103}" type="datetime1">
              <a:rPr lang="en-GB" smtClean="0"/>
              <a:t>09/03/2025</a:t>
            </a:fld>
            <a:endParaRPr lang="en-GB"/>
          </a:p>
        </p:txBody>
      </p:sp>
      <p:sp>
        <p:nvSpPr>
          <p:cNvPr id="8" name="Footer Placeholder 7">
            <a:extLst>
              <a:ext uri="{FF2B5EF4-FFF2-40B4-BE49-F238E27FC236}">
                <a16:creationId xmlns:a16="http://schemas.microsoft.com/office/drawing/2014/main" id="{6EAB6FA3-DBB1-94C6-4D07-2B495FB8D6AB}"/>
              </a:ext>
            </a:extLst>
          </p:cNvPr>
          <p:cNvSpPr>
            <a:spLocks noGrp="1"/>
          </p:cNvSpPr>
          <p:nvPr>
            <p:ph type="ftr" sz="quarter" idx="11"/>
          </p:nvPr>
        </p:nvSpPr>
        <p:spPr/>
        <p:txBody>
          <a:bodyPr/>
          <a:lstStyle/>
          <a:p>
            <a:r>
              <a:rPr lang="en-GB"/>
              <a:t>Designed by One Skill</a:t>
            </a:r>
          </a:p>
        </p:txBody>
      </p:sp>
      <p:sp>
        <p:nvSpPr>
          <p:cNvPr id="9" name="Slide Number Placeholder 8">
            <a:extLst>
              <a:ext uri="{FF2B5EF4-FFF2-40B4-BE49-F238E27FC236}">
                <a16:creationId xmlns:a16="http://schemas.microsoft.com/office/drawing/2014/main" id="{1C7E0359-950B-0308-A77D-C230EF31A0D0}"/>
              </a:ext>
            </a:extLst>
          </p:cNvPr>
          <p:cNvSpPr>
            <a:spLocks noGrp="1"/>
          </p:cNvSpPr>
          <p:nvPr>
            <p:ph type="sldNum" sz="quarter" idx="12"/>
          </p:nvPr>
        </p:nvSpPr>
        <p:spPr/>
        <p:txBody>
          <a:bodyPr/>
          <a:lstStyle/>
          <a:p>
            <a:fld id="{41EB0B11-EF5C-41FA-A23E-99E3908ED535}" type="slidenum">
              <a:rPr lang="en-GB" smtClean="0"/>
              <a:t>‹#›</a:t>
            </a:fld>
            <a:endParaRPr lang="en-GB"/>
          </a:p>
        </p:txBody>
      </p:sp>
    </p:spTree>
    <p:extLst>
      <p:ext uri="{BB962C8B-B14F-4D97-AF65-F5344CB8AC3E}">
        <p14:creationId xmlns:p14="http://schemas.microsoft.com/office/powerpoint/2010/main" val="13371512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E1CE1-03DC-4BC7-6D82-7D0A611FDA1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DCEC0E2-AA2B-3889-9554-96F303DAF6DC}"/>
              </a:ext>
            </a:extLst>
          </p:cNvPr>
          <p:cNvSpPr>
            <a:spLocks noGrp="1"/>
          </p:cNvSpPr>
          <p:nvPr>
            <p:ph type="dt" sz="half" idx="10"/>
          </p:nvPr>
        </p:nvSpPr>
        <p:spPr/>
        <p:txBody>
          <a:bodyPr/>
          <a:lstStyle/>
          <a:p>
            <a:fld id="{11CD3F00-CE47-4FAC-9296-264952B2AD7B}" type="datetime1">
              <a:rPr lang="en-GB" smtClean="0"/>
              <a:t>09/03/2025</a:t>
            </a:fld>
            <a:endParaRPr lang="en-GB"/>
          </a:p>
        </p:txBody>
      </p:sp>
      <p:sp>
        <p:nvSpPr>
          <p:cNvPr id="4" name="Footer Placeholder 3">
            <a:extLst>
              <a:ext uri="{FF2B5EF4-FFF2-40B4-BE49-F238E27FC236}">
                <a16:creationId xmlns:a16="http://schemas.microsoft.com/office/drawing/2014/main" id="{A73E8A7B-5406-5D43-99E7-8F06BC6637D2}"/>
              </a:ext>
            </a:extLst>
          </p:cNvPr>
          <p:cNvSpPr>
            <a:spLocks noGrp="1"/>
          </p:cNvSpPr>
          <p:nvPr>
            <p:ph type="ftr" sz="quarter" idx="11"/>
          </p:nvPr>
        </p:nvSpPr>
        <p:spPr/>
        <p:txBody>
          <a:bodyPr/>
          <a:lstStyle/>
          <a:p>
            <a:r>
              <a:rPr lang="en-GB"/>
              <a:t>Designed by One Skill</a:t>
            </a:r>
          </a:p>
        </p:txBody>
      </p:sp>
      <p:sp>
        <p:nvSpPr>
          <p:cNvPr id="5" name="Slide Number Placeholder 4">
            <a:extLst>
              <a:ext uri="{FF2B5EF4-FFF2-40B4-BE49-F238E27FC236}">
                <a16:creationId xmlns:a16="http://schemas.microsoft.com/office/drawing/2014/main" id="{5363C191-0DC0-D851-8C87-75F3406F350F}"/>
              </a:ext>
            </a:extLst>
          </p:cNvPr>
          <p:cNvSpPr>
            <a:spLocks noGrp="1"/>
          </p:cNvSpPr>
          <p:nvPr>
            <p:ph type="sldNum" sz="quarter" idx="12"/>
          </p:nvPr>
        </p:nvSpPr>
        <p:spPr/>
        <p:txBody>
          <a:bodyPr/>
          <a:lstStyle/>
          <a:p>
            <a:fld id="{41EB0B11-EF5C-41FA-A23E-99E3908ED535}" type="slidenum">
              <a:rPr lang="en-GB" smtClean="0"/>
              <a:t>‹#›</a:t>
            </a:fld>
            <a:endParaRPr lang="en-GB"/>
          </a:p>
        </p:txBody>
      </p:sp>
    </p:spTree>
    <p:extLst>
      <p:ext uri="{BB962C8B-B14F-4D97-AF65-F5344CB8AC3E}">
        <p14:creationId xmlns:p14="http://schemas.microsoft.com/office/powerpoint/2010/main" val="12282245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83E5B6-DA1D-5638-C9A6-3CB7531BF5F6}"/>
              </a:ext>
            </a:extLst>
          </p:cNvPr>
          <p:cNvSpPr>
            <a:spLocks noGrp="1"/>
          </p:cNvSpPr>
          <p:nvPr>
            <p:ph type="dt" sz="half" idx="10"/>
          </p:nvPr>
        </p:nvSpPr>
        <p:spPr/>
        <p:txBody>
          <a:bodyPr/>
          <a:lstStyle/>
          <a:p>
            <a:fld id="{05F8160D-F348-4767-A573-6056422869C1}" type="datetime1">
              <a:rPr lang="en-GB" smtClean="0"/>
              <a:t>09/03/2025</a:t>
            </a:fld>
            <a:endParaRPr lang="en-GB"/>
          </a:p>
        </p:txBody>
      </p:sp>
      <p:sp>
        <p:nvSpPr>
          <p:cNvPr id="3" name="Footer Placeholder 2">
            <a:extLst>
              <a:ext uri="{FF2B5EF4-FFF2-40B4-BE49-F238E27FC236}">
                <a16:creationId xmlns:a16="http://schemas.microsoft.com/office/drawing/2014/main" id="{AEB4E43F-1DF9-4A31-6750-A37A393C24A2}"/>
              </a:ext>
            </a:extLst>
          </p:cNvPr>
          <p:cNvSpPr>
            <a:spLocks noGrp="1"/>
          </p:cNvSpPr>
          <p:nvPr>
            <p:ph type="ftr" sz="quarter" idx="11"/>
          </p:nvPr>
        </p:nvSpPr>
        <p:spPr/>
        <p:txBody>
          <a:bodyPr vert="horz" lIns="91440" tIns="45720" rIns="91440" bIns="45720" rtlCol="0" anchor="ctr"/>
          <a:lstStyle>
            <a:lvl1pPr>
              <a:defRPr lang="en-GB" sz="1000">
                <a:latin typeface="Darker Grotesque" pitchFamily="2" charset="0"/>
              </a:defRPr>
            </a:lvl1pPr>
          </a:lstStyle>
          <a:p>
            <a:r>
              <a:rPr lang="en-GB"/>
              <a:t>Designed by One Skill</a:t>
            </a:r>
          </a:p>
        </p:txBody>
      </p:sp>
      <p:sp>
        <p:nvSpPr>
          <p:cNvPr id="4" name="Slide Number Placeholder 3">
            <a:extLst>
              <a:ext uri="{FF2B5EF4-FFF2-40B4-BE49-F238E27FC236}">
                <a16:creationId xmlns:a16="http://schemas.microsoft.com/office/drawing/2014/main" id="{20905FB5-9613-E806-4DED-5DBAED25C676}"/>
              </a:ext>
            </a:extLst>
          </p:cNvPr>
          <p:cNvSpPr>
            <a:spLocks noGrp="1"/>
          </p:cNvSpPr>
          <p:nvPr>
            <p:ph type="sldNum" sz="quarter" idx="12"/>
          </p:nvPr>
        </p:nvSpPr>
        <p:spPr/>
        <p:txBody>
          <a:bodyPr/>
          <a:lstStyle/>
          <a:p>
            <a:fld id="{41EB0B11-EF5C-41FA-A23E-99E3908ED535}" type="slidenum">
              <a:rPr lang="en-GB" smtClean="0"/>
              <a:t>‹#›</a:t>
            </a:fld>
            <a:endParaRPr lang="en-GB"/>
          </a:p>
        </p:txBody>
      </p:sp>
    </p:spTree>
    <p:extLst>
      <p:ext uri="{BB962C8B-B14F-4D97-AF65-F5344CB8AC3E}">
        <p14:creationId xmlns:p14="http://schemas.microsoft.com/office/powerpoint/2010/main" val="1608334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800"/>
                                        <p:tgtEl>
                                          <p:spTgt spid="3"/>
                                        </p:tgtEl>
                                      </p:cBhvr>
                                    </p:animEffect>
                                  </p:childTnLst>
                                </p:cTn>
                              </p:par>
                              <p:par>
                                <p:cTn id="8" presetID="42" presetClass="path" presetSubtype="0" decel="100000" fill="hold" grpId="1" nodeType="withEffect">
                                  <p:stCondLst>
                                    <p:cond delay="0"/>
                                  </p:stCondLst>
                                  <p:childTnLst>
                                    <p:animMotion origin="layout" path="M 0 1.85185E-6 L 0 0.11389 " pathEditMode="relative" rAng="0" ptsTypes="AA">
                                      <p:cBhvr>
                                        <p:cTn id="9" dur="1250" spd="-100000" fill="hold"/>
                                        <p:tgtEl>
                                          <p:spTgt spid="3"/>
                                        </p:tgtEl>
                                        <p:attrNameLst>
                                          <p:attrName>ppt_x</p:attrName>
                                          <p:attrName>ppt_y</p:attrName>
                                        </p:attrNameLst>
                                      </p:cBhvr>
                                      <p:rCtr x="0" y="569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extLst>
    <p:ext uri="{DCECCB84-F9BA-43D5-87BE-67443E8EF086}">
      <p15:sldGuideLst xmlns:p15="http://schemas.microsoft.com/office/powerpoint/2012/main">
        <p15:guide id="1" userDrawn="1">
          <p15:clr>
            <a:srgbClr val="FBAE40"/>
          </p15:clr>
        </p15:guide>
        <p15:guide id="2" pos="7680" userDrawn="1">
          <p15:clr>
            <a:srgbClr val="FBAE40"/>
          </p15:clr>
        </p15:guide>
        <p15:guide id="3" pos="170" userDrawn="1">
          <p15:clr>
            <a:srgbClr val="FBAE40"/>
          </p15:clr>
        </p15:guide>
        <p15:guide id="4" pos="781" userDrawn="1">
          <p15:clr>
            <a:srgbClr val="FBAE40"/>
          </p15:clr>
        </p15:guide>
        <p15:guide id="5" pos="1393" userDrawn="1">
          <p15:clr>
            <a:srgbClr val="FBAE40"/>
          </p15:clr>
        </p15:guide>
        <p15:guide id="6" pos="2005" userDrawn="1">
          <p15:clr>
            <a:srgbClr val="FBAE40"/>
          </p15:clr>
        </p15:guide>
        <p15:guide id="7" pos="2616" userDrawn="1">
          <p15:clr>
            <a:srgbClr val="FBAE40"/>
          </p15:clr>
        </p15:guide>
        <p15:guide id="8" pos="3228" userDrawn="1">
          <p15:clr>
            <a:srgbClr val="FBAE40"/>
          </p15:clr>
        </p15:guide>
        <p15:guide id="9" pos="3840" userDrawn="1">
          <p15:clr>
            <a:srgbClr val="FBAE40"/>
          </p15:clr>
        </p15:guide>
        <p15:guide id="10" pos="4451" userDrawn="1">
          <p15:clr>
            <a:srgbClr val="FBAE40"/>
          </p15:clr>
        </p15:guide>
        <p15:guide id="11" pos="5063" userDrawn="1">
          <p15:clr>
            <a:srgbClr val="FBAE40"/>
          </p15:clr>
        </p15:guide>
        <p15:guide id="12" pos="5674" userDrawn="1">
          <p15:clr>
            <a:srgbClr val="FBAE40"/>
          </p15:clr>
        </p15:guide>
        <p15:guide id="13" pos="6286" userDrawn="1">
          <p15:clr>
            <a:srgbClr val="FBAE40"/>
          </p15:clr>
        </p15:guide>
        <p15:guide id="14" pos="6898" userDrawn="1">
          <p15:clr>
            <a:srgbClr val="FBAE40"/>
          </p15:clr>
        </p15:guide>
        <p15:guide id="15" pos="7509" userDrawn="1">
          <p15:clr>
            <a:srgbClr val="FBAE40"/>
          </p15:clr>
        </p15:guide>
        <p15:guide id="16" orient="horz" userDrawn="1">
          <p15:clr>
            <a:srgbClr val="FBAE40"/>
          </p15:clr>
        </p15:guide>
        <p15:guide id="17" orient="horz" pos="4320" userDrawn="1">
          <p15:clr>
            <a:srgbClr val="FBAE40"/>
          </p15:clr>
        </p15:guide>
        <p15:guide id="18" orient="horz" pos="170" userDrawn="1">
          <p15:clr>
            <a:srgbClr val="FBAE40"/>
          </p15:clr>
        </p15:guide>
        <p15:guide id="19" orient="horz" pos="2160" userDrawn="1">
          <p15:clr>
            <a:srgbClr val="FBAE40"/>
          </p15:clr>
        </p15:guide>
        <p15:guide id="20" orient="horz" pos="4149"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ACE8C-4BC2-CAA2-7451-304FBEAA83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C379F71-05EB-853E-7E23-A6EAE83199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BD395FD-E4E0-6076-4D07-98E0B9418D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782851-6829-4144-8DAC-B8A74FD26763}"/>
              </a:ext>
            </a:extLst>
          </p:cNvPr>
          <p:cNvSpPr>
            <a:spLocks noGrp="1"/>
          </p:cNvSpPr>
          <p:nvPr>
            <p:ph type="dt" sz="half" idx="10"/>
          </p:nvPr>
        </p:nvSpPr>
        <p:spPr/>
        <p:txBody>
          <a:bodyPr/>
          <a:lstStyle/>
          <a:p>
            <a:fld id="{5442BB48-99BB-40C1-9AA6-5303F798AB6D}" type="datetime1">
              <a:rPr lang="en-GB" smtClean="0"/>
              <a:t>09/03/2025</a:t>
            </a:fld>
            <a:endParaRPr lang="en-GB"/>
          </a:p>
        </p:txBody>
      </p:sp>
      <p:sp>
        <p:nvSpPr>
          <p:cNvPr id="6" name="Footer Placeholder 5">
            <a:extLst>
              <a:ext uri="{FF2B5EF4-FFF2-40B4-BE49-F238E27FC236}">
                <a16:creationId xmlns:a16="http://schemas.microsoft.com/office/drawing/2014/main" id="{314CD30E-3C31-AA44-2A8B-87C605CD0134}"/>
              </a:ext>
            </a:extLst>
          </p:cNvPr>
          <p:cNvSpPr>
            <a:spLocks noGrp="1"/>
          </p:cNvSpPr>
          <p:nvPr>
            <p:ph type="ftr" sz="quarter" idx="11"/>
          </p:nvPr>
        </p:nvSpPr>
        <p:spPr/>
        <p:txBody>
          <a:bodyPr/>
          <a:lstStyle/>
          <a:p>
            <a:r>
              <a:rPr lang="en-GB"/>
              <a:t>Designed by One Skill</a:t>
            </a:r>
          </a:p>
        </p:txBody>
      </p:sp>
      <p:sp>
        <p:nvSpPr>
          <p:cNvPr id="7" name="Slide Number Placeholder 6">
            <a:extLst>
              <a:ext uri="{FF2B5EF4-FFF2-40B4-BE49-F238E27FC236}">
                <a16:creationId xmlns:a16="http://schemas.microsoft.com/office/drawing/2014/main" id="{48AB089B-89C5-5A31-F472-479A7604EB89}"/>
              </a:ext>
            </a:extLst>
          </p:cNvPr>
          <p:cNvSpPr>
            <a:spLocks noGrp="1"/>
          </p:cNvSpPr>
          <p:nvPr>
            <p:ph type="sldNum" sz="quarter" idx="12"/>
          </p:nvPr>
        </p:nvSpPr>
        <p:spPr/>
        <p:txBody>
          <a:bodyPr/>
          <a:lstStyle/>
          <a:p>
            <a:fld id="{41EB0B11-EF5C-41FA-A23E-99E3908ED535}" type="slidenum">
              <a:rPr lang="en-GB" smtClean="0"/>
              <a:t>‹#›</a:t>
            </a:fld>
            <a:endParaRPr lang="en-GB"/>
          </a:p>
        </p:txBody>
      </p:sp>
    </p:spTree>
    <p:extLst>
      <p:ext uri="{BB962C8B-B14F-4D97-AF65-F5344CB8AC3E}">
        <p14:creationId xmlns:p14="http://schemas.microsoft.com/office/powerpoint/2010/main" val="29766372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54B6F-B779-6114-01F8-FC909B9E0F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A0AF54E-2C93-3182-A338-652AD5607C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010EA83-91B8-2F8B-D6D6-701E75F9D4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13E36D-ADA9-46F8-605E-3DB04A717223}"/>
              </a:ext>
            </a:extLst>
          </p:cNvPr>
          <p:cNvSpPr>
            <a:spLocks noGrp="1"/>
          </p:cNvSpPr>
          <p:nvPr>
            <p:ph type="dt" sz="half" idx="10"/>
          </p:nvPr>
        </p:nvSpPr>
        <p:spPr/>
        <p:txBody>
          <a:bodyPr/>
          <a:lstStyle/>
          <a:p>
            <a:fld id="{1302C429-8E84-42A2-8E8C-AC5D38A08E5A}" type="datetime1">
              <a:rPr lang="en-GB" smtClean="0"/>
              <a:t>09/03/2025</a:t>
            </a:fld>
            <a:endParaRPr lang="en-GB"/>
          </a:p>
        </p:txBody>
      </p:sp>
      <p:sp>
        <p:nvSpPr>
          <p:cNvPr id="6" name="Footer Placeholder 5">
            <a:extLst>
              <a:ext uri="{FF2B5EF4-FFF2-40B4-BE49-F238E27FC236}">
                <a16:creationId xmlns:a16="http://schemas.microsoft.com/office/drawing/2014/main" id="{782E5099-E6D2-CF7B-6B64-FB3B7E6BEBFB}"/>
              </a:ext>
            </a:extLst>
          </p:cNvPr>
          <p:cNvSpPr>
            <a:spLocks noGrp="1"/>
          </p:cNvSpPr>
          <p:nvPr>
            <p:ph type="ftr" sz="quarter" idx="11"/>
          </p:nvPr>
        </p:nvSpPr>
        <p:spPr/>
        <p:txBody>
          <a:bodyPr/>
          <a:lstStyle/>
          <a:p>
            <a:r>
              <a:rPr lang="en-GB"/>
              <a:t>Designed by One Skill</a:t>
            </a:r>
          </a:p>
        </p:txBody>
      </p:sp>
      <p:sp>
        <p:nvSpPr>
          <p:cNvPr id="7" name="Slide Number Placeholder 6">
            <a:extLst>
              <a:ext uri="{FF2B5EF4-FFF2-40B4-BE49-F238E27FC236}">
                <a16:creationId xmlns:a16="http://schemas.microsoft.com/office/drawing/2014/main" id="{94B92FE7-A8B1-05B3-0C64-06952BBA890A}"/>
              </a:ext>
            </a:extLst>
          </p:cNvPr>
          <p:cNvSpPr>
            <a:spLocks noGrp="1"/>
          </p:cNvSpPr>
          <p:nvPr>
            <p:ph type="sldNum" sz="quarter" idx="12"/>
          </p:nvPr>
        </p:nvSpPr>
        <p:spPr/>
        <p:txBody>
          <a:bodyPr/>
          <a:lstStyle/>
          <a:p>
            <a:fld id="{41EB0B11-EF5C-41FA-A23E-99E3908ED535}" type="slidenum">
              <a:rPr lang="en-GB" smtClean="0"/>
              <a:t>‹#›</a:t>
            </a:fld>
            <a:endParaRPr lang="en-GB"/>
          </a:p>
        </p:txBody>
      </p:sp>
    </p:spTree>
    <p:extLst>
      <p:ext uri="{BB962C8B-B14F-4D97-AF65-F5344CB8AC3E}">
        <p14:creationId xmlns:p14="http://schemas.microsoft.com/office/powerpoint/2010/main" val="14363700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514CF-52E1-BE45-744A-368CA91C06E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076A353-9914-8982-0C84-9A5695B1A4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C1C1416-2554-CE90-5596-7D9ED8625829}"/>
              </a:ext>
            </a:extLst>
          </p:cNvPr>
          <p:cNvSpPr>
            <a:spLocks noGrp="1"/>
          </p:cNvSpPr>
          <p:nvPr>
            <p:ph type="dt" sz="half" idx="10"/>
          </p:nvPr>
        </p:nvSpPr>
        <p:spPr/>
        <p:txBody>
          <a:bodyPr/>
          <a:lstStyle/>
          <a:p>
            <a:fld id="{4E964B02-EE58-467E-B191-C850F2619705}" type="datetime1">
              <a:rPr lang="en-GB" smtClean="0"/>
              <a:t>09/03/2025</a:t>
            </a:fld>
            <a:endParaRPr lang="en-GB"/>
          </a:p>
        </p:txBody>
      </p:sp>
      <p:sp>
        <p:nvSpPr>
          <p:cNvPr id="5" name="Footer Placeholder 4">
            <a:extLst>
              <a:ext uri="{FF2B5EF4-FFF2-40B4-BE49-F238E27FC236}">
                <a16:creationId xmlns:a16="http://schemas.microsoft.com/office/drawing/2014/main" id="{30C9D2BE-7059-389A-E2C3-EAE35D11C539}"/>
              </a:ext>
            </a:extLst>
          </p:cNvPr>
          <p:cNvSpPr>
            <a:spLocks noGrp="1"/>
          </p:cNvSpPr>
          <p:nvPr>
            <p:ph type="ftr" sz="quarter" idx="11"/>
          </p:nvPr>
        </p:nvSpPr>
        <p:spPr/>
        <p:txBody>
          <a:bodyPr/>
          <a:lstStyle/>
          <a:p>
            <a:r>
              <a:rPr lang="en-GB"/>
              <a:t>Designed by One Skill</a:t>
            </a:r>
          </a:p>
        </p:txBody>
      </p:sp>
      <p:sp>
        <p:nvSpPr>
          <p:cNvPr id="6" name="Slide Number Placeholder 5">
            <a:extLst>
              <a:ext uri="{FF2B5EF4-FFF2-40B4-BE49-F238E27FC236}">
                <a16:creationId xmlns:a16="http://schemas.microsoft.com/office/drawing/2014/main" id="{132B6406-B2CF-C5A0-55AD-808836148754}"/>
              </a:ext>
            </a:extLst>
          </p:cNvPr>
          <p:cNvSpPr>
            <a:spLocks noGrp="1"/>
          </p:cNvSpPr>
          <p:nvPr>
            <p:ph type="sldNum" sz="quarter" idx="12"/>
          </p:nvPr>
        </p:nvSpPr>
        <p:spPr/>
        <p:txBody>
          <a:bodyPr/>
          <a:lstStyle/>
          <a:p>
            <a:fld id="{41EB0B11-EF5C-41FA-A23E-99E3908ED535}" type="slidenum">
              <a:rPr lang="en-GB" smtClean="0"/>
              <a:t>‹#›</a:t>
            </a:fld>
            <a:endParaRPr lang="en-GB"/>
          </a:p>
        </p:txBody>
      </p:sp>
    </p:spTree>
    <p:extLst>
      <p:ext uri="{BB962C8B-B14F-4D97-AF65-F5344CB8AC3E}">
        <p14:creationId xmlns:p14="http://schemas.microsoft.com/office/powerpoint/2010/main" val="31425916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EBDED2-2230-DDDB-24CA-10C580DD641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1BF548C-B125-301D-91A0-E0236E25FF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888B4E0-1400-9F08-4390-6E5ADEC28D41}"/>
              </a:ext>
            </a:extLst>
          </p:cNvPr>
          <p:cNvSpPr>
            <a:spLocks noGrp="1"/>
          </p:cNvSpPr>
          <p:nvPr>
            <p:ph type="dt" sz="half" idx="10"/>
          </p:nvPr>
        </p:nvSpPr>
        <p:spPr/>
        <p:txBody>
          <a:bodyPr/>
          <a:lstStyle/>
          <a:p>
            <a:fld id="{550B8236-A10F-4128-9405-4158C4F29211}" type="datetime1">
              <a:rPr lang="en-GB" smtClean="0"/>
              <a:t>09/03/2025</a:t>
            </a:fld>
            <a:endParaRPr lang="en-GB"/>
          </a:p>
        </p:txBody>
      </p:sp>
      <p:sp>
        <p:nvSpPr>
          <p:cNvPr id="5" name="Footer Placeholder 4">
            <a:extLst>
              <a:ext uri="{FF2B5EF4-FFF2-40B4-BE49-F238E27FC236}">
                <a16:creationId xmlns:a16="http://schemas.microsoft.com/office/drawing/2014/main" id="{3B8B47D6-33E1-13E1-1F4C-E66E6C56FA87}"/>
              </a:ext>
            </a:extLst>
          </p:cNvPr>
          <p:cNvSpPr>
            <a:spLocks noGrp="1"/>
          </p:cNvSpPr>
          <p:nvPr>
            <p:ph type="ftr" sz="quarter" idx="11"/>
          </p:nvPr>
        </p:nvSpPr>
        <p:spPr/>
        <p:txBody>
          <a:bodyPr/>
          <a:lstStyle/>
          <a:p>
            <a:r>
              <a:rPr lang="en-GB"/>
              <a:t>Designed by One Skill</a:t>
            </a:r>
          </a:p>
        </p:txBody>
      </p:sp>
      <p:sp>
        <p:nvSpPr>
          <p:cNvPr id="6" name="Slide Number Placeholder 5">
            <a:extLst>
              <a:ext uri="{FF2B5EF4-FFF2-40B4-BE49-F238E27FC236}">
                <a16:creationId xmlns:a16="http://schemas.microsoft.com/office/drawing/2014/main" id="{EEE8F5D8-AA94-610F-1E85-D90E01FB6AB1}"/>
              </a:ext>
            </a:extLst>
          </p:cNvPr>
          <p:cNvSpPr>
            <a:spLocks noGrp="1"/>
          </p:cNvSpPr>
          <p:nvPr>
            <p:ph type="sldNum" sz="quarter" idx="12"/>
          </p:nvPr>
        </p:nvSpPr>
        <p:spPr/>
        <p:txBody>
          <a:bodyPr/>
          <a:lstStyle/>
          <a:p>
            <a:fld id="{41EB0B11-EF5C-41FA-A23E-99E3908ED535}" type="slidenum">
              <a:rPr lang="en-GB" smtClean="0"/>
              <a:t>‹#›</a:t>
            </a:fld>
            <a:endParaRPr lang="en-GB"/>
          </a:p>
        </p:txBody>
      </p:sp>
    </p:spTree>
    <p:extLst>
      <p:ext uri="{BB962C8B-B14F-4D97-AF65-F5344CB8AC3E}">
        <p14:creationId xmlns:p14="http://schemas.microsoft.com/office/powerpoint/2010/main" val="2809746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50F0E9-14D8-C13A-164C-5578C2FADF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9BF6759-8623-0D18-E856-4DECD53A00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3B6CE54-4744-A76E-1786-3567DF9AFE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50113B-307E-4BCC-B109-BBD51B521CA0}" type="datetimeFigureOut">
              <a:rPr lang="en-GB" smtClean="0"/>
              <a:t>09/03/2025</a:t>
            </a:fld>
            <a:endParaRPr lang="en-GB"/>
          </a:p>
        </p:txBody>
      </p:sp>
      <p:sp>
        <p:nvSpPr>
          <p:cNvPr id="5" name="Footer Placeholder 4">
            <a:extLst>
              <a:ext uri="{FF2B5EF4-FFF2-40B4-BE49-F238E27FC236}">
                <a16:creationId xmlns:a16="http://schemas.microsoft.com/office/drawing/2014/main" id="{B98C2A40-3DF3-1B62-CB90-5CF5DDD2B2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CCF77C0B-632A-3E36-411B-34F99CAAF3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14E427-6CF7-43B6-97E6-2AF54BA7AF6B}" type="slidenum">
              <a:rPr lang="en-GB" smtClean="0"/>
              <a:t>‹#›</a:t>
            </a:fld>
            <a:endParaRPr lang="en-GB"/>
          </a:p>
        </p:txBody>
      </p:sp>
    </p:spTree>
    <p:extLst>
      <p:ext uri="{BB962C8B-B14F-4D97-AF65-F5344CB8AC3E}">
        <p14:creationId xmlns:p14="http://schemas.microsoft.com/office/powerpoint/2010/main" val="37868012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14081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770F58-8B7D-F427-3309-C3D961FD39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E1B47EA-74DB-F782-1229-A7D50D55DC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FC7489F-CA03-DF0D-936B-836DF94942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95E39B9-08EC-4F45-925B-8D107A3A0A96}" type="datetime1">
              <a:rPr lang="en-GB" smtClean="0"/>
              <a:t>09/03/2025</a:t>
            </a:fld>
            <a:endParaRPr lang="en-GB"/>
          </a:p>
        </p:txBody>
      </p:sp>
      <p:sp>
        <p:nvSpPr>
          <p:cNvPr id="5" name="Footer Placeholder 4">
            <a:extLst>
              <a:ext uri="{FF2B5EF4-FFF2-40B4-BE49-F238E27FC236}">
                <a16:creationId xmlns:a16="http://schemas.microsoft.com/office/drawing/2014/main" id="{6A0FD0F0-FA20-6934-DED2-4CCC6121D3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Designed by One Skill</a:t>
            </a:r>
          </a:p>
        </p:txBody>
      </p:sp>
      <p:sp>
        <p:nvSpPr>
          <p:cNvPr id="6" name="Slide Number Placeholder 5">
            <a:extLst>
              <a:ext uri="{FF2B5EF4-FFF2-40B4-BE49-F238E27FC236}">
                <a16:creationId xmlns:a16="http://schemas.microsoft.com/office/drawing/2014/main" id="{71C108D4-B6A7-9A0C-D98B-E13304A17E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1EB0B11-EF5C-41FA-A23E-99E3908ED535}" type="slidenum">
              <a:rPr lang="en-GB" smtClean="0"/>
              <a:t>‹#›</a:t>
            </a:fld>
            <a:endParaRPr lang="en-GB"/>
          </a:p>
        </p:txBody>
      </p:sp>
    </p:spTree>
    <p:extLst>
      <p:ext uri="{BB962C8B-B14F-4D97-AF65-F5344CB8AC3E}">
        <p14:creationId xmlns:p14="http://schemas.microsoft.com/office/powerpoint/2010/main" val="31104379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svg"/><Relationship Id="rId18" Type="http://schemas.openxmlformats.org/officeDocument/2006/relationships/image" Target="../media/image16.png"/><Relationship Id="rId3" Type="http://schemas.openxmlformats.org/officeDocument/2006/relationships/image" Target="../media/image1.jpg"/><Relationship Id="rId21" Type="http://schemas.openxmlformats.org/officeDocument/2006/relationships/image" Target="../media/image19.svg"/><Relationship Id="rId7" Type="http://schemas.openxmlformats.org/officeDocument/2006/relationships/image" Target="../media/image5.svg"/><Relationship Id="rId12" Type="http://schemas.openxmlformats.org/officeDocument/2006/relationships/image" Target="../media/image10.png"/><Relationship Id="rId17" Type="http://schemas.openxmlformats.org/officeDocument/2006/relationships/image" Target="../media/image15.sv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svg"/><Relationship Id="rId5" Type="http://schemas.openxmlformats.org/officeDocument/2006/relationships/image" Target="../media/image3.svg"/><Relationship Id="rId15" Type="http://schemas.openxmlformats.org/officeDocument/2006/relationships/image" Target="../media/image13.svg"/><Relationship Id="rId10" Type="http://schemas.openxmlformats.org/officeDocument/2006/relationships/image" Target="../media/image8.png"/><Relationship Id="rId19" Type="http://schemas.openxmlformats.org/officeDocument/2006/relationships/image" Target="../media/image17.svg"/><Relationship Id="rId4" Type="http://schemas.openxmlformats.org/officeDocument/2006/relationships/image" Target="../media/image2.png"/><Relationship Id="rId9" Type="http://schemas.openxmlformats.org/officeDocument/2006/relationships/image" Target="../media/image7.svg"/><Relationship Id="rId14" Type="http://schemas.openxmlformats.org/officeDocument/2006/relationships/image" Target="../media/image12.png"/><Relationship Id="rId22" Type="http://schemas.openxmlformats.org/officeDocument/2006/relationships/image" Target="../media/image20.png"/></Relationships>
</file>

<file path=ppt/slides/_rels/slide2.xml.rels><?xml version="1.0" encoding="UTF-8" standalone="yes"?>
<Relationships xmlns="http://schemas.openxmlformats.org/package/2006/relationships"><Relationship Id="rId13" Type="http://schemas.openxmlformats.org/officeDocument/2006/relationships/image" Target="../media/image4.png"/><Relationship Id="rId18" Type="http://schemas.openxmlformats.org/officeDocument/2006/relationships/image" Target="../media/image9.svg"/><Relationship Id="rId26" Type="http://schemas.openxmlformats.org/officeDocument/2006/relationships/image" Target="../media/image19.svg"/><Relationship Id="rId39" Type="http://schemas.openxmlformats.org/officeDocument/2006/relationships/slide" Target="slide11.xml"/><Relationship Id="rId21" Type="http://schemas.openxmlformats.org/officeDocument/2006/relationships/image" Target="../media/image12.png"/><Relationship Id="rId34" Type="http://schemas.openxmlformats.org/officeDocument/2006/relationships/image" Target="../media/image27.png"/><Relationship Id="rId42" Type="http://schemas.openxmlformats.org/officeDocument/2006/relationships/slide" Target="slide13.xml"/><Relationship Id="rId47" Type="http://schemas.openxmlformats.org/officeDocument/2006/relationships/image" Target="../media/image16.png"/><Relationship Id="rId50" Type="http://schemas.openxmlformats.org/officeDocument/2006/relationships/slide" Target="slide17.xml"/><Relationship Id="rId2" Type="http://schemas.openxmlformats.org/officeDocument/2006/relationships/notesSlide" Target="../notesSlides/notesSlide2.xml"/><Relationship Id="rId16" Type="http://schemas.openxmlformats.org/officeDocument/2006/relationships/image" Target="../media/image7.svg"/><Relationship Id="rId1" Type="http://schemas.openxmlformats.org/officeDocument/2006/relationships/slideLayout" Target="../slideLayouts/slideLayout7.xml"/><Relationship Id="rId11" Type="http://schemas.openxmlformats.org/officeDocument/2006/relationships/image" Target="../media/image2.png"/><Relationship Id="rId24" Type="http://schemas.openxmlformats.org/officeDocument/2006/relationships/image" Target="../media/image15.svg"/><Relationship Id="rId32" Type="http://schemas.openxmlformats.org/officeDocument/2006/relationships/image" Target="../media/image23.png"/><Relationship Id="rId37" Type="http://schemas.openxmlformats.org/officeDocument/2006/relationships/image" Target="../media/image25.png"/><Relationship Id="rId40" Type="http://schemas.openxmlformats.org/officeDocument/2006/relationships/image" Target="../media/image290.png"/><Relationship Id="rId45" Type="http://schemas.openxmlformats.org/officeDocument/2006/relationships/slide" Target="slide15.xml"/><Relationship Id="rId53" Type="http://schemas.openxmlformats.org/officeDocument/2006/relationships/image" Target="../media/image330.png"/><Relationship Id="rId15" Type="http://schemas.openxmlformats.org/officeDocument/2006/relationships/image" Target="../media/image6.png"/><Relationship Id="rId23" Type="http://schemas.openxmlformats.org/officeDocument/2006/relationships/image" Target="../media/image14.png"/><Relationship Id="rId36" Type="http://schemas.openxmlformats.org/officeDocument/2006/relationships/slide" Target="slide9.xml"/><Relationship Id="rId49" Type="http://schemas.openxmlformats.org/officeDocument/2006/relationships/image" Target="../media/image32.png"/><Relationship Id="rId10" Type="http://schemas.openxmlformats.org/officeDocument/2006/relationships/slide" Target="slide3.xml"/><Relationship Id="rId19" Type="http://schemas.openxmlformats.org/officeDocument/2006/relationships/image" Target="../media/image10.png"/><Relationship Id="rId31" Type="http://schemas.openxmlformats.org/officeDocument/2006/relationships/image" Target="../media/image26.png"/><Relationship Id="rId44" Type="http://schemas.openxmlformats.org/officeDocument/2006/relationships/image" Target="../media/image29.png"/><Relationship Id="rId52" Type="http://schemas.openxmlformats.org/officeDocument/2006/relationships/slide" Target="slide19.xml"/><Relationship Id="rId4" Type="http://schemas.openxmlformats.org/officeDocument/2006/relationships/image" Target="../media/image21.png"/><Relationship Id="rId9" Type="http://schemas.openxmlformats.org/officeDocument/2006/relationships/image" Target="../media/image250.png"/><Relationship Id="rId14" Type="http://schemas.openxmlformats.org/officeDocument/2006/relationships/image" Target="../media/image5.svg"/><Relationship Id="rId22" Type="http://schemas.openxmlformats.org/officeDocument/2006/relationships/image" Target="../media/image13.svg"/><Relationship Id="rId27" Type="http://schemas.openxmlformats.org/officeDocument/2006/relationships/image" Target="../media/image22.png"/><Relationship Id="rId30" Type="http://schemas.openxmlformats.org/officeDocument/2006/relationships/slide" Target="slide5.xml"/><Relationship Id="rId35" Type="http://schemas.openxmlformats.org/officeDocument/2006/relationships/image" Target="../media/image24.png"/><Relationship Id="rId43" Type="http://schemas.openxmlformats.org/officeDocument/2006/relationships/image" Target="../media/image30.png"/><Relationship Id="rId48" Type="http://schemas.openxmlformats.org/officeDocument/2006/relationships/image" Target="../media/image17.svg"/><Relationship Id="rId51" Type="http://schemas.openxmlformats.org/officeDocument/2006/relationships/image" Target="../media/image33.png"/><Relationship Id="rId3" Type="http://schemas.openxmlformats.org/officeDocument/2006/relationships/image" Target="../media/image1.jpg"/><Relationship Id="rId12" Type="http://schemas.openxmlformats.org/officeDocument/2006/relationships/image" Target="../media/image3.svg"/><Relationship Id="rId17" Type="http://schemas.openxmlformats.org/officeDocument/2006/relationships/image" Target="../media/image8.png"/><Relationship Id="rId25" Type="http://schemas.openxmlformats.org/officeDocument/2006/relationships/image" Target="../media/image18.png"/><Relationship Id="rId33" Type="http://schemas.openxmlformats.org/officeDocument/2006/relationships/slide" Target="slide7.xml"/><Relationship Id="rId46" Type="http://schemas.openxmlformats.org/officeDocument/2006/relationships/image" Target="../media/image31.png"/><Relationship Id="rId20" Type="http://schemas.openxmlformats.org/officeDocument/2006/relationships/image" Target="../media/image11.svg"/><Relationship Id="rId41" Type="http://schemas.openxmlformats.org/officeDocument/2006/relationships/image" Target="../media/image2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8.xml"/><Relationship Id="rId1" Type="http://schemas.openxmlformats.org/officeDocument/2006/relationships/tags" Target="../tags/tag1.xml"/><Relationship Id="rId6" Type="http://schemas.openxmlformats.org/officeDocument/2006/relationships/image" Target="../media/image20.png"/><Relationship Id="rId5" Type="http://schemas.openxmlformats.org/officeDocument/2006/relationships/image" Target="../media/image3.sv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8.xml"/><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5.svg"/><Relationship Id="rId7" Type="http://schemas.openxmlformats.org/officeDocument/2006/relationships/image" Target="../media/image37.svg"/><Relationship Id="rId2" Type="http://schemas.openxmlformats.org/officeDocument/2006/relationships/image" Target="../media/image4.png"/><Relationship Id="rId1" Type="http://schemas.openxmlformats.org/officeDocument/2006/relationships/slideLayout" Target="../slideLayouts/slideLayout18.xml"/><Relationship Id="rId6" Type="http://schemas.openxmlformats.org/officeDocument/2006/relationships/image" Target="../media/image36.png"/><Relationship Id="rId5" Type="http://schemas.openxmlformats.org/officeDocument/2006/relationships/image" Target="../media/image35.svg"/><Relationship Id="rId10" Type="http://schemas.openxmlformats.org/officeDocument/2006/relationships/image" Target="../media/image20.png"/><Relationship Id="rId4" Type="http://schemas.openxmlformats.org/officeDocument/2006/relationships/image" Target="../media/image34.png"/><Relationship Id="rId9" Type="http://schemas.openxmlformats.org/officeDocument/2006/relationships/image" Target="../media/image39.svg"/></Relationships>
</file>

<file path=ppt/slides/_rels/slide6.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5.svg"/><Relationship Id="rId7" Type="http://schemas.openxmlformats.org/officeDocument/2006/relationships/image" Target="../media/image37.svg"/><Relationship Id="rId2" Type="http://schemas.openxmlformats.org/officeDocument/2006/relationships/image" Target="../media/image4.png"/><Relationship Id="rId1" Type="http://schemas.openxmlformats.org/officeDocument/2006/relationships/slideLayout" Target="../slideLayouts/slideLayout18.xml"/><Relationship Id="rId6" Type="http://schemas.openxmlformats.org/officeDocument/2006/relationships/image" Target="../media/image36.png"/><Relationship Id="rId5" Type="http://schemas.openxmlformats.org/officeDocument/2006/relationships/image" Target="../media/image35.svg"/><Relationship Id="rId10" Type="http://schemas.openxmlformats.org/officeDocument/2006/relationships/image" Target="../media/image20.png"/><Relationship Id="rId4" Type="http://schemas.openxmlformats.org/officeDocument/2006/relationships/image" Target="../media/image34.png"/><Relationship Id="rId9" Type="http://schemas.openxmlformats.org/officeDocument/2006/relationships/image" Target="../media/image39.svg"/></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41.png"/><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image" Target="../media/image40.png"/><Relationship Id="rId5" Type="http://schemas.openxmlformats.org/officeDocument/2006/relationships/image" Target="../media/image20.png"/><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7.svg"/><Relationship Id="rId2" Type="http://schemas.openxmlformats.org/officeDocument/2006/relationships/image" Target="../media/image20.png"/><Relationship Id="rId1" Type="http://schemas.openxmlformats.org/officeDocument/2006/relationships/slideLayout" Target="../slideLayouts/slideLayout18.xml"/><Relationship Id="rId6" Type="http://schemas.openxmlformats.org/officeDocument/2006/relationships/image" Target="../media/image6.png"/><Relationship Id="rId5" Type="http://schemas.openxmlformats.org/officeDocument/2006/relationships/image" Target="../media/image43.png"/><Relationship Id="rId4" Type="http://schemas.openxmlformats.org/officeDocument/2006/relationships/hyperlink" Target="http://ceclnx01.cec.miamioh.edu:3000/login"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42.png"/><Relationship Id="rId7" Type="http://schemas.openxmlformats.org/officeDocument/2006/relationships/image" Target="../media/image7.svg"/><Relationship Id="rId2" Type="http://schemas.openxmlformats.org/officeDocument/2006/relationships/notesSlide" Target="../notesSlides/notesSlide5.xml"/><Relationship Id="rId1" Type="http://schemas.openxmlformats.org/officeDocument/2006/relationships/slideLayout" Target="../slideLayouts/slideLayout18.xml"/><Relationship Id="rId6" Type="http://schemas.openxmlformats.org/officeDocument/2006/relationships/image" Target="../media/image6.png"/><Relationship Id="rId5" Type="http://schemas.openxmlformats.org/officeDocument/2006/relationships/image" Target="../media/image43.png"/><Relationship Id="rId4" Type="http://schemas.openxmlformats.org/officeDocument/2006/relationships/hyperlink" Target="http://ceclnx01.cec.miamioh.edu:3000/login"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20.png"/><Relationship Id="rId1" Type="http://schemas.openxmlformats.org/officeDocument/2006/relationships/slideLayout" Target="../slideLayouts/slideLayout18.xml"/><Relationship Id="rId5" Type="http://schemas.openxmlformats.org/officeDocument/2006/relationships/image" Target="../media/image11.sv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3.png"/><Relationship Id="rId1" Type="http://schemas.openxmlformats.org/officeDocument/2006/relationships/slideLayout" Target="../slideLayouts/slideLayout18.xml"/><Relationship Id="rId5" Type="http://schemas.openxmlformats.org/officeDocument/2006/relationships/image" Target="../media/image20.png"/><Relationship Id="rId4" Type="http://schemas.openxmlformats.org/officeDocument/2006/relationships/image" Target="../media/image11.sv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3.png"/><Relationship Id="rId1" Type="http://schemas.openxmlformats.org/officeDocument/2006/relationships/slideLayout" Target="../slideLayouts/slideLayout18.xml"/><Relationship Id="rId5" Type="http://schemas.openxmlformats.org/officeDocument/2006/relationships/image" Target="../media/image20.png"/><Relationship Id="rId4" Type="http://schemas.openxmlformats.org/officeDocument/2006/relationships/image" Target="../media/image13.sv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3.png"/><Relationship Id="rId1" Type="http://schemas.openxmlformats.org/officeDocument/2006/relationships/slideLayout" Target="../slideLayouts/slideLayout18.xml"/><Relationship Id="rId5" Type="http://schemas.openxmlformats.org/officeDocument/2006/relationships/image" Target="../media/image20.png"/><Relationship Id="rId4" Type="http://schemas.openxmlformats.org/officeDocument/2006/relationships/image" Target="../media/image11.sv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3.png"/><Relationship Id="rId1" Type="http://schemas.openxmlformats.org/officeDocument/2006/relationships/slideLayout" Target="../slideLayouts/slideLayout18.xml"/><Relationship Id="rId5" Type="http://schemas.openxmlformats.org/officeDocument/2006/relationships/image" Target="../media/image20.png"/><Relationship Id="rId4" Type="http://schemas.openxmlformats.org/officeDocument/2006/relationships/image" Target="../media/image15.svg"/></Relationships>
</file>

<file path=ppt/slides/_rels/slide16.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3.png"/><Relationship Id="rId7" Type="http://schemas.openxmlformats.org/officeDocument/2006/relationships/image" Target="../media/image44.jpeg"/><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image" Target="../media/image20.png"/><Relationship Id="rId5" Type="http://schemas.openxmlformats.org/officeDocument/2006/relationships/image" Target="../media/image15.svg"/><Relationship Id="rId4" Type="http://schemas.openxmlformats.org/officeDocument/2006/relationships/image" Target="../media/image14.png"/><Relationship Id="rId9" Type="http://schemas.openxmlformats.org/officeDocument/2006/relationships/image" Target="../media/image46.png"/></Relationships>
</file>

<file path=ppt/slides/_rels/slide17.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16.png"/><Relationship Id="rId7" Type="http://schemas.openxmlformats.org/officeDocument/2006/relationships/image" Target="../media/image50.png"/><Relationship Id="rId2" Type="http://schemas.openxmlformats.org/officeDocument/2006/relationships/image" Target="../media/image47.jpeg"/><Relationship Id="rId1" Type="http://schemas.openxmlformats.org/officeDocument/2006/relationships/slideLayout" Target="../slideLayouts/slideLayout18.xml"/><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17.svg"/><Relationship Id="rId9" Type="http://schemas.openxmlformats.org/officeDocument/2006/relationships/image" Target="../media/image20.png"/></Relationships>
</file>

<file path=ppt/slides/_rels/slide18.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7.jpeg"/><Relationship Id="rId7" Type="http://schemas.openxmlformats.org/officeDocument/2006/relationships/image" Target="../media/image49.sv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image" Target="../media/image48.png"/><Relationship Id="rId5" Type="http://schemas.openxmlformats.org/officeDocument/2006/relationships/image" Target="../media/image17.svg"/><Relationship Id="rId10" Type="http://schemas.openxmlformats.org/officeDocument/2006/relationships/image" Target="../media/image20.png"/><Relationship Id="rId4" Type="http://schemas.openxmlformats.org/officeDocument/2006/relationships/image" Target="../media/image16.png"/><Relationship Id="rId9" Type="http://schemas.openxmlformats.org/officeDocument/2006/relationships/image" Target="../media/image51.sv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8.xml"/><Relationship Id="rId6" Type="http://schemas.openxmlformats.org/officeDocument/2006/relationships/image" Target="../media/image43.png"/><Relationship Id="rId5" Type="http://schemas.openxmlformats.org/officeDocument/2006/relationships/image" Target="../media/image20.png"/><Relationship Id="rId4" Type="http://schemas.openxmlformats.org/officeDocument/2006/relationships/image" Target="../media/image19.sv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r="-15000"/>
          </a:stretch>
        </a:blipFill>
        <a:effectLst/>
      </p:bgPr>
    </p:bg>
    <p:spTree>
      <p:nvGrpSpPr>
        <p:cNvPr id="1" name=""/>
        <p:cNvGrpSpPr/>
        <p:nvPr/>
      </p:nvGrpSpPr>
      <p:grpSpPr>
        <a:xfrm>
          <a:off x="0" y="0"/>
          <a:ext cx="0" cy="0"/>
          <a:chOff x="0" y="0"/>
          <a:chExt cx="0" cy="0"/>
        </a:xfrm>
      </p:grpSpPr>
      <p:sp useBgFill="1">
        <p:nvSpPr>
          <p:cNvPr id="84" name="!!mission_big">
            <a:extLst>
              <a:ext uri="{FF2B5EF4-FFF2-40B4-BE49-F238E27FC236}">
                <a16:creationId xmlns:a16="http://schemas.microsoft.com/office/drawing/2014/main" id="{6CFBC3F3-FDB5-FD3D-1481-3059D5AE927C}"/>
              </a:ext>
            </a:extLst>
          </p:cNvPr>
          <p:cNvSpPr/>
          <p:nvPr/>
        </p:nvSpPr>
        <p:spPr>
          <a:xfrm>
            <a:off x="7319977" y="1750207"/>
            <a:ext cx="2515696" cy="251569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85" name="!!problem_big">
            <a:extLst>
              <a:ext uri="{FF2B5EF4-FFF2-40B4-BE49-F238E27FC236}">
                <a16:creationId xmlns:a16="http://schemas.microsoft.com/office/drawing/2014/main" id="{70765587-F598-D543-0EBF-D55B36CEEE1A}"/>
              </a:ext>
            </a:extLst>
          </p:cNvPr>
          <p:cNvSpPr/>
          <p:nvPr/>
        </p:nvSpPr>
        <p:spPr>
          <a:xfrm>
            <a:off x="7319977" y="1750207"/>
            <a:ext cx="2515696" cy="251569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86" name="!!solution_big">
            <a:extLst>
              <a:ext uri="{FF2B5EF4-FFF2-40B4-BE49-F238E27FC236}">
                <a16:creationId xmlns:a16="http://schemas.microsoft.com/office/drawing/2014/main" id="{C7467CC4-78EB-06D5-5CC2-826B8F952ABA}"/>
              </a:ext>
            </a:extLst>
          </p:cNvPr>
          <p:cNvSpPr/>
          <p:nvPr/>
        </p:nvSpPr>
        <p:spPr>
          <a:xfrm>
            <a:off x="7319977" y="1750207"/>
            <a:ext cx="2515696" cy="251569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87" name="!!potential_big">
            <a:extLst>
              <a:ext uri="{FF2B5EF4-FFF2-40B4-BE49-F238E27FC236}">
                <a16:creationId xmlns:a16="http://schemas.microsoft.com/office/drawing/2014/main" id="{0DD63B05-8199-0461-6984-B6F7AE7441D2}"/>
              </a:ext>
            </a:extLst>
          </p:cNvPr>
          <p:cNvSpPr/>
          <p:nvPr/>
        </p:nvSpPr>
        <p:spPr>
          <a:xfrm>
            <a:off x="7319977" y="1750207"/>
            <a:ext cx="2515696" cy="251569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88" name="!!model_big">
            <a:extLst>
              <a:ext uri="{FF2B5EF4-FFF2-40B4-BE49-F238E27FC236}">
                <a16:creationId xmlns:a16="http://schemas.microsoft.com/office/drawing/2014/main" id="{91323A8D-2FBA-BE9B-F312-A3CBEBBE7784}"/>
              </a:ext>
            </a:extLst>
          </p:cNvPr>
          <p:cNvSpPr/>
          <p:nvPr/>
        </p:nvSpPr>
        <p:spPr>
          <a:xfrm>
            <a:off x="7319977" y="1750207"/>
            <a:ext cx="2515696" cy="251569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89" name="!!growth_big">
            <a:extLst>
              <a:ext uri="{FF2B5EF4-FFF2-40B4-BE49-F238E27FC236}">
                <a16:creationId xmlns:a16="http://schemas.microsoft.com/office/drawing/2014/main" id="{1D2DDA0C-34D1-ECC6-DC5C-7CAFDFDA342F}"/>
              </a:ext>
            </a:extLst>
          </p:cNvPr>
          <p:cNvSpPr/>
          <p:nvPr/>
        </p:nvSpPr>
        <p:spPr>
          <a:xfrm>
            <a:off x="7319977" y="1750207"/>
            <a:ext cx="2515696" cy="251569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90" name="!!competition_big">
            <a:extLst>
              <a:ext uri="{FF2B5EF4-FFF2-40B4-BE49-F238E27FC236}">
                <a16:creationId xmlns:a16="http://schemas.microsoft.com/office/drawing/2014/main" id="{21154ADD-2272-0B48-19E1-DEF64F150958}"/>
              </a:ext>
            </a:extLst>
          </p:cNvPr>
          <p:cNvSpPr/>
          <p:nvPr/>
        </p:nvSpPr>
        <p:spPr>
          <a:xfrm>
            <a:off x="7319977" y="1750207"/>
            <a:ext cx="2515696" cy="251569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91" name="!!finanvials_big">
            <a:extLst>
              <a:ext uri="{FF2B5EF4-FFF2-40B4-BE49-F238E27FC236}">
                <a16:creationId xmlns:a16="http://schemas.microsoft.com/office/drawing/2014/main" id="{8411AC72-885D-0B03-2EFB-F3B3BF963E02}"/>
              </a:ext>
            </a:extLst>
          </p:cNvPr>
          <p:cNvSpPr/>
          <p:nvPr/>
        </p:nvSpPr>
        <p:spPr>
          <a:xfrm>
            <a:off x="7319977" y="1750207"/>
            <a:ext cx="2515696" cy="251569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92" name="!!team_big">
            <a:extLst>
              <a:ext uri="{FF2B5EF4-FFF2-40B4-BE49-F238E27FC236}">
                <a16:creationId xmlns:a16="http://schemas.microsoft.com/office/drawing/2014/main" id="{1658FEF9-E6D9-F422-5CE4-804A8426C251}"/>
              </a:ext>
            </a:extLst>
          </p:cNvPr>
          <p:cNvSpPr/>
          <p:nvPr/>
        </p:nvSpPr>
        <p:spPr>
          <a:xfrm>
            <a:off x="7319977" y="1750207"/>
            <a:ext cx="2515696" cy="251569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grpSp>
        <p:nvGrpSpPr>
          <p:cNvPr id="93" name="!!mission">
            <a:extLst>
              <a:ext uri="{FF2B5EF4-FFF2-40B4-BE49-F238E27FC236}">
                <a16:creationId xmlns:a16="http://schemas.microsoft.com/office/drawing/2014/main" id="{8ABB4022-F60A-F196-E21D-86C3F9E8C5A1}"/>
              </a:ext>
            </a:extLst>
          </p:cNvPr>
          <p:cNvGrpSpPr/>
          <p:nvPr/>
        </p:nvGrpSpPr>
        <p:grpSpPr>
          <a:xfrm>
            <a:off x="7079470" y="2757042"/>
            <a:ext cx="507586" cy="507586"/>
            <a:chOff x="1700837" y="1711757"/>
            <a:chExt cx="507586" cy="507586"/>
          </a:xfrm>
        </p:grpSpPr>
        <p:sp useBgFill="1">
          <p:nvSpPr>
            <p:cNvPr id="94" name="Oval 93">
              <a:extLst>
                <a:ext uri="{FF2B5EF4-FFF2-40B4-BE49-F238E27FC236}">
                  <a16:creationId xmlns:a16="http://schemas.microsoft.com/office/drawing/2014/main" id="{F2FE31D7-9CA3-8B92-8DAC-2622D9EA35A8}"/>
                </a:ext>
              </a:extLst>
            </p:cNvPr>
            <p:cNvSpPr/>
            <p:nvPr/>
          </p:nvSpPr>
          <p:spPr>
            <a:xfrm>
              <a:off x="1700837" y="1711757"/>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95" name="Graphic 94">
              <a:extLst>
                <a:ext uri="{FF2B5EF4-FFF2-40B4-BE49-F238E27FC236}">
                  <a16:creationId xmlns:a16="http://schemas.microsoft.com/office/drawing/2014/main" id="{F11E90DF-2951-D0AA-5249-88F7AFDCAB2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28630" y="1839550"/>
              <a:ext cx="252000" cy="252000"/>
            </a:xfrm>
            <a:prstGeom prst="rect">
              <a:avLst/>
            </a:prstGeom>
          </p:spPr>
        </p:pic>
      </p:grpSp>
      <p:grpSp>
        <p:nvGrpSpPr>
          <p:cNvPr id="96" name="!!problem">
            <a:extLst>
              <a:ext uri="{FF2B5EF4-FFF2-40B4-BE49-F238E27FC236}">
                <a16:creationId xmlns:a16="http://schemas.microsoft.com/office/drawing/2014/main" id="{EBA2FDB7-75AA-72DB-A82C-DD7851826BCB}"/>
              </a:ext>
            </a:extLst>
          </p:cNvPr>
          <p:cNvGrpSpPr/>
          <p:nvPr/>
        </p:nvGrpSpPr>
        <p:grpSpPr>
          <a:xfrm>
            <a:off x="7472345" y="1849915"/>
            <a:ext cx="507586" cy="507586"/>
            <a:chOff x="2240169" y="4083721"/>
            <a:chExt cx="507586" cy="507586"/>
          </a:xfrm>
        </p:grpSpPr>
        <p:sp useBgFill="1">
          <p:nvSpPr>
            <p:cNvPr id="97" name="Oval 96">
              <a:extLst>
                <a:ext uri="{FF2B5EF4-FFF2-40B4-BE49-F238E27FC236}">
                  <a16:creationId xmlns:a16="http://schemas.microsoft.com/office/drawing/2014/main" id="{CBDBE464-FFB6-460D-1355-070C8FFC1F50}"/>
                </a:ext>
              </a:extLst>
            </p:cNvPr>
            <p:cNvSpPr/>
            <p:nvPr/>
          </p:nvSpPr>
          <p:spPr>
            <a:xfrm>
              <a:off x="2240169" y="4083721"/>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98" name="Graphic 97">
              <a:extLst>
                <a:ext uri="{FF2B5EF4-FFF2-40B4-BE49-F238E27FC236}">
                  <a16:creationId xmlns:a16="http://schemas.microsoft.com/office/drawing/2014/main" id="{A487C0E8-ED67-0170-B6A2-7DBC567127C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367962" y="4211514"/>
              <a:ext cx="252000" cy="252000"/>
            </a:xfrm>
            <a:prstGeom prst="rect">
              <a:avLst/>
            </a:prstGeom>
          </p:spPr>
        </p:pic>
      </p:grpSp>
      <p:grpSp>
        <p:nvGrpSpPr>
          <p:cNvPr id="99" name="!!solution">
            <a:extLst>
              <a:ext uri="{FF2B5EF4-FFF2-40B4-BE49-F238E27FC236}">
                <a16:creationId xmlns:a16="http://schemas.microsoft.com/office/drawing/2014/main" id="{4315983D-37E1-2DB8-C6CD-897AB0F4A48B}"/>
              </a:ext>
            </a:extLst>
          </p:cNvPr>
          <p:cNvGrpSpPr/>
          <p:nvPr/>
        </p:nvGrpSpPr>
        <p:grpSpPr>
          <a:xfrm>
            <a:off x="8337318" y="1499194"/>
            <a:ext cx="507586" cy="507586"/>
            <a:chOff x="3825777" y="2263184"/>
            <a:chExt cx="507586" cy="507586"/>
          </a:xfrm>
        </p:grpSpPr>
        <p:sp useBgFill="1">
          <p:nvSpPr>
            <p:cNvPr id="100" name="Oval 99">
              <a:extLst>
                <a:ext uri="{FF2B5EF4-FFF2-40B4-BE49-F238E27FC236}">
                  <a16:creationId xmlns:a16="http://schemas.microsoft.com/office/drawing/2014/main" id="{466739ED-CC90-C839-AE9F-21A11220F695}"/>
                </a:ext>
              </a:extLst>
            </p:cNvPr>
            <p:cNvSpPr/>
            <p:nvPr/>
          </p:nvSpPr>
          <p:spPr>
            <a:xfrm>
              <a:off x="3825777" y="2263184"/>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101" name="Graphic 100">
              <a:extLst>
                <a:ext uri="{FF2B5EF4-FFF2-40B4-BE49-F238E27FC236}">
                  <a16:creationId xmlns:a16="http://schemas.microsoft.com/office/drawing/2014/main" id="{010F1219-9830-8E0D-73D1-3886EF6C351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53570" y="2390977"/>
              <a:ext cx="252000" cy="252000"/>
            </a:xfrm>
            <a:prstGeom prst="rect">
              <a:avLst/>
            </a:prstGeom>
          </p:spPr>
        </p:pic>
      </p:grpSp>
      <p:grpSp>
        <p:nvGrpSpPr>
          <p:cNvPr id="102" name="!!potential">
            <a:extLst>
              <a:ext uri="{FF2B5EF4-FFF2-40B4-BE49-F238E27FC236}">
                <a16:creationId xmlns:a16="http://schemas.microsoft.com/office/drawing/2014/main" id="{7EB825F4-9A36-9B07-53BB-3512C1270479}"/>
              </a:ext>
            </a:extLst>
          </p:cNvPr>
          <p:cNvGrpSpPr/>
          <p:nvPr/>
        </p:nvGrpSpPr>
        <p:grpSpPr>
          <a:xfrm>
            <a:off x="7472345" y="3594080"/>
            <a:ext cx="507586" cy="507586"/>
            <a:chOff x="4797684" y="4481585"/>
            <a:chExt cx="507586" cy="507586"/>
          </a:xfrm>
        </p:grpSpPr>
        <p:sp useBgFill="1">
          <p:nvSpPr>
            <p:cNvPr id="103" name="Oval 102">
              <a:extLst>
                <a:ext uri="{FF2B5EF4-FFF2-40B4-BE49-F238E27FC236}">
                  <a16:creationId xmlns:a16="http://schemas.microsoft.com/office/drawing/2014/main" id="{26293457-7725-C26F-5E8D-577FFD922349}"/>
                </a:ext>
              </a:extLst>
            </p:cNvPr>
            <p:cNvSpPr/>
            <p:nvPr/>
          </p:nvSpPr>
          <p:spPr>
            <a:xfrm>
              <a:off x="4797684" y="4481585"/>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104" name="Graphic 103">
              <a:extLst>
                <a:ext uri="{FF2B5EF4-FFF2-40B4-BE49-F238E27FC236}">
                  <a16:creationId xmlns:a16="http://schemas.microsoft.com/office/drawing/2014/main" id="{3BCCF682-C61A-869C-9529-636E0480323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925477" y="4609378"/>
              <a:ext cx="252000" cy="252000"/>
            </a:xfrm>
            <a:prstGeom prst="rect">
              <a:avLst/>
            </a:prstGeom>
          </p:spPr>
        </p:pic>
      </p:grpSp>
      <p:grpSp>
        <p:nvGrpSpPr>
          <p:cNvPr id="105" name="!!model">
            <a:extLst>
              <a:ext uri="{FF2B5EF4-FFF2-40B4-BE49-F238E27FC236}">
                <a16:creationId xmlns:a16="http://schemas.microsoft.com/office/drawing/2014/main" id="{78714283-B9F8-CB78-2DCC-FA801CDE60EE}"/>
              </a:ext>
            </a:extLst>
          </p:cNvPr>
          <p:cNvGrpSpPr/>
          <p:nvPr/>
        </p:nvGrpSpPr>
        <p:grpSpPr>
          <a:xfrm>
            <a:off x="8324032" y="2754262"/>
            <a:ext cx="507586" cy="507586"/>
            <a:chOff x="5832785" y="1868829"/>
            <a:chExt cx="507586" cy="507586"/>
          </a:xfrm>
        </p:grpSpPr>
        <p:sp useBgFill="1">
          <p:nvSpPr>
            <p:cNvPr id="106" name="Oval 105">
              <a:extLst>
                <a:ext uri="{FF2B5EF4-FFF2-40B4-BE49-F238E27FC236}">
                  <a16:creationId xmlns:a16="http://schemas.microsoft.com/office/drawing/2014/main" id="{750DC086-A827-EEA1-F118-DF41BE1504A7}"/>
                </a:ext>
              </a:extLst>
            </p:cNvPr>
            <p:cNvSpPr/>
            <p:nvPr/>
          </p:nvSpPr>
          <p:spPr>
            <a:xfrm>
              <a:off x="5832785" y="1868829"/>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107" name="Graphic 106">
              <a:extLst>
                <a:ext uri="{FF2B5EF4-FFF2-40B4-BE49-F238E27FC236}">
                  <a16:creationId xmlns:a16="http://schemas.microsoft.com/office/drawing/2014/main" id="{53BC1E00-DC2C-70CA-AD01-38FA56F5D2D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960578" y="1996622"/>
              <a:ext cx="252000" cy="252000"/>
            </a:xfrm>
            <a:prstGeom prst="rect">
              <a:avLst/>
            </a:prstGeom>
          </p:spPr>
        </p:pic>
      </p:grpSp>
      <p:grpSp>
        <p:nvGrpSpPr>
          <p:cNvPr id="108" name="!!growth">
            <a:extLst>
              <a:ext uri="{FF2B5EF4-FFF2-40B4-BE49-F238E27FC236}">
                <a16:creationId xmlns:a16="http://schemas.microsoft.com/office/drawing/2014/main" id="{166D8C8F-95DA-C3F8-C96B-26210A714E82}"/>
              </a:ext>
            </a:extLst>
          </p:cNvPr>
          <p:cNvGrpSpPr/>
          <p:nvPr/>
        </p:nvGrpSpPr>
        <p:grpSpPr>
          <a:xfrm>
            <a:off x="9214478" y="3594080"/>
            <a:ext cx="507586" cy="507586"/>
            <a:chOff x="6811776" y="4481585"/>
            <a:chExt cx="507586" cy="507586"/>
          </a:xfrm>
        </p:grpSpPr>
        <p:sp useBgFill="1">
          <p:nvSpPr>
            <p:cNvPr id="109" name="Oval 108">
              <a:extLst>
                <a:ext uri="{FF2B5EF4-FFF2-40B4-BE49-F238E27FC236}">
                  <a16:creationId xmlns:a16="http://schemas.microsoft.com/office/drawing/2014/main" id="{D1A935B9-16B8-4EA4-ECB5-F93E26ED1468}"/>
                </a:ext>
              </a:extLst>
            </p:cNvPr>
            <p:cNvSpPr/>
            <p:nvPr/>
          </p:nvSpPr>
          <p:spPr>
            <a:xfrm>
              <a:off x="6811776" y="4481585"/>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110" name="Graphic 109">
              <a:extLst>
                <a:ext uri="{FF2B5EF4-FFF2-40B4-BE49-F238E27FC236}">
                  <a16:creationId xmlns:a16="http://schemas.microsoft.com/office/drawing/2014/main" id="{B01ED3F3-C85A-6E07-2F45-1209EB11F2E8}"/>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939569" y="4609378"/>
              <a:ext cx="252000" cy="252000"/>
            </a:xfrm>
            <a:prstGeom prst="rect">
              <a:avLst/>
            </a:prstGeom>
          </p:spPr>
        </p:pic>
      </p:grpSp>
      <p:grpSp>
        <p:nvGrpSpPr>
          <p:cNvPr id="111" name="!!competition">
            <a:extLst>
              <a:ext uri="{FF2B5EF4-FFF2-40B4-BE49-F238E27FC236}">
                <a16:creationId xmlns:a16="http://schemas.microsoft.com/office/drawing/2014/main" id="{A38DA15A-EDAF-D7D1-E4A2-ADB503D14FF0}"/>
              </a:ext>
            </a:extLst>
          </p:cNvPr>
          <p:cNvGrpSpPr/>
          <p:nvPr/>
        </p:nvGrpSpPr>
        <p:grpSpPr>
          <a:xfrm>
            <a:off x="9214478" y="1849915"/>
            <a:ext cx="507586" cy="507586"/>
            <a:chOff x="7790768" y="1868829"/>
            <a:chExt cx="507586" cy="507586"/>
          </a:xfrm>
        </p:grpSpPr>
        <p:sp useBgFill="1">
          <p:nvSpPr>
            <p:cNvPr id="112" name="Oval 111">
              <a:extLst>
                <a:ext uri="{FF2B5EF4-FFF2-40B4-BE49-F238E27FC236}">
                  <a16:creationId xmlns:a16="http://schemas.microsoft.com/office/drawing/2014/main" id="{FA4ECD52-FC45-BE81-5607-1EACF898E476}"/>
                </a:ext>
              </a:extLst>
            </p:cNvPr>
            <p:cNvSpPr/>
            <p:nvPr/>
          </p:nvSpPr>
          <p:spPr>
            <a:xfrm>
              <a:off x="7790768" y="1868829"/>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113" name="Graphic 112">
              <a:extLst>
                <a:ext uri="{FF2B5EF4-FFF2-40B4-BE49-F238E27FC236}">
                  <a16:creationId xmlns:a16="http://schemas.microsoft.com/office/drawing/2014/main" id="{A7042EB4-E775-C9F5-4107-E17F5847A8D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918561" y="1996622"/>
              <a:ext cx="252000" cy="252000"/>
            </a:xfrm>
            <a:prstGeom prst="rect">
              <a:avLst/>
            </a:prstGeom>
          </p:spPr>
        </p:pic>
      </p:grpSp>
      <p:grpSp>
        <p:nvGrpSpPr>
          <p:cNvPr id="114" name="!!financials">
            <a:extLst>
              <a:ext uri="{FF2B5EF4-FFF2-40B4-BE49-F238E27FC236}">
                <a16:creationId xmlns:a16="http://schemas.microsoft.com/office/drawing/2014/main" id="{AF69D5A7-292C-208C-2C3B-0888F50AA762}"/>
              </a:ext>
            </a:extLst>
          </p:cNvPr>
          <p:cNvGrpSpPr/>
          <p:nvPr/>
        </p:nvGrpSpPr>
        <p:grpSpPr>
          <a:xfrm>
            <a:off x="8324032" y="3973873"/>
            <a:ext cx="507586" cy="507586"/>
            <a:chOff x="8769760" y="4481585"/>
            <a:chExt cx="507586" cy="507586"/>
          </a:xfrm>
        </p:grpSpPr>
        <p:sp useBgFill="1">
          <p:nvSpPr>
            <p:cNvPr id="115" name="Oval 114">
              <a:extLst>
                <a:ext uri="{FF2B5EF4-FFF2-40B4-BE49-F238E27FC236}">
                  <a16:creationId xmlns:a16="http://schemas.microsoft.com/office/drawing/2014/main" id="{1F054C56-E672-E4B6-04C9-35767206F4F3}"/>
                </a:ext>
              </a:extLst>
            </p:cNvPr>
            <p:cNvSpPr/>
            <p:nvPr/>
          </p:nvSpPr>
          <p:spPr>
            <a:xfrm>
              <a:off x="8769760" y="4481585"/>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116" name="Graphic 115">
              <a:extLst>
                <a:ext uri="{FF2B5EF4-FFF2-40B4-BE49-F238E27FC236}">
                  <a16:creationId xmlns:a16="http://schemas.microsoft.com/office/drawing/2014/main" id="{388FB701-4737-34FB-B142-FABD96D6D8EB}"/>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897553" y="4609378"/>
              <a:ext cx="252000" cy="252000"/>
            </a:xfrm>
            <a:prstGeom prst="rect">
              <a:avLst/>
            </a:prstGeom>
          </p:spPr>
        </p:pic>
      </p:grpSp>
      <p:grpSp>
        <p:nvGrpSpPr>
          <p:cNvPr id="117" name="!!team">
            <a:extLst>
              <a:ext uri="{FF2B5EF4-FFF2-40B4-BE49-F238E27FC236}">
                <a16:creationId xmlns:a16="http://schemas.microsoft.com/office/drawing/2014/main" id="{BF8EA430-7BE0-C952-3460-EF403EE26AFC}"/>
              </a:ext>
            </a:extLst>
          </p:cNvPr>
          <p:cNvGrpSpPr/>
          <p:nvPr/>
        </p:nvGrpSpPr>
        <p:grpSpPr>
          <a:xfrm>
            <a:off x="9537246" y="2757042"/>
            <a:ext cx="507586" cy="507586"/>
            <a:chOff x="9748751" y="1868829"/>
            <a:chExt cx="507586" cy="507586"/>
          </a:xfrm>
        </p:grpSpPr>
        <p:sp useBgFill="1">
          <p:nvSpPr>
            <p:cNvPr id="118" name="Oval 117">
              <a:extLst>
                <a:ext uri="{FF2B5EF4-FFF2-40B4-BE49-F238E27FC236}">
                  <a16:creationId xmlns:a16="http://schemas.microsoft.com/office/drawing/2014/main" id="{9948F951-A67C-76B0-7315-7D6113CEF3E5}"/>
                </a:ext>
              </a:extLst>
            </p:cNvPr>
            <p:cNvSpPr/>
            <p:nvPr/>
          </p:nvSpPr>
          <p:spPr>
            <a:xfrm>
              <a:off x="9748751" y="1868829"/>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119" name="Graphic 118">
              <a:extLst>
                <a:ext uri="{FF2B5EF4-FFF2-40B4-BE49-F238E27FC236}">
                  <a16:creationId xmlns:a16="http://schemas.microsoft.com/office/drawing/2014/main" id="{45AB6F8C-9C3C-6949-CA22-BAD02A87EB0D}"/>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9876544" y="1996622"/>
              <a:ext cx="252000" cy="252000"/>
            </a:xfrm>
            <a:prstGeom prst="rect">
              <a:avLst/>
            </a:prstGeom>
          </p:spPr>
        </p:pic>
      </p:grpSp>
      <p:sp>
        <p:nvSpPr>
          <p:cNvPr id="21" name="Slide Title">
            <a:extLst>
              <a:ext uri="{FF2B5EF4-FFF2-40B4-BE49-F238E27FC236}">
                <a16:creationId xmlns:a16="http://schemas.microsoft.com/office/drawing/2014/main" id="{9FD71554-2375-576F-209C-05192E70BC3C}"/>
              </a:ext>
            </a:extLst>
          </p:cNvPr>
          <p:cNvSpPr txBox="1"/>
          <p:nvPr/>
        </p:nvSpPr>
        <p:spPr>
          <a:xfrm>
            <a:off x="2633968" y="3397476"/>
            <a:ext cx="3865802" cy="1199687"/>
          </a:xfrm>
          <a:prstGeom prst="rect">
            <a:avLst/>
          </a:prstGeom>
          <a:noFill/>
        </p:spPr>
        <p:txBody>
          <a:bodyPr wrap="square" lIns="0">
            <a:spAutoFit/>
          </a:bodyPr>
          <a:lstStyle>
            <a:defPPr>
              <a:defRPr lang="en-US"/>
            </a:defPPr>
            <a:lvl1pPr algn="ctr">
              <a:defRPr sz="5400">
                <a:solidFill>
                  <a:schemeClr val="bg1"/>
                </a:solidFill>
                <a:latin typeface="Orbitron Black" pitchFamily="2" charset="0"/>
              </a:defRPr>
            </a:lvl1pPr>
          </a:lstStyle>
          <a:p>
            <a:pPr marL="0" marR="0" lvl="0" indent="0" algn="l" defTabSz="914400" rtl="0" eaLnBrk="1" fontAlgn="auto" latinLnBrk="0" hangingPunct="1">
              <a:lnSpc>
                <a:spcPct val="55357"/>
              </a:lnSpc>
              <a:spcBef>
                <a:spcPts val="0"/>
              </a:spcBef>
              <a:spcAft>
                <a:spcPts val="0"/>
              </a:spcAft>
              <a:buClrTx/>
              <a:buSzTx/>
              <a:buFontTx/>
              <a:buNone/>
              <a:tabLst/>
              <a:defRPr/>
            </a:pPr>
            <a:r>
              <a:rPr kumimoji="0" lang="en-US" sz="11500" b="0" u="none" strike="noStrike" kern="1200" cap="none" spc="-150" normalizeH="0" baseline="0" noProof="0" dirty="0">
                <a:ln>
                  <a:noFill/>
                </a:ln>
                <a:solidFill>
                  <a:prstClr val="white"/>
                </a:solidFill>
                <a:effectLst>
                  <a:outerShdw blurRad="88900" dist="88900" dir="2700000" algn="tl" rotWithShape="0">
                    <a:prstClr val="black">
                      <a:alpha val="50000"/>
                    </a:prstClr>
                  </a:outerShdw>
                </a:effectLst>
                <a:uLnTx/>
                <a:uFillTx/>
                <a:latin typeface="Darker Grotesque SemiBold" pitchFamily="2" charset="0"/>
              </a:rPr>
              <a:t>Quest </a:t>
            </a:r>
            <a:endParaRPr kumimoji="0" lang="en-US" sz="11500" b="0" i="1" u="none" strike="noStrike" kern="1200" cap="none" spc="-150" normalizeH="0" baseline="0" noProof="0" dirty="0">
              <a:ln>
                <a:noFill/>
              </a:ln>
              <a:solidFill>
                <a:prstClr val="white"/>
              </a:solidFill>
              <a:effectLst>
                <a:outerShdw blurRad="88900" dist="88900" dir="2700000" algn="tl" rotWithShape="0">
                  <a:prstClr val="black">
                    <a:alpha val="50000"/>
                  </a:prstClr>
                </a:outerShdw>
              </a:effectLst>
              <a:uLnTx/>
              <a:uFillTx/>
              <a:latin typeface="Playfair Display" pitchFamily="2" charset="0"/>
            </a:endParaRPr>
          </a:p>
        </p:txBody>
      </p:sp>
      <p:sp useBgFill="1">
        <p:nvSpPr>
          <p:cNvPr id="2" name="Oval 1">
            <a:extLst>
              <a:ext uri="{FF2B5EF4-FFF2-40B4-BE49-F238E27FC236}">
                <a16:creationId xmlns:a16="http://schemas.microsoft.com/office/drawing/2014/main" id="{FF5A31A3-BF28-2433-3BBF-115CE72C0109}"/>
              </a:ext>
            </a:extLst>
          </p:cNvPr>
          <p:cNvSpPr/>
          <p:nvPr/>
        </p:nvSpPr>
        <p:spPr>
          <a:xfrm>
            <a:off x="2243756" y="1131244"/>
            <a:ext cx="865705" cy="865703"/>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3" name="Oval 2">
            <a:extLst>
              <a:ext uri="{FF2B5EF4-FFF2-40B4-BE49-F238E27FC236}">
                <a16:creationId xmlns:a16="http://schemas.microsoft.com/office/drawing/2014/main" id="{A232ADF8-5A6D-1920-3C3D-D66020BEAB3E}"/>
              </a:ext>
            </a:extLst>
          </p:cNvPr>
          <p:cNvSpPr/>
          <p:nvPr/>
        </p:nvSpPr>
        <p:spPr>
          <a:xfrm>
            <a:off x="2267043" y="1985832"/>
            <a:ext cx="416014" cy="416013"/>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4" name="Oval 3">
            <a:extLst>
              <a:ext uri="{FF2B5EF4-FFF2-40B4-BE49-F238E27FC236}">
                <a16:creationId xmlns:a16="http://schemas.microsoft.com/office/drawing/2014/main" id="{AB3CD34B-7123-36FB-E248-42347FE8B355}"/>
              </a:ext>
            </a:extLst>
          </p:cNvPr>
          <p:cNvSpPr/>
          <p:nvPr/>
        </p:nvSpPr>
        <p:spPr>
          <a:xfrm>
            <a:off x="2115398" y="1814348"/>
            <a:ext cx="244030" cy="244029"/>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p:nvSpPr>
          <p:cNvPr id="30" name="Slide Title">
            <a:extLst>
              <a:ext uri="{FF2B5EF4-FFF2-40B4-BE49-F238E27FC236}">
                <a16:creationId xmlns:a16="http://schemas.microsoft.com/office/drawing/2014/main" id="{50869B1A-C228-34B2-D439-4247C207C481}"/>
              </a:ext>
            </a:extLst>
          </p:cNvPr>
          <p:cNvSpPr txBox="1"/>
          <p:nvPr/>
        </p:nvSpPr>
        <p:spPr>
          <a:xfrm>
            <a:off x="2662409" y="2147689"/>
            <a:ext cx="2435923" cy="1199687"/>
          </a:xfrm>
          <a:prstGeom prst="rect">
            <a:avLst/>
          </a:prstGeom>
          <a:noFill/>
        </p:spPr>
        <p:txBody>
          <a:bodyPr wrap="none" lIns="0">
            <a:spAutoFit/>
          </a:bodyPr>
          <a:lstStyle>
            <a:defPPr>
              <a:defRPr lang="en-US"/>
            </a:defPPr>
            <a:lvl1pPr algn="ctr">
              <a:defRPr sz="5400">
                <a:solidFill>
                  <a:schemeClr val="bg1"/>
                </a:solidFill>
                <a:latin typeface="Orbitron Black" pitchFamily="2" charset="0"/>
              </a:defRPr>
            </a:lvl1pPr>
          </a:lstStyle>
          <a:p>
            <a:pPr marL="0" marR="0" lvl="0" indent="0" algn="l" defTabSz="914400" rtl="0" eaLnBrk="1" fontAlgn="auto" latinLnBrk="0" hangingPunct="1">
              <a:lnSpc>
                <a:spcPct val="55357"/>
              </a:lnSpc>
              <a:spcBef>
                <a:spcPts val="0"/>
              </a:spcBef>
              <a:spcAft>
                <a:spcPts val="0"/>
              </a:spcAft>
              <a:buClrTx/>
              <a:buSzTx/>
              <a:buFontTx/>
              <a:buNone/>
              <a:tabLst/>
              <a:defRPr/>
            </a:pPr>
            <a:r>
              <a:rPr kumimoji="0" lang="en-US" sz="11500" b="0" u="none" strike="noStrike" kern="1200" cap="none" spc="-150" normalizeH="0" baseline="0" noProof="0" dirty="0">
                <a:ln>
                  <a:noFill/>
                </a:ln>
                <a:solidFill>
                  <a:prstClr val="white"/>
                </a:solidFill>
                <a:effectLst>
                  <a:outerShdw blurRad="88900" dist="88900" dir="2700000" algn="tl" rotWithShape="0">
                    <a:prstClr val="black">
                      <a:alpha val="50000"/>
                    </a:prstClr>
                  </a:outerShdw>
                </a:effectLst>
                <a:uLnTx/>
                <a:uFillTx/>
                <a:latin typeface="Darker Grotesque SemiBold" pitchFamily="2" charset="0"/>
              </a:rPr>
              <a:t>Life </a:t>
            </a:r>
            <a:endParaRPr kumimoji="0" lang="en-US" sz="11500" b="0" i="1" u="none" strike="noStrike" kern="1200" cap="none" spc="-150" normalizeH="0" baseline="0" noProof="0" dirty="0">
              <a:ln>
                <a:noFill/>
              </a:ln>
              <a:solidFill>
                <a:prstClr val="white"/>
              </a:solidFill>
              <a:effectLst>
                <a:outerShdw blurRad="88900" dist="88900" dir="2700000" algn="tl" rotWithShape="0">
                  <a:prstClr val="black">
                    <a:alpha val="50000"/>
                  </a:prstClr>
                </a:outerShdw>
              </a:effectLst>
              <a:uLnTx/>
              <a:uFillTx/>
              <a:latin typeface="Playfair Display" pitchFamily="2" charset="0"/>
            </a:endParaRPr>
          </a:p>
        </p:txBody>
      </p:sp>
      <p:sp>
        <p:nvSpPr>
          <p:cNvPr id="5" name="Slide Title">
            <a:extLst>
              <a:ext uri="{FF2B5EF4-FFF2-40B4-BE49-F238E27FC236}">
                <a16:creationId xmlns:a16="http://schemas.microsoft.com/office/drawing/2014/main" id="{80E8DA2C-5834-5AA3-E38E-832B009BE6B1}"/>
              </a:ext>
            </a:extLst>
          </p:cNvPr>
          <p:cNvSpPr txBox="1"/>
          <p:nvPr/>
        </p:nvSpPr>
        <p:spPr>
          <a:xfrm>
            <a:off x="4725756" y="-790389"/>
            <a:ext cx="2740495" cy="400494"/>
          </a:xfrm>
          <a:prstGeom prst="rect">
            <a:avLst/>
          </a:prstGeom>
          <a:noFill/>
        </p:spPr>
        <p:txBody>
          <a:bodyPr wrap="none" lIns="0">
            <a:spAutoFit/>
          </a:bodyPr>
          <a:lstStyle>
            <a:defPPr>
              <a:defRPr lang="en-US"/>
            </a:defPPr>
            <a:lvl1pPr algn="ctr">
              <a:defRPr sz="5400">
                <a:solidFill>
                  <a:schemeClr val="bg1"/>
                </a:solidFill>
                <a:latin typeface="Orbitron Black" pitchFamily="2" charset="0"/>
              </a:defRPr>
            </a:lvl1pPr>
          </a:lstStyle>
          <a:p>
            <a:pPr marL="0" marR="0" lvl="0" indent="0" defTabSz="914400" rtl="0" eaLnBrk="1" fontAlgn="auto" latinLnBrk="0" hangingPunct="1">
              <a:lnSpc>
                <a:spcPct val="55357"/>
              </a:lnSpc>
              <a:spcBef>
                <a:spcPts val="0"/>
              </a:spcBef>
              <a:spcAft>
                <a:spcPts val="0"/>
              </a:spcAft>
              <a:buClrTx/>
              <a:buSzTx/>
              <a:buFontTx/>
              <a:buNone/>
              <a:tabLst/>
              <a:defRPr/>
            </a:pPr>
            <a:r>
              <a:rPr kumimoji="0" lang="en-US" sz="3200" b="0" u="none" strike="noStrike" kern="1200" cap="none" spc="-150" normalizeH="0" baseline="0" noProof="0" dirty="0">
                <a:ln>
                  <a:noFill/>
                </a:ln>
                <a:solidFill>
                  <a:prstClr val="white"/>
                </a:solidFill>
                <a:effectLst>
                  <a:outerShdw blurRad="88900" dist="88900" dir="2700000" algn="tl" rotWithShape="0">
                    <a:prstClr val="black">
                      <a:alpha val="50000"/>
                    </a:prstClr>
                  </a:outerShdw>
                </a:effectLst>
                <a:uLnTx/>
                <a:uFillTx/>
                <a:latin typeface="Darker Grotesque SemiBold" pitchFamily="2" charset="0"/>
              </a:rPr>
              <a:t>Table of Contents </a:t>
            </a:r>
            <a:endParaRPr kumimoji="0" lang="en-US" sz="3200" b="0" i="1" u="none" strike="noStrike" kern="1200" cap="none" spc="-150" normalizeH="0" baseline="0" noProof="0" dirty="0">
              <a:ln>
                <a:noFill/>
              </a:ln>
              <a:solidFill>
                <a:prstClr val="white"/>
              </a:solidFill>
              <a:effectLst>
                <a:outerShdw blurRad="88900" dist="88900" dir="2700000" algn="tl" rotWithShape="0">
                  <a:prstClr val="black">
                    <a:alpha val="50000"/>
                  </a:prstClr>
                </a:outerShdw>
              </a:effectLst>
              <a:uLnTx/>
              <a:uFillTx/>
              <a:latin typeface="Playfair Display" pitchFamily="2" charset="0"/>
            </a:endParaRPr>
          </a:p>
        </p:txBody>
      </p:sp>
      <p:pic>
        <p:nvPicPr>
          <p:cNvPr id="10" name="Picture 9" descr="A close-up of a logo&#10;&#10;AI-generated content may be incorrect.">
            <a:extLst>
              <a:ext uri="{FF2B5EF4-FFF2-40B4-BE49-F238E27FC236}">
                <a16:creationId xmlns:a16="http://schemas.microsoft.com/office/drawing/2014/main" id="{BB4F50B1-55C4-456B-F05F-4BF27A518F72}"/>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7829668" y="2033436"/>
            <a:ext cx="1479373" cy="1850875"/>
          </a:xfrm>
          <a:prstGeom prst="rect">
            <a:avLst/>
          </a:prstGeom>
        </p:spPr>
      </p:pic>
    </p:spTree>
    <p:extLst>
      <p:ext uri="{BB962C8B-B14F-4D97-AF65-F5344CB8AC3E}">
        <p14:creationId xmlns:p14="http://schemas.microsoft.com/office/powerpoint/2010/main" val="2860744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up)">
                                      <p:cBhvr>
                                        <p:cTn id="7" dur="800"/>
                                        <p:tgtEl>
                                          <p:spTgt spid="30"/>
                                        </p:tgtEl>
                                      </p:cBhvr>
                                    </p:animEffect>
                                  </p:childTnLst>
                                </p:cTn>
                              </p:par>
                              <p:par>
                                <p:cTn id="8" presetID="42" presetClass="path" presetSubtype="0" decel="100000" fill="hold" grpId="1" nodeType="withEffect">
                                  <p:stCondLst>
                                    <p:cond delay="0"/>
                                  </p:stCondLst>
                                  <p:childTnLst>
                                    <p:animMotion origin="layout" path="M 4.79167E-6 -1.11111E-6 L 4.79167E-6 0.11389 " pathEditMode="relative" rAng="0" ptsTypes="AA">
                                      <p:cBhvr>
                                        <p:cTn id="9" dur="1250" spd="-100000" fill="hold"/>
                                        <p:tgtEl>
                                          <p:spTgt spid="30"/>
                                        </p:tgtEl>
                                        <p:attrNameLst>
                                          <p:attrName>ppt_x</p:attrName>
                                          <p:attrName>ppt_y</p:attrName>
                                        </p:attrNameLst>
                                      </p:cBhvr>
                                      <p:rCtr x="0" y="5694"/>
                                    </p:animMotion>
                                  </p:childTnLst>
                                </p:cTn>
                              </p:par>
                              <p:par>
                                <p:cTn id="10" presetID="22" presetClass="entr" presetSubtype="1" fill="hold" grpId="0" nodeType="withEffect">
                                  <p:stCondLst>
                                    <p:cond delay="250"/>
                                  </p:stCondLst>
                                  <p:childTnLst>
                                    <p:set>
                                      <p:cBhvr>
                                        <p:cTn id="11" dur="1" fill="hold">
                                          <p:stCondLst>
                                            <p:cond delay="0"/>
                                          </p:stCondLst>
                                        </p:cTn>
                                        <p:tgtEl>
                                          <p:spTgt spid="21"/>
                                        </p:tgtEl>
                                        <p:attrNameLst>
                                          <p:attrName>style.visibility</p:attrName>
                                        </p:attrNameLst>
                                      </p:cBhvr>
                                      <p:to>
                                        <p:strVal val="visible"/>
                                      </p:to>
                                    </p:set>
                                    <p:animEffect transition="in" filter="wipe(up)">
                                      <p:cBhvr>
                                        <p:cTn id="12" dur="800"/>
                                        <p:tgtEl>
                                          <p:spTgt spid="21"/>
                                        </p:tgtEl>
                                      </p:cBhvr>
                                    </p:animEffect>
                                  </p:childTnLst>
                                </p:cTn>
                              </p:par>
                              <p:par>
                                <p:cTn id="13" presetID="42" presetClass="path" presetSubtype="0" decel="100000" fill="hold" grpId="1" nodeType="withEffect">
                                  <p:stCondLst>
                                    <p:cond delay="250"/>
                                  </p:stCondLst>
                                  <p:childTnLst>
                                    <p:animMotion origin="layout" path="M -2.29167E-6 -3.7037E-7 L -2.29167E-6 0.11389 " pathEditMode="relative" rAng="0" ptsTypes="AA">
                                      <p:cBhvr>
                                        <p:cTn id="14" dur="1250" spd="-100000" fill="hold"/>
                                        <p:tgtEl>
                                          <p:spTgt spid="21"/>
                                        </p:tgtEl>
                                        <p:attrNameLst>
                                          <p:attrName>ppt_x</p:attrName>
                                          <p:attrName>ppt_y</p:attrName>
                                        </p:attrNameLst>
                                      </p:cBhvr>
                                      <p:rCtr x="0" y="5694"/>
                                    </p:animMotion>
                                  </p:childTnLst>
                                </p:cTn>
                              </p:par>
                              <p:par>
                                <p:cTn id="15" presetID="53" presetClass="entr" presetSubtype="16" fill="hold" nodeType="withEffect">
                                  <p:stCondLst>
                                    <p:cond delay="750"/>
                                  </p:stCondLst>
                                  <p:childTnLst>
                                    <p:set>
                                      <p:cBhvr>
                                        <p:cTn id="16" dur="1" fill="hold">
                                          <p:stCondLst>
                                            <p:cond delay="0"/>
                                          </p:stCondLst>
                                        </p:cTn>
                                        <p:tgtEl>
                                          <p:spTgt spid="102"/>
                                        </p:tgtEl>
                                        <p:attrNameLst>
                                          <p:attrName>style.visibility</p:attrName>
                                        </p:attrNameLst>
                                      </p:cBhvr>
                                      <p:to>
                                        <p:strVal val="visible"/>
                                      </p:to>
                                    </p:set>
                                    <p:anim calcmode="lin" valueType="num">
                                      <p:cBhvr>
                                        <p:cTn id="17" dur="750" fill="hold"/>
                                        <p:tgtEl>
                                          <p:spTgt spid="102"/>
                                        </p:tgtEl>
                                        <p:attrNameLst>
                                          <p:attrName>ppt_w</p:attrName>
                                        </p:attrNameLst>
                                      </p:cBhvr>
                                      <p:tavLst>
                                        <p:tav tm="0">
                                          <p:val>
                                            <p:fltVal val="0"/>
                                          </p:val>
                                        </p:tav>
                                        <p:tav tm="100000">
                                          <p:val>
                                            <p:strVal val="#ppt_w"/>
                                          </p:val>
                                        </p:tav>
                                      </p:tavLst>
                                    </p:anim>
                                    <p:anim calcmode="lin" valueType="num">
                                      <p:cBhvr>
                                        <p:cTn id="18" dur="750" fill="hold"/>
                                        <p:tgtEl>
                                          <p:spTgt spid="102"/>
                                        </p:tgtEl>
                                        <p:attrNameLst>
                                          <p:attrName>ppt_h</p:attrName>
                                        </p:attrNameLst>
                                      </p:cBhvr>
                                      <p:tavLst>
                                        <p:tav tm="0">
                                          <p:val>
                                            <p:fltVal val="0"/>
                                          </p:val>
                                        </p:tav>
                                        <p:tav tm="100000">
                                          <p:val>
                                            <p:strVal val="#ppt_h"/>
                                          </p:val>
                                        </p:tav>
                                      </p:tavLst>
                                    </p:anim>
                                    <p:animEffect transition="in" filter="fade">
                                      <p:cBhvr>
                                        <p:cTn id="19" dur="750"/>
                                        <p:tgtEl>
                                          <p:spTgt spid="102"/>
                                        </p:tgtEl>
                                      </p:cBhvr>
                                    </p:animEffect>
                                  </p:childTnLst>
                                </p:cTn>
                              </p:par>
                              <p:par>
                                <p:cTn id="20" presetID="53" presetClass="entr" presetSubtype="16" fill="hold" nodeType="withEffect">
                                  <p:stCondLst>
                                    <p:cond delay="750"/>
                                  </p:stCondLst>
                                  <p:childTnLst>
                                    <p:set>
                                      <p:cBhvr>
                                        <p:cTn id="21" dur="1" fill="hold">
                                          <p:stCondLst>
                                            <p:cond delay="0"/>
                                          </p:stCondLst>
                                        </p:cTn>
                                        <p:tgtEl>
                                          <p:spTgt spid="93"/>
                                        </p:tgtEl>
                                        <p:attrNameLst>
                                          <p:attrName>style.visibility</p:attrName>
                                        </p:attrNameLst>
                                      </p:cBhvr>
                                      <p:to>
                                        <p:strVal val="visible"/>
                                      </p:to>
                                    </p:set>
                                    <p:anim calcmode="lin" valueType="num">
                                      <p:cBhvr>
                                        <p:cTn id="22" dur="750" fill="hold"/>
                                        <p:tgtEl>
                                          <p:spTgt spid="93"/>
                                        </p:tgtEl>
                                        <p:attrNameLst>
                                          <p:attrName>ppt_w</p:attrName>
                                        </p:attrNameLst>
                                      </p:cBhvr>
                                      <p:tavLst>
                                        <p:tav tm="0">
                                          <p:val>
                                            <p:fltVal val="0"/>
                                          </p:val>
                                        </p:tav>
                                        <p:tav tm="100000">
                                          <p:val>
                                            <p:strVal val="#ppt_w"/>
                                          </p:val>
                                        </p:tav>
                                      </p:tavLst>
                                    </p:anim>
                                    <p:anim calcmode="lin" valueType="num">
                                      <p:cBhvr>
                                        <p:cTn id="23" dur="750" fill="hold"/>
                                        <p:tgtEl>
                                          <p:spTgt spid="93"/>
                                        </p:tgtEl>
                                        <p:attrNameLst>
                                          <p:attrName>ppt_h</p:attrName>
                                        </p:attrNameLst>
                                      </p:cBhvr>
                                      <p:tavLst>
                                        <p:tav tm="0">
                                          <p:val>
                                            <p:fltVal val="0"/>
                                          </p:val>
                                        </p:tav>
                                        <p:tav tm="100000">
                                          <p:val>
                                            <p:strVal val="#ppt_h"/>
                                          </p:val>
                                        </p:tav>
                                      </p:tavLst>
                                    </p:anim>
                                    <p:animEffect transition="in" filter="fade">
                                      <p:cBhvr>
                                        <p:cTn id="24" dur="750"/>
                                        <p:tgtEl>
                                          <p:spTgt spid="93"/>
                                        </p:tgtEl>
                                      </p:cBhvr>
                                    </p:animEffect>
                                  </p:childTnLst>
                                </p:cTn>
                              </p:par>
                              <p:par>
                                <p:cTn id="25" presetID="53" presetClass="entr" presetSubtype="16" fill="hold" nodeType="withEffect">
                                  <p:stCondLst>
                                    <p:cond delay="750"/>
                                  </p:stCondLst>
                                  <p:childTnLst>
                                    <p:set>
                                      <p:cBhvr>
                                        <p:cTn id="26" dur="1" fill="hold">
                                          <p:stCondLst>
                                            <p:cond delay="0"/>
                                          </p:stCondLst>
                                        </p:cTn>
                                        <p:tgtEl>
                                          <p:spTgt spid="96"/>
                                        </p:tgtEl>
                                        <p:attrNameLst>
                                          <p:attrName>style.visibility</p:attrName>
                                        </p:attrNameLst>
                                      </p:cBhvr>
                                      <p:to>
                                        <p:strVal val="visible"/>
                                      </p:to>
                                    </p:set>
                                    <p:anim calcmode="lin" valueType="num">
                                      <p:cBhvr>
                                        <p:cTn id="27" dur="750" fill="hold"/>
                                        <p:tgtEl>
                                          <p:spTgt spid="96"/>
                                        </p:tgtEl>
                                        <p:attrNameLst>
                                          <p:attrName>ppt_w</p:attrName>
                                        </p:attrNameLst>
                                      </p:cBhvr>
                                      <p:tavLst>
                                        <p:tav tm="0">
                                          <p:val>
                                            <p:fltVal val="0"/>
                                          </p:val>
                                        </p:tav>
                                        <p:tav tm="100000">
                                          <p:val>
                                            <p:strVal val="#ppt_w"/>
                                          </p:val>
                                        </p:tav>
                                      </p:tavLst>
                                    </p:anim>
                                    <p:anim calcmode="lin" valueType="num">
                                      <p:cBhvr>
                                        <p:cTn id="28" dur="750" fill="hold"/>
                                        <p:tgtEl>
                                          <p:spTgt spid="96"/>
                                        </p:tgtEl>
                                        <p:attrNameLst>
                                          <p:attrName>ppt_h</p:attrName>
                                        </p:attrNameLst>
                                      </p:cBhvr>
                                      <p:tavLst>
                                        <p:tav tm="0">
                                          <p:val>
                                            <p:fltVal val="0"/>
                                          </p:val>
                                        </p:tav>
                                        <p:tav tm="100000">
                                          <p:val>
                                            <p:strVal val="#ppt_h"/>
                                          </p:val>
                                        </p:tav>
                                      </p:tavLst>
                                    </p:anim>
                                    <p:animEffect transition="in" filter="fade">
                                      <p:cBhvr>
                                        <p:cTn id="29" dur="750"/>
                                        <p:tgtEl>
                                          <p:spTgt spid="96"/>
                                        </p:tgtEl>
                                      </p:cBhvr>
                                    </p:animEffect>
                                  </p:childTnLst>
                                </p:cTn>
                              </p:par>
                              <p:par>
                                <p:cTn id="30" presetID="53" presetClass="entr" presetSubtype="16" fill="hold" nodeType="withEffect">
                                  <p:stCondLst>
                                    <p:cond delay="750"/>
                                  </p:stCondLst>
                                  <p:childTnLst>
                                    <p:set>
                                      <p:cBhvr>
                                        <p:cTn id="31" dur="1" fill="hold">
                                          <p:stCondLst>
                                            <p:cond delay="0"/>
                                          </p:stCondLst>
                                        </p:cTn>
                                        <p:tgtEl>
                                          <p:spTgt spid="99"/>
                                        </p:tgtEl>
                                        <p:attrNameLst>
                                          <p:attrName>style.visibility</p:attrName>
                                        </p:attrNameLst>
                                      </p:cBhvr>
                                      <p:to>
                                        <p:strVal val="visible"/>
                                      </p:to>
                                    </p:set>
                                    <p:anim calcmode="lin" valueType="num">
                                      <p:cBhvr>
                                        <p:cTn id="32" dur="750" fill="hold"/>
                                        <p:tgtEl>
                                          <p:spTgt spid="99"/>
                                        </p:tgtEl>
                                        <p:attrNameLst>
                                          <p:attrName>ppt_w</p:attrName>
                                        </p:attrNameLst>
                                      </p:cBhvr>
                                      <p:tavLst>
                                        <p:tav tm="0">
                                          <p:val>
                                            <p:fltVal val="0"/>
                                          </p:val>
                                        </p:tav>
                                        <p:tav tm="100000">
                                          <p:val>
                                            <p:strVal val="#ppt_w"/>
                                          </p:val>
                                        </p:tav>
                                      </p:tavLst>
                                    </p:anim>
                                    <p:anim calcmode="lin" valueType="num">
                                      <p:cBhvr>
                                        <p:cTn id="33" dur="750" fill="hold"/>
                                        <p:tgtEl>
                                          <p:spTgt spid="99"/>
                                        </p:tgtEl>
                                        <p:attrNameLst>
                                          <p:attrName>ppt_h</p:attrName>
                                        </p:attrNameLst>
                                      </p:cBhvr>
                                      <p:tavLst>
                                        <p:tav tm="0">
                                          <p:val>
                                            <p:fltVal val="0"/>
                                          </p:val>
                                        </p:tav>
                                        <p:tav tm="100000">
                                          <p:val>
                                            <p:strVal val="#ppt_h"/>
                                          </p:val>
                                        </p:tav>
                                      </p:tavLst>
                                    </p:anim>
                                    <p:animEffect transition="in" filter="fade">
                                      <p:cBhvr>
                                        <p:cTn id="34" dur="750"/>
                                        <p:tgtEl>
                                          <p:spTgt spid="99"/>
                                        </p:tgtEl>
                                      </p:cBhvr>
                                    </p:animEffect>
                                  </p:childTnLst>
                                </p:cTn>
                              </p:par>
                              <p:par>
                                <p:cTn id="35" presetID="53" presetClass="entr" presetSubtype="16" fill="hold" nodeType="withEffect">
                                  <p:stCondLst>
                                    <p:cond delay="750"/>
                                  </p:stCondLst>
                                  <p:childTnLst>
                                    <p:set>
                                      <p:cBhvr>
                                        <p:cTn id="36" dur="1" fill="hold">
                                          <p:stCondLst>
                                            <p:cond delay="0"/>
                                          </p:stCondLst>
                                        </p:cTn>
                                        <p:tgtEl>
                                          <p:spTgt spid="111"/>
                                        </p:tgtEl>
                                        <p:attrNameLst>
                                          <p:attrName>style.visibility</p:attrName>
                                        </p:attrNameLst>
                                      </p:cBhvr>
                                      <p:to>
                                        <p:strVal val="visible"/>
                                      </p:to>
                                    </p:set>
                                    <p:anim calcmode="lin" valueType="num">
                                      <p:cBhvr>
                                        <p:cTn id="37" dur="750" fill="hold"/>
                                        <p:tgtEl>
                                          <p:spTgt spid="111"/>
                                        </p:tgtEl>
                                        <p:attrNameLst>
                                          <p:attrName>ppt_w</p:attrName>
                                        </p:attrNameLst>
                                      </p:cBhvr>
                                      <p:tavLst>
                                        <p:tav tm="0">
                                          <p:val>
                                            <p:fltVal val="0"/>
                                          </p:val>
                                        </p:tav>
                                        <p:tav tm="100000">
                                          <p:val>
                                            <p:strVal val="#ppt_w"/>
                                          </p:val>
                                        </p:tav>
                                      </p:tavLst>
                                    </p:anim>
                                    <p:anim calcmode="lin" valueType="num">
                                      <p:cBhvr>
                                        <p:cTn id="38" dur="750" fill="hold"/>
                                        <p:tgtEl>
                                          <p:spTgt spid="111"/>
                                        </p:tgtEl>
                                        <p:attrNameLst>
                                          <p:attrName>ppt_h</p:attrName>
                                        </p:attrNameLst>
                                      </p:cBhvr>
                                      <p:tavLst>
                                        <p:tav tm="0">
                                          <p:val>
                                            <p:fltVal val="0"/>
                                          </p:val>
                                        </p:tav>
                                        <p:tav tm="100000">
                                          <p:val>
                                            <p:strVal val="#ppt_h"/>
                                          </p:val>
                                        </p:tav>
                                      </p:tavLst>
                                    </p:anim>
                                    <p:animEffect transition="in" filter="fade">
                                      <p:cBhvr>
                                        <p:cTn id="39" dur="750"/>
                                        <p:tgtEl>
                                          <p:spTgt spid="111"/>
                                        </p:tgtEl>
                                      </p:cBhvr>
                                    </p:animEffect>
                                  </p:childTnLst>
                                </p:cTn>
                              </p:par>
                              <p:par>
                                <p:cTn id="40" presetID="53" presetClass="entr" presetSubtype="16" fill="hold" nodeType="withEffect">
                                  <p:stCondLst>
                                    <p:cond delay="750"/>
                                  </p:stCondLst>
                                  <p:childTnLst>
                                    <p:set>
                                      <p:cBhvr>
                                        <p:cTn id="41" dur="1" fill="hold">
                                          <p:stCondLst>
                                            <p:cond delay="0"/>
                                          </p:stCondLst>
                                        </p:cTn>
                                        <p:tgtEl>
                                          <p:spTgt spid="105"/>
                                        </p:tgtEl>
                                        <p:attrNameLst>
                                          <p:attrName>style.visibility</p:attrName>
                                        </p:attrNameLst>
                                      </p:cBhvr>
                                      <p:to>
                                        <p:strVal val="visible"/>
                                      </p:to>
                                    </p:set>
                                    <p:anim calcmode="lin" valueType="num">
                                      <p:cBhvr>
                                        <p:cTn id="42" dur="750" fill="hold"/>
                                        <p:tgtEl>
                                          <p:spTgt spid="105"/>
                                        </p:tgtEl>
                                        <p:attrNameLst>
                                          <p:attrName>ppt_w</p:attrName>
                                        </p:attrNameLst>
                                      </p:cBhvr>
                                      <p:tavLst>
                                        <p:tav tm="0">
                                          <p:val>
                                            <p:fltVal val="0"/>
                                          </p:val>
                                        </p:tav>
                                        <p:tav tm="100000">
                                          <p:val>
                                            <p:strVal val="#ppt_w"/>
                                          </p:val>
                                        </p:tav>
                                      </p:tavLst>
                                    </p:anim>
                                    <p:anim calcmode="lin" valueType="num">
                                      <p:cBhvr>
                                        <p:cTn id="43" dur="750" fill="hold"/>
                                        <p:tgtEl>
                                          <p:spTgt spid="105"/>
                                        </p:tgtEl>
                                        <p:attrNameLst>
                                          <p:attrName>ppt_h</p:attrName>
                                        </p:attrNameLst>
                                      </p:cBhvr>
                                      <p:tavLst>
                                        <p:tav tm="0">
                                          <p:val>
                                            <p:fltVal val="0"/>
                                          </p:val>
                                        </p:tav>
                                        <p:tav tm="100000">
                                          <p:val>
                                            <p:strVal val="#ppt_h"/>
                                          </p:val>
                                        </p:tav>
                                      </p:tavLst>
                                    </p:anim>
                                    <p:animEffect transition="in" filter="fade">
                                      <p:cBhvr>
                                        <p:cTn id="44" dur="750"/>
                                        <p:tgtEl>
                                          <p:spTgt spid="105"/>
                                        </p:tgtEl>
                                      </p:cBhvr>
                                    </p:animEffect>
                                  </p:childTnLst>
                                </p:cTn>
                              </p:par>
                              <p:par>
                                <p:cTn id="45" presetID="53" presetClass="entr" presetSubtype="16" fill="hold" nodeType="withEffect">
                                  <p:stCondLst>
                                    <p:cond delay="750"/>
                                  </p:stCondLst>
                                  <p:childTnLst>
                                    <p:set>
                                      <p:cBhvr>
                                        <p:cTn id="46" dur="1" fill="hold">
                                          <p:stCondLst>
                                            <p:cond delay="0"/>
                                          </p:stCondLst>
                                        </p:cTn>
                                        <p:tgtEl>
                                          <p:spTgt spid="108"/>
                                        </p:tgtEl>
                                        <p:attrNameLst>
                                          <p:attrName>style.visibility</p:attrName>
                                        </p:attrNameLst>
                                      </p:cBhvr>
                                      <p:to>
                                        <p:strVal val="visible"/>
                                      </p:to>
                                    </p:set>
                                    <p:anim calcmode="lin" valueType="num">
                                      <p:cBhvr>
                                        <p:cTn id="47" dur="750" fill="hold"/>
                                        <p:tgtEl>
                                          <p:spTgt spid="108"/>
                                        </p:tgtEl>
                                        <p:attrNameLst>
                                          <p:attrName>ppt_w</p:attrName>
                                        </p:attrNameLst>
                                      </p:cBhvr>
                                      <p:tavLst>
                                        <p:tav tm="0">
                                          <p:val>
                                            <p:fltVal val="0"/>
                                          </p:val>
                                        </p:tav>
                                        <p:tav tm="100000">
                                          <p:val>
                                            <p:strVal val="#ppt_w"/>
                                          </p:val>
                                        </p:tav>
                                      </p:tavLst>
                                    </p:anim>
                                    <p:anim calcmode="lin" valueType="num">
                                      <p:cBhvr>
                                        <p:cTn id="48" dur="750" fill="hold"/>
                                        <p:tgtEl>
                                          <p:spTgt spid="108"/>
                                        </p:tgtEl>
                                        <p:attrNameLst>
                                          <p:attrName>ppt_h</p:attrName>
                                        </p:attrNameLst>
                                      </p:cBhvr>
                                      <p:tavLst>
                                        <p:tav tm="0">
                                          <p:val>
                                            <p:fltVal val="0"/>
                                          </p:val>
                                        </p:tav>
                                        <p:tav tm="100000">
                                          <p:val>
                                            <p:strVal val="#ppt_h"/>
                                          </p:val>
                                        </p:tav>
                                      </p:tavLst>
                                    </p:anim>
                                    <p:animEffect transition="in" filter="fade">
                                      <p:cBhvr>
                                        <p:cTn id="49" dur="750"/>
                                        <p:tgtEl>
                                          <p:spTgt spid="108"/>
                                        </p:tgtEl>
                                      </p:cBhvr>
                                    </p:animEffect>
                                  </p:childTnLst>
                                </p:cTn>
                              </p:par>
                              <p:par>
                                <p:cTn id="50" presetID="53" presetClass="entr" presetSubtype="16" fill="hold" nodeType="withEffect">
                                  <p:stCondLst>
                                    <p:cond delay="750"/>
                                  </p:stCondLst>
                                  <p:childTnLst>
                                    <p:set>
                                      <p:cBhvr>
                                        <p:cTn id="51" dur="1" fill="hold">
                                          <p:stCondLst>
                                            <p:cond delay="0"/>
                                          </p:stCondLst>
                                        </p:cTn>
                                        <p:tgtEl>
                                          <p:spTgt spid="114"/>
                                        </p:tgtEl>
                                        <p:attrNameLst>
                                          <p:attrName>style.visibility</p:attrName>
                                        </p:attrNameLst>
                                      </p:cBhvr>
                                      <p:to>
                                        <p:strVal val="visible"/>
                                      </p:to>
                                    </p:set>
                                    <p:anim calcmode="lin" valueType="num">
                                      <p:cBhvr>
                                        <p:cTn id="52" dur="750" fill="hold"/>
                                        <p:tgtEl>
                                          <p:spTgt spid="114"/>
                                        </p:tgtEl>
                                        <p:attrNameLst>
                                          <p:attrName>ppt_w</p:attrName>
                                        </p:attrNameLst>
                                      </p:cBhvr>
                                      <p:tavLst>
                                        <p:tav tm="0">
                                          <p:val>
                                            <p:fltVal val="0"/>
                                          </p:val>
                                        </p:tav>
                                        <p:tav tm="100000">
                                          <p:val>
                                            <p:strVal val="#ppt_w"/>
                                          </p:val>
                                        </p:tav>
                                      </p:tavLst>
                                    </p:anim>
                                    <p:anim calcmode="lin" valueType="num">
                                      <p:cBhvr>
                                        <p:cTn id="53" dur="750" fill="hold"/>
                                        <p:tgtEl>
                                          <p:spTgt spid="114"/>
                                        </p:tgtEl>
                                        <p:attrNameLst>
                                          <p:attrName>ppt_h</p:attrName>
                                        </p:attrNameLst>
                                      </p:cBhvr>
                                      <p:tavLst>
                                        <p:tav tm="0">
                                          <p:val>
                                            <p:fltVal val="0"/>
                                          </p:val>
                                        </p:tav>
                                        <p:tav tm="100000">
                                          <p:val>
                                            <p:strVal val="#ppt_h"/>
                                          </p:val>
                                        </p:tav>
                                      </p:tavLst>
                                    </p:anim>
                                    <p:animEffect transition="in" filter="fade">
                                      <p:cBhvr>
                                        <p:cTn id="54" dur="750"/>
                                        <p:tgtEl>
                                          <p:spTgt spid="114"/>
                                        </p:tgtEl>
                                      </p:cBhvr>
                                    </p:animEffect>
                                  </p:childTnLst>
                                </p:cTn>
                              </p:par>
                              <p:par>
                                <p:cTn id="55" presetID="53" presetClass="entr" presetSubtype="16" fill="hold" nodeType="withEffect">
                                  <p:stCondLst>
                                    <p:cond delay="750"/>
                                  </p:stCondLst>
                                  <p:childTnLst>
                                    <p:set>
                                      <p:cBhvr>
                                        <p:cTn id="56" dur="1" fill="hold">
                                          <p:stCondLst>
                                            <p:cond delay="0"/>
                                          </p:stCondLst>
                                        </p:cTn>
                                        <p:tgtEl>
                                          <p:spTgt spid="117"/>
                                        </p:tgtEl>
                                        <p:attrNameLst>
                                          <p:attrName>style.visibility</p:attrName>
                                        </p:attrNameLst>
                                      </p:cBhvr>
                                      <p:to>
                                        <p:strVal val="visible"/>
                                      </p:to>
                                    </p:set>
                                    <p:anim calcmode="lin" valueType="num">
                                      <p:cBhvr>
                                        <p:cTn id="57" dur="750" fill="hold"/>
                                        <p:tgtEl>
                                          <p:spTgt spid="117"/>
                                        </p:tgtEl>
                                        <p:attrNameLst>
                                          <p:attrName>ppt_w</p:attrName>
                                        </p:attrNameLst>
                                      </p:cBhvr>
                                      <p:tavLst>
                                        <p:tav tm="0">
                                          <p:val>
                                            <p:fltVal val="0"/>
                                          </p:val>
                                        </p:tav>
                                        <p:tav tm="100000">
                                          <p:val>
                                            <p:strVal val="#ppt_w"/>
                                          </p:val>
                                        </p:tav>
                                      </p:tavLst>
                                    </p:anim>
                                    <p:anim calcmode="lin" valueType="num">
                                      <p:cBhvr>
                                        <p:cTn id="58" dur="750" fill="hold"/>
                                        <p:tgtEl>
                                          <p:spTgt spid="117"/>
                                        </p:tgtEl>
                                        <p:attrNameLst>
                                          <p:attrName>ppt_h</p:attrName>
                                        </p:attrNameLst>
                                      </p:cBhvr>
                                      <p:tavLst>
                                        <p:tav tm="0">
                                          <p:val>
                                            <p:fltVal val="0"/>
                                          </p:val>
                                        </p:tav>
                                        <p:tav tm="100000">
                                          <p:val>
                                            <p:strVal val="#ppt_h"/>
                                          </p:val>
                                        </p:tav>
                                      </p:tavLst>
                                    </p:anim>
                                    <p:animEffect transition="in" filter="fade">
                                      <p:cBhvr>
                                        <p:cTn id="59" dur="750"/>
                                        <p:tgtEl>
                                          <p:spTgt spid="117"/>
                                        </p:tgtEl>
                                      </p:cBhvr>
                                    </p:animEffect>
                                  </p:childTnLst>
                                </p:cTn>
                              </p:par>
                              <p:par>
                                <p:cTn id="60" presetID="53" presetClass="entr" presetSubtype="16" fill="hold" grpId="0" nodeType="withEffect">
                                  <p:stCondLst>
                                    <p:cond delay="750"/>
                                  </p:stCondLst>
                                  <p:childTnLst>
                                    <p:set>
                                      <p:cBhvr>
                                        <p:cTn id="61" dur="1" fill="hold">
                                          <p:stCondLst>
                                            <p:cond delay="0"/>
                                          </p:stCondLst>
                                        </p:cTn>
                                        <p:tgtEl>
                                          <p:spTgt spid="92"/>
                                        </p:tgtEl>
                                        <p:attrNameLst>
                                          <p:attrName>style.visibility</p:attrName>
                                        </p:attrNameLst>
                                      </p:cBhvr>
                                      <p:to>
                                        <p:strVal val="visible"/>
                                      </p:to>
                                    </p:set>
                                    <p:anim calcmode="lin" valueType="num">
                                      <p:cBhvr>
                                        <p:cTn id="62" dur="750" fill="hold"/>
                                        <p:tgtEl>
                                          <p:spTgt spid="92"/>
                                        </p:tgtEl>
                                        <p:attrNameLst>
                                          <p:attrName>ppt_w</p:attrName>
                                        </p:attrNameLst>
                                      </p:cBhvr>
                                      <p:tavLst>
                                        <p:tav tm="0">
                                          <p:val>
                                            <p:fltVal val="0"/>
                                          </p:val>
                                        </p:tav>
                                        <p:tav tm="100000">
                                          <p:val>
                                            <p:strVal val="#ppt_w"/>
                                          </p:val>
                                        </p:tav>
                                      </p:tavLst>
                                    </p:anim>
                                    <p:anim calcmode="lin" valueType="num">
                                      <p:cBhvr>
                                        <p:cTn id="63" dur="750" fill="hold"/>
                                        <p:tgtEl>
                                          <p:spTgt spid="92"/>
                                        </p:tgtEl>
                                        <p:attrNameLst>
                                          <p:attrName>ppt_h</p:attrName>
                                        </p:attrNameLst>
                                      </p:cBhvr>
                                      <p:tavLst>
                                        <p:tav tm="0">
                                          <p:val>
                                            <p:fltVal val="0"/>
                                          </p:val>
                                        </p:tav>
                                        <p:tav tm="100000">
                                          <p:val>
                                            <p:strVal val="#ppt_h"/>
                                          </p:val>
                                        </p:tav>
                                      </p:tavLst>
                                    </p:anim>
                                    <p:animEffect transition="in" filter="fade">
                                      <p:cBhvr>
                                        <p:cTn id="64" dur="750"/>
                                        <p:tgtEl>
                                          <p:spTgt spid="92"/>
                                        </p:tgtEl>
                                      </p:cBhvr>
                                    </p:animEffect>
                                  </p:childTnLst>
                                </p:cTn>
                              </p:par>
                              <p:par>
                                <p:cTn id="65" presetID="53" presetClass="entr" presetSubtype="16" fill="hold" grpId="0" nodeType="withEffect">
                                  <p:stCondLst>
                                    <p:cond delay="750"/>
                                  </p:stCondLst>
                                  <p:childTnLst>
                                    <p:set>
                                      <p:cBhvr>
                                        <p:cTn id="66" dur="1" fill="hold">
                                          <p:stCondLst>
                                            <p:cond delay="0"/>
                                          </p:stCondLst>
                                        </p:cTn>
                                        <p:tgtEl>
                                          <p:spTgt spid="2"/>
                                        </p:tgtEl>
                                        <p:attrNameLst>
                                          <p:attrName>style.visibility</p:attrName>
                                        </p:attrNameLst>
                                      </p:cBhvr>
                                      <p:to>
                                        <p:strVal val="visible"/>
                                      </p:to>
                                    </p:set>
                                    <p:anim calcmode="lin" valueType="num">
                                      <p:cBhvr>
                                        <p:cTn id="67" dur="750" fill="hold"/>
                                        <p:tgtEl>
                                          <p:spTgt spid="2"/>
                                        </p:tgtEl>
                                        <p:attrNameLst>
                                          <p:attrName>ppt_w</p:attrName>
                                        </p:attrNameLst>
                                      </p:cBhvr>
                                      <p:tavLst>
                                        <p:tav tm="0">
                                          <p:val>
                                            <p:fltVal val="0"/>
                                          </p:val>
                                        </p:tav>
                                        <p:tav tm="100000">
                                          <p:val>
                                            <p:strVal val="#ppt_w"/>
                                          </p:val>
                                        </p:tav>
                                      </p:tavLst>
                                    </p:anim>
                                    <p:anim calcmode="lin" valueType="num">
                                      <p:cBhvr>
                                        <p:cTn id="68" dur="750" fill="hold"/>
                                        <p:tgtEl>
                                          <p:spTgt spid="2"/>
                                        </p:tgtEl>
                                        <p:attrNameLst>
                                          <p:attrName>ppt_h</p:attrName>
                                        </p:attrNameLst>
                                      </p:cBhvr>
                                      <p:tavLst>
                                        <p:tav tm="0">
                                          <p:val>
                                            <p:fltVal val="0"/>
                                          </p:val>
                                        </p:tav>
                                        <p:tav tm="100000">
                                          <p:val>
                                            <p:strVal val="#ppt_h"/>
                                          </p:val>
                                        </p:tav>
                                      </p:tavLst>
                                    </p:anim>
                                    <p:animEffect transition="in" filter="fade">
                                      <p:cBhvr>
                                        <p:cTn id="69" dur="750"/>
                                        <p:tgtEl>
                                          <p:spTgt spid="2"/>
                                        </p:tgtEl>
                                      </p:cBhvr>
                                    </p:animEffect>
                                  </p:childTnLst>
                                </p:cTn>
                              </p:par>
                              <p:par>
                                <p:cTn id="70" presetID="53" presetClass="entr" presetSubtype="16" fill="hold" grpId="0" nodeType="withEffect">
                                  <p:stCondLst>
                                    <p:cond delay="750"/>
                                  </p:stCondLst>
                                  <p:childTnLst>
                                    <p:set>
                                      <p:cBhvr>
                                        <p:cTn id="71" dur="1" fill="hold">
                                          <p:stCondLst>
                                            <p:cond delay="0"/>
                                          </p:stCondLst>
                                        </p:cTn>
                                        <p:tgtEl>
                                          <p:spTgt spid="4"/>
                                        </p:tgtEl>
                                        <p:attrNameLst>
                                          <p:attrName>style.visibility</p:attrName>
                                        </p:attrNameLst>
                                      </p:cBhvr>
                                      <p:to>
                                        <p:strVal val="visible"/>
                                      </p:to>
                                    </p:set>
                                    <p:anim calcmode="lin" valueType="num">
                                      <p:cBhvr>
                                        <p:cTn id="72" dur="750" fill="hold"/>
                                        <p:tgtEl>
                                          <p:spTgt spid="4"/>
                                        </p:tgtEl>
                                        <p:attrNameLst>
                                          <p:attrName>ppt_w</p:attrName>
                                        </p:attrNameLst>
                                      </p:cBhvr>
                                      <p:tavLst>
                                        <p:tav tm="0">
                                          <p:val>
                                            <p:fltVal val="0"/>
                                          </p:val>
                                        </p:tav>
                                        <p:tav tm="100000">
                                          <p:val>
                                            <p:strVal val="#ppt_w"/>
                                          </p:val>
                                        </p:tav>
                                      </p:tavLst>
                                    </p:anim>
                                    <p:anim calcmode="lin" valueType="num">
                                      <p:cBhvr>
                                        <p:cTn id="73" dur="750" fill="hold"/>
                                        <p:tgtEl>
                                          <p:spTgt spid="4"/>
                                        </p:tgtEl>
                                        <p:attrNameLst>
                                          <p:attrName>ppt_h</p:attrName>
                                        </p:attrNameLst>
                                      </p:cBhvr>
                                      <p:tavLst>
                                        <p:tav tm="0">
                                          <p:val>
                                            <p:fltVal val="0"/>
                                          </p:val>
                                        </p:tav>
                                        <p:tav tm="100000">
                                          <p:val>
                                            <p:strVal val="#ppt_h"/>
                                          </p:val>
                                        </p:tav>
                                      </p:tavLst>
                                    </p:anim>
                                    <p:animEffect transition="in" filter="fade">
                                      <p:cBhvr>
                                        <p:cTn id="74" dur="750"/>
                                        <p:tgtEl>
                                          <p:spTgt spid="4"/>
                                        </p:tgtEl>
                                      </p:cBhvr>
                                    </p:animEffect>
                                  </p:childTnLst>
                                </p:cTn>
                              </p:par>
                              <p:par>
                                <p:cTn id="75" presetID="53" presetClass="entr" presetSubtype="16" fill="hold" grpId="0" nodeType="withEffect">
                                  <p:stCondLst>
                                    <p:cond delay="750"/>
                                  </p:stCondLst>
                                  <p:childTnLst>
                                    <p:set>
                                      <p:cBhvr>
                                        <p:cTn id="76" dur="1" fill="hold">
                                          <p:stCondLst>
                                            <p:cond delay="0"/>
                                          </p:stCondLst>
                                        </p:cTn>
                                        <p:tgtEl>
                                          <p:spTgt spid="3"/>
                                        </p:tgtEl>
                                        <p:attrNameLst>
                                          <p:attrName>style.visibility</p:attrName>
                                        </p:attrNameLst>
                                      </p:cBhvr>
                                      <p:to>
                                        <p:strVal val="visible"/>
                                      </p:to>
                                    </p:set>
                                    <p:anim calcmode="lin" valueType="num">
                                      <p:cBhvr>
                                        <p:cTn id="77" dur="750" fill="hold"/>
                                        <p:tgtEl>
                                          <p:spTgt spid="3"/>
                                        </p:tgtEl>
                                        <p:attrNameLst>
                                          <p:attrName>ppt_w</p:attrName>
                                        </p:attrNameLst>
                                      </p:cBhvr>
                                      <p:tavLst>
                                        <p:tav tm="0">
                                          <p:val>
                                            <p:fltVal val="0"/>
                                          </p:val>
                                        </p:tav>
                                        <p:tav tm="100000">
                                          <p:val>
                                            <p:strVal val="#ppt_w"/>
                                          </p:val>
                                        </p:tav>
                                      </p:tavLst>
                                    </p:anim>
                                    <p:anim calcmode="lin" valueType="num">
                                      <p:cBhvr>
                                        <p:cTn id="78" dur="750" fill="hold"/>
                                        <p:tgtEl>
                                          <p:spTgt spid="3"/>
                                        </p:tgtEl>
                                        <p:attrNameLst>
                                          <p:attrName>ppt_h</p:attrName>
                                        </p:attrNameLst>
                                      </p:cBhvr>
                                      <p:tavLst>
                                        <p:tav tm="0">
                                          <p:val>
                                            <p:fltVal val="0"/>
                                          </p:val>
                                        </p:tav>
                                        <p:tav tm="100000">
                                          <p:val>
                                            <p:strVal val="#ppt_h"/>
                                          </p:val>
                                        </p:tav>
                                      </p:tavLst>
                                    </p:anim>
                                    <p:animEffect transition="in" filter="fade">
                                      <p:cBhvr>
                                        <p:cTn id="79" dur="750"/>
                                        <p:tgtEl>
                                          <p:spTgt spid="3"/>
                                        </p:tgtEl>
                                      </p:cBhvr>
                                    </p:animEffect>
                                  </p:childTnLst>
                                </p:cTn>
                              </p:par>
                              <p:par>
                                <p:cTn id="80" presetID="8" presetClass="emph" presetSubtype="0" decel="100000" fill="hold" nodeType="withEffect">
                                  <p:stCondLst>
                                    <p:cond delay="750"/>
                                  </p:stCondLst>
                                  <p:childTnLst>
                                    <p:animRot by="21600000">
                                      <p:cBhvr>
                                        <p:cTn id="81" dur="1500" fill="hold"/>
                                        <p:tgtEl>
                                          <p:spTgt spid="102"/>
                                        </p:tgtEl>
                                        <p:attrNameLst>
                                          <p:attrName>r</p:attrName>
                                        </p:attrNameLst>
                                      </p:cBhvr>
                                    </p:animRot>
                                  </p:childTnLst>
                                </p:cTn>
                              </p:par>
                              <p:par>
                                <p:cTn id="82" presetID="8" presetClass="emph" presetSubtype="0" decel="100000" fill="hold" nodeType="withEffect">
                                  <p:stCondLst>
                                    <p:cond delay="750"/>
                                  </p:stCondLst>
                                  <p:childTnLst>
                                    <p:animRot by="21600000">
                                      <p:cBhvr>
                                        <p:cTn id="83" dur="1500" fill="hold"/>
                                        <p:tgtEl>
                                          <p:spTgt spid="93"/>
                                        </p:tgtEl>
                                        <p:attrNameLst>
                                          <p:attrName>r</p:attrName>
                                        </p:attrNameLst>
                                      </p:cBhvr>
                                    </p:animRot>
                                  </p:childTnLst>
                                </p:cTn>
                              </p:par>
                              <p:par>
                                <p:cTn id="84" presetID="8" presetClass="emph" presetSubtype="0" decel="100000" fill="hold" nodeType="withEffect">
                                  <p:stCondLst>
                                    <p:cond delay="750"/>
                                  </p:stCondLst>
                                  <p:childTnLst>
                                    <p:animRot by="21600000">
                                      <p:cBhvr>
                                        <p:cTn id="85" dur="1500" fill="hold"/>
                                        <p:tgtEl>
                                          <p:spTgt spid="96"/>
                                        </p:tgtEl>
                                        <p:attrNameLst>
                                          <p:attrName>r</p:attrName>
                                        </p:attrNameLst>
                                      </p:cBhvr>
                                    </p:animRot>
                                  </p:childTnLst>
                                </p:cTn>
                              </p:par>
                              <p:par>
                                <p:cTn id="86" presetID="8" presetClass="emph" presetSubtype="0" decel="100000" fill="hold" nodeType="withEffect">
                                  <p:stCondLst>
                                    <p:cond delay="750"/>
                                  </p:stCondLst>
                                  <p:childTnLst>
                                    <p:animRot by="21600000">
                                      <p:cBhvr>
                                        <p:cTn id="87" dur="1500" fill="hold"/>
                                        <p:tgtEl>
                                          <p:spTgt spid="99"/>
                                        </p:tgtEl>
                                        <p:attrNameLst>
                                          <p:attrName>r</p:attrName>
                                        </p:attrNameLst>
                                      </p:cBhvr>
                                    </p:animRot>
                                  </p:childTnLst>
                                </p:cTn>
                              </p:par>
                              <p:par>
                                <p:cTn id="88" presetID="8" presetClass="emph" presetSubtype="0" decel="100000" fill="hold" nodeType="withEffect">
                                  <p:stCondLst>
                                    <p:cond delay="750"/>
                                  </p:stCondLst>
                                  <p:childTnLst>
                                    <p:animRot by="21600000">
                                      <p:cBhvr>
                                        <p:cTn id="89" dur="1500" fill="hold"/>
                                        <p:tgtEl>
                                          <p:spTgt spid="111"/>
                                        </p:tgtEl>
                                        <p:attrNameLst>
                                          <p:attrName>r</p:attrName>
                                        </p:attrNameLst>
                                      </p:cBhvr>
                                    </p:animRot>
                                  </p:childTnLst>
                                </p:cTn>
                              </p:par>
                              <p:par>
                                <p:cTn id="90" presetID="8" presetClass="emph" presetSubtype="0" decel="100000" fill="hold" nodeType="withEffect">
                                  <p:stCondLst>
                                    <p:cond delay="750"/>
                                  </p:stCondLst>
                                  <p:childTnLst>
                                    <p:animRot by="21600000">
                                      <p:cBhvr>
                                        <p:cTn id="91" dur="1500" fill="hold"/>
                                        <p:tgtEl>
                                          <p:spTgt spid="105"/>
                                        </p:tgtEl>
                                        <p:attrNameLst>
                                          <p:attrName>r</p:attrName>
                                        </p:attrNameLst>
                                      </p:cBhvr>
                                    </p:animRot>
                                  </p:childTnLst>
                                </p:cTn>
                              </p:par>
                              <p:par>
                                <p:cTn id="92" presetID="8" presetClass="emph" presetSubtype="0" decel="100000" fill="hold" nodeType="withEffect">
                                  <p:stCondLst>
                                    <p:cond delay="750"/>
                                  </p:stCondLst>
                                  <p:childTnLst>
                                    <p:animRot by="21600000">
                                      <p:cBhvr>
                                        <p:cTn id="93" dur="1500" fill="hold"/>
                                        <p:tgtEl>
                                          <p:spTgt spid="108"/>
                                        </p:tgtEl>
                                        <p:attrNameLst>
                                          <p:attrName>r</p:attrName>
                                        </p:attrNameLst>
                                      </p:cBhvr>
                                    </p:animRot>
                                  </p:childTnLst>
                                </p:cTn>
                              </p:par>
                              <p:par>
                                <p:cTn id="94" presetID="8" presetClass="emph" presetSubtype="0" decel="100000" fill="hold" nodeType="withEffect">
                                  <p:stCondLst>
                                    <p:cond delay="750"/>
                                  </p:stCondLst>
                                  <p:childTnLst>
                                    <p:animRot by="21600000">
                                      <p:cBhvr>
                                        <p:cTn id="95" dur="1500" fill="hold"/>
                                        <p:tgtEl>
                                          <p:spTgt spid="114"/>
                                        </p:tgtEl>
                                        <p:attrNameLst>
                                          <p:attrName>r</p:attrName>
                                        </p:attrNameLst>
                                      </p:cBhvr>
                                    </p:animRot>
                                  </p:childTnLst>
                                </p:cTn>
                              </p:par>
                              <p:par>
                                <p:cTn id="96" presetID="8" presetClass="emph" presetSubtype="0" decel="100000" fill="hold" nodeType="withEffect">
                                  <p:stCondLst>
                                    <p:cond delay="750"/>
                                  </p:stCondLst>
                                  <p:childTnLst>
                                    <p:animRot by="21600000">
                                      <p:cBhvr>
                                        <p:cTn id="97" dur="1500" fill="hold"/>
                                        <p:tgtEl>
                                          <p:spTgt spid="117"/>
                                        </p:tgtEl>
                                        <p:attrNameLst>
                                          <p:attrName>r</p:attrName>
                                        </p:attrNameLst>
                                      </p:cBhvr>
                                    </p:animRot>
                                  </p:childTnLst>
                                </p:cTn>
                              </p:par>
                              <p:par>
                                <p:cTn id="98" presetID="8" presetClass="emph" presetSubtype="0" decel="100000" fill="hold" grpId="1" nodeType="withEffect">
                                  <p:stCondLst>
                                    <p:cond delay="750"/>
                                  </p:stCondLst>
                                  <p:childTnLst>
                                    <p:animRot by="21600000">
                                      <p:cBhvr>
                                        <p:cTn id="99" dur="1500" fill="hold"/>
                                        <p:tgtEl>
                                          <p:spTgt spid="92"/>
                                        </p:tgtEl>
                                        <p:attrNameLst>
                                          <p:attrName>r</p:attrName>
                                        </p:attrNameLst>
                                      </p:cBhvr>
                                    </p:animRot>
                                  </p:childTnLst>
                                </p:cTn>
                              </p:par>
                              <p:par>
                                <p:cTn id="100" presetID="8" presetClass="emph" presetSubtype="0" decel="100000" fill="hold" grpId="1" nodeType="withEffect">
                                  <p:stCondLst>
                                    <p:cond delay="750"/>
                                  </p:stCondLst>
                                  <p:childTnLst>
                                    <p:animRot by="21600000">
                                      <p:cBhvr>
                                        <p:cTn id="101" dur="1500" fill="hold"/>
                                        <p:tgtEl>
                                          <p:spTgt spid="2"/>
                                        </p:tgtEl>
                                        <p:attrNameLst>
                                          <p:attrName>r</p:attrName>
                                        </p:attrNameLst>
                                      </p:cBhvr>
                                    </p:animRot>
                                  </p:childTnLst>
                                </p:cTn>
                              </p:par>
                              <p:par>
                                <p:cTn id="102" presetID="8" presetClass="emph" presetSubtype="0" decel="100000" fill="hold" grpId="1" nodeType="withEffect">
                                  <p:stCondLst>
                                    <p:cond delay="750"/>
                                  </p:stCondLst>
                                  <p:childTnLst>
                                    <p:animRot by="21600000">
                                      <p:cBhvr>
                                        <p:cTn id="103" dur="1500" fill="hold"/>
                                        <p:tgtEl>
                                          <p:spTgt spid="4"/>
                                        </p:tgtEl>
                                        <p:attrNameLst>
                                          <p:attrName>r</p:attrName>
                                        </p:attrNameLst>
                                      </p:cBhvr>
                                    </p:animRot>
                                  </p:childTnLst>
                                </p:cTn>
                              </p:par>
                              <p:par>
                                <p:cTn id="104" presetID="8" presetClass="emph" presetSubtype="0" decel="100000" fill="hold" grpId="1" nodeType="withEffect">
                                  <p:stCondLst>
                                    <p:cond delay="750"/>
                                  </p:stCondLst>
                                  <p:childTnLst>
                                    <p:animRot by="21600000">
                                      <p:cBhvr>
                                        <p:cTn id="105" dur="1500" fill="hold"/>
                                        <p:tgtEl>
                                          <p:spTgt spid="3"/>
                                        </p:tgtEl>
                                        <p:attrNameLst>
                                          <p:attrName>r</p:attrName>
                                        </p:attrNameLst>
                                      </p:cBhvr>
                                    </p:animRot>
                                  </p:childTnLst>
                                </p:cTn>
                              </p:par>
                              <p:par>
                                <p:cTn id="106" presetID="1" presetClass="entr" presetSubtype="0" fill="hold" grpId="0" nodeType="withEffect">
                                  <p:stCondLst>
                                    <p:cond delay="2250"/>
                                  </p:stCondLst>
                                  <p:childTnLst>
                                    <p:set>
                                      <p:cBhvr>
                                        <p:cTn id="107" dur="1" fill="hold">
                                          <p:stCondLst>
                                            <p:cond delay="0"/>
                                          </p:stCondLst>
                                        </p:cTn>
                                        <p:tgtEl>
                                          <p:spTgt spid="91"/>
                                        </p:tgtEl>
                                        <p:attrNameLst>
                                          <p:attrName>style.visibility</p:attrName>
                                        </p:attrNameLst>
                                      </p:cBhvr>
                                      <p:to>
                                        <p:strVal val="visible"/>
                                      </p:to>
                                    </p:set>
                                  </p:childTnLst>
                                </p:cTn>
                              </p:par>
                              <p:par>
                                <p:cTn id="108" presetID="1" presetClass="entr" presetSubtype="0" fill="hold" grpId="0" nodeType="withEffect">
                                  <p:stCondLst>
                                    <p:cond delay="2250"/>
                                  </p:stCondLst>
                                  <p:childTnLst>
                                    <p:set>
                                      <p:cBhvr>
                                        <p:cTn id="109" dur="1" fill="hold">
                                          <p:stCondLst>
                                            <p:cond delay="0"/>
                                          </p:stCondLst>
                                        </p:cTn>
                                        <p:tgtEl>
                                          <p:spTgt spid="90"/>
                                        </p:tgtEl>
                                        <p:attrNameLst>
                                          <p:attrName>style.visibility</p:attrName>
                                        </p:attrNameLst>
                                      </p:cBhvr>
                                      <p:to>
                                        <p:strVal val="visible"/>
                                      </p:to>
                                    </p:set>
                                  </p:childTnLst>
                                </p:cTn>
                              </p:par>
                              <p:par>
                                <p:cTn id="110" presetID="1" presetClass="entr" presetSubtype="0" fill="hold" grpId="0" nodeType="withEffect">
                                  <p:stCondLst>
                                    <p:cond delay="2250"/>
                                  </p:stCondLst>
                                  <p:childTnLst>
                                    <p:set>
                                      <p:cBhvr>
                                        <p:cTn id="111" dur="1" fill="hold">
                                          <p:stCondLst>
                                            <p:cond delay="0"/>
                                          </p:stCondLst>
                                        </p:cTn>
                                        <p:tgtEl>
                                          <p:spTgt spid="89"/>
                                        </p:tgtEl>
                                        <p:attrNameLst>
                                          <p:attrName>style.visibility</p:attrName>
                                        </p:attrNameLst>
                                      </p:cBhvr>
                                      <p:to>
                                        <p:strVal val="visible"/>
                                      </p:to>
                                    </p:set>
                                  </p:childTnLst>
                                </p:cTn>
                              </p:par>
                              <p:par>
                                <p:cTn id="112" presetID="1" presetClass="entr" presetSubtype="0" fill="hold" grpId="0" nodeType="withEffect">
                                  <p:stCondLst>
                                    <p:cond delay="2250"/>
                                  </p:stCondLst>
                                  <p:childTnLst>
                                    <p:set>
                                      <p:cBhvr>
                                        <p:cTn id="113" dur="1" fill="hold">
                                          <p:stCondLst>
                                            <p:cond delay="0"/>
                                          </p:stCondLst>
                                        </p:cTn>
                                        <p:tgtEl>
                                          <p:spTgt spid="88"/>
                                        </p:tgtEl>
                                        <p:attrNameLst>
                                          <p:attrName>style.visibility</p:attrName>
                                        </p:attrNameLst>
                                      </p:cBhvr>
                                      <p:to>
                                        <p:strVal val="visible"/>
                                      </p:to>
                                    </p:set>
                                  </p:childTnLst>
                                </p:cTn>
                              </p:par>
                              <p:par>
                                <p:cTn id="114" presetID="1" presetClass="entr" presetSubtype="0" fill="hold" grpId="0" nodeType="withEffect">
                                  <p:stCondLst>
                                    <p:cond delay="2250"/>
                                  </p:stCondLst>
                                  <p:childTnLst>
                                    <p:set>
                                      <p:cBhvr>
                                        <p:cTn id="115" dur="1" fill="hold">
                                          <p:stCondLst>
                                            <p:cond delay="0"/>
                                          </p:stCondLst>
                                        </p:cTn>
                                        <p:tgtEl>
                                          <p:spTgt spid="87"/>
                                        </p:tgtEl>
                                        <p:attrNameLst>
                                          <p:attrName>style.visibility</p:attrName>
                                        </p:attrNameLst>
                                      </p:cBhvr>
                                      <p:to>
                                        <p:strVal val="visible"/>
                                      </p:to>
                                    </p:set>
                                  </p:childTnLst>
                                </p:cTn>
                              </p:par>
                              <p:par>
                                <p:cTn id="116" presetID="1" presetClass="entr" presetSubtype="0" fill="hold" grpId="0" nodeType="withEffect">
                                  <p:stCondLst>
                                    <p:cond delay="2250"/>
                                  </p:stCondLst>
                                  <p:childTnLst>
                                    <p:set>
                                      <p:cBhvr>
                                        <p:cTn id="117" dur="1" fill="hold">
                                          <p:stCondLst>
                                            <p:cond delay="0"/>
                                          </p:stCondLst>
                                        </p:cTn>
                                        <p:tgtEl>
                                          <p:spTgt spid="86"/>
                                        </p:tgtEl>
                                        <p:attrNameLst>
                                          <p:attrName>style.visibility</p:attrName>
                                        </p:attrNameLst>
                                      </p:cBhvr>
                                      <p:to>
                                        <p:strVal val="visible"/>
                                      </p:to>
                                    </p:set>
                                  </p:childTnLst>
                                </p:cTn>
                              </p:par>
                              <p:par>
                                <p:cTn id="118" presetID="1" presetClass="entr" presetSubtype="0" fill="hold" grpId="0" nodeType="withEffect">
                                  <p:stCondLst>
                                    <p:cond delay="2250"/>
                                  </p:stCondLst>
                                  <p:childTnLst>
                                    <p:set>
                                      <p:cBhvr>
                                        <p:cTn id="119" dur="1" fill="hold">
                                          <p:stCondLst>
                                            <p:cond delay="0"/>
                                          </p:stCondLst>
                                        </p:cTn>
                                        <p:tgtEl>
                                          <p:spTgt spid="85"/>
                                        </p:tgtEl>
                                        <p:attrNameLst>
                                          <p:attrName>style.visibility</p:attrName>
                                        </p:attrNameLst>
                                      </p:cBhvr>
                                      <p:to>
                                        <p:strVal val="visible"/>
                                      </p:to>
                                    </p:set>
                                  </p:childTnLst>
                                </p:cTn>
                              </p:par>
                              <p:par>
                                <p:cTn id="120" presetID="1" presetClass="entr" presetSubtype="0" fill="hold" grpId="0" nodeType="withEffect">
                                  <p:stCondLst>
                                    <p:cond delay="2250"/>
                                  </p:stCondLst>
                                  <p:childTnLst>
                                    <p:set>
                                      <p:cBhvr>
                                        <p:cTn id="121" dur="1" fill="hold">
                                          <p:stCondLst>
                                            <p:cond delay="0"/>
                                          </p:stCondLst>
                                        </p:cTn>
                                        <p:tgtEl>
                                          <p:spTgt spid="84"/>
                                        </p:tgtEl>
                                        <p:attrNameLst>
                                          <p:attrName>style.visibility</p:attrName>
                                        </p:attrNameLst>
                                      </p:cBhvr>
                                      <p:to>
                                        <p:strVal val="visible"/>
                                      </p:to>
                                    </p:set>
                                  </p:childTnLst>
                                </p:cTn>
                              </p:par>
                              <p:par>
                                <p:cTn id="122" presetID="2" presetClass="entr" presetSubtype="1" fill="hold" nodeType="withEffect">
                                  <p:stCondLst>
                                    <p:cond delay="0"/>
                                  </p:stCondLst>
                                  <p:childTnLst>
                                    <p:set>
                                      <p:cBhvr>
                                        <p:cTn id="123" dur="1" fill="hold">
                                          <p:stCondLst>
                                            <p:cond delay="0"/>
                                          </p:stCondLst>
                                        </p:cTn>
                                        <p:tgtEl>
                                          <p:spTgt spid="10"/>
                                        </p:tgtEl>
                                        <p:attrNameLst>
                                          <p:attrName>style.visibility</p:attrName>
                                        </p:attrNameLst>
                                      </p:cBhvr>
                                      <p:to>
                                        <p:strVal val="visible"/>
                                      </p:to>
                                    </p:set>
                                    <p:anim calcmode="lin" valueType="num">
                                      <p:cBhvr additive="base">
                                        <p:cTn id="124" dur="500" fill="hold"/>
                                        <p:tgtEl>
                                          <p:spTgt spid="10"/>
                                        </p:tgtEl>
                                        <p:attrNameLst>
                                          <p:attrName>ppt_x</p:attrName>
                                        </p:attrNameLst>
                                      </p:cBhvr>
                                      <p:tavLst>
                                        <p:tav tm="0">
                                          <p:val>
                                            <p:strVal val="#ppt_x"/>
                                          </p:val>
                                        </p:tav>
                                        <p:tav tm="100000">
                                          <p:val>
                                            <p:strVal val="#ppt_x"/>
                                          </p:val>
                                        </p:tav>
                                      </p:tavLst>
                                    </p:anim>
                                    <p:anim calcmode="lin" valueType="num">
                                      <p:cBhvr additive="base">
                                        <p:cTn id="125" dur="500" fill="hold"/>
                                        <p:tgtEl>
                                          <p:spTgt spid="10"/>
                                        </p:tgtEl>
                                        <p:attrNameLst>
                                          <p:attrName>ppt_y</p:attrName>
                                        </p:attrNameLst>
                                      </p:cBhvr>
                                      <p:tavLst>
                                        <p:tav tm="0">
                                          <p:val>
                                            <p:strVal val="0-#ppt_h/2"/>
                                          </p:val>
                                        </p:tav>
                                        <p:tav tm="100000">
                                          <p:val>
                                            <p:strVal val="#ppt_y"/>
                                          </p:val>
                                        </p:tav>
                                      </p:tavLst>
                                    </p:anim>
                                  </p:childTnLst>
                                </p:cTn>
                              </p:par>
                              <p:par>
                                <p:cTn id="126" presetID="9" presetClass="entr" presetSubtype="0" fill="hold" nodeType="withEffect">
                                  <p:stCondLst>
                                    <p:cond delay="0"/>
                                  </p:stCondLst>
                                  <p:childTnLst>
                                    <p:set>
                                      <p:cBhvr>
                                        <p:cTn id="127" dur="1" fill="hold">
                                          <p:stCondLst>
                                            <p:cond delay="0"/>
                                          </p:stCondLst>
                                        </p:cTn>
                                        <p:tgtEl>
                                          <p:spTgt spid="10"/>
                                        </p:tgtEl>
                                        <p:attrNameLst>
                                          <p:attrName>style.visibility</p:attrName>
                                        </p:attrNameLst>
                                      </p:cBhvr>
                                      <p:to>
                                        <p:strVal val="visible"/>
                                      </p:to>
                                    </p:set>
                                    <p:animEffect transition="in" filter="dissolve">
                                      <p:cBhvr>
                                        <p:cTn id="128" dur="500"/>
                                        <p:tgtEl>
                                          <p:spTgt spid="10"/>
                                        </p:tgtEl>
                                      </p:cBhvr>
                                    </p:animEffect>
                                  </p:childTnLst>
                                </p:cTn>
                              </p:par>
                              <p:par>
                                <p:cTn id="129" presetID="2" presetClass="entr" presetSubtype="4" fill="hold" nodeType="withEffect">
                                  <p:stCondLst>
                                    <p:cond delay="0"/>
                                  </p:stCondLst>
                                  <p:childTnLst>
                                    <p:set>
                                      <p:cBhvr>
                                        <p:cTn id="130" dur="1" fill="hold">
                                          <p:stCondLst>
                                            <p:cond delay="0"/>
                                          </p:stCondLst>
                                        </p:cTn>
                                        <p:tgtEl>
                                          <p:spTgt spid="10"/>
                                        </p:tgtEl>
                                        <p:attrNameLst>
                                          <p:attrName>style.visibility</p:attrName>
                                        </p:attrNameLst>
                                      </p:cBhvr>
                                      <p:to>
                                        <p:strVal val="visible"/>
                                      </p:to>
                                    </p:set>
                                    <p:anim calcmode="lin" valueType="num">
                                      <p:cBhvr additive="base">
                                        <p:cTn id="131" dur="500" fill="hold"/>
                                        <p:tgtEl>
                                          <p:spTgt spid="10"/>
                                        </p:tgtEl>
                                        <p:attrNameLst>
                                          <p:attrName>ppt_x</p:attrName>
                                        </p:attrNameLst>
                                      </p:cBhvr>
                                      <p:tavLst>
                                        <p:tav tm="0">
                                          <p:val>
                                            <p:strVal val="#ppt_x"/>
                                          </p:val>
                                        </p:tav>
                                        <p:tav tm="100000">
                                          <p:val>
                                            <p:strVal val="#ppt_x"/>
                                          </p:val>
                                        </p:tav>
                                      </p:tavLst>
                                    </p:anim>
                                    <p:anim calcmode="lin" valueType="num">
                                      <p:cBhvr additive="base">
                                        <p:cTn id="1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5" grpId="0" animBg="1"/>
      <p:bldP spid="86" grpId="0" animBg="1"/>
      <p:bldP spid="87" grpId="0" animBg="1"/>
      <p:bldP spid="88" grpId="0" animBg="1"/>
      <p:bldP spid="89" grpId="0" animBg="1"/>
      <p:bldP spid="90" grpId="0" animBg="1"/>
      <p:bldP spid="91" grpId="0" animBg="1"/>
      <p:bldP spid="92" grpId="0" animBg="1"/>
      <p:bldP spid="92" grpId="1" animBg="1"/>
      <p:bldP spid="21" grpId="0"/>
      <p:bldP spid="21" grpId="1"/>
      <p:bldP spid="2" grpId="0" animBg="1"/>
      <p:bldP spid="2" grpId="1" animBg="1"/>
      <p:bldP spid="3" grpId="0" animBg="1"/>
      <p:bldP spid="3" grpId="1" animBg="1"/>
      <p:bldP spid="4" grpId="0" animBg="1"/>
      <p:bldP spid="4" grpId="1" animBg="1"/>
      <p:bldP spid="30" grpId="0"/>
      <p:bldP spid="30"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r="-15000"/>
          </a:stretch>
        </a:blipFill>
        <a:effectLst/>
      </p:bgPr>
    </p:bg>
    <p:spTree>
      <p:nvGrpSpPr>
        <p:cNvPr id="1" name=""/>
        <p:cNvGrpSpPr/>
        <p:nvPr/>
      </p:nvGrpSpPr>
      <p:grpSpPr>
        <a:xfrm>
          <a:off x="0" y="0"/>
          <a:ext cx="0" cy="0"/>
          <a:chOff x="0" y="0"/>
          <a:chExt cx="0" cy="0"/>
        </a:xfrm>
      </p:grpSpPr>
      <p:sp useBgFill="1">
        <p:nvSpPr>
          <p:cNvPr id="11" name="!!mission_big">
            <a:extLst>
              <a:ext uri="{FF2B5EF4-FFF2-40B4-BE49-F238E27FC236}">
                <a16:creationId xmlns:a16="http://schemas.microsoft.com/office/drawing/2014/main" id="{6001EAF3-99DE-071D-640E-27373C22F4EC}"/>
              </a:ext>
            </a:extLst>
          </p:cNvPr>
          <p:cNvSpPr/>
          <p:nvPr/>
        </p:nvSpPr>
        <p:spPr>
          <a:xfrm>
            <a:off x="1468834" y="2068251"/>
            <a:ext cx="1422400" cy="1422400"/>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4" name="!!problem_big">
            <a:extLst>
              <a:ext uri="{FF2B5EF4-FFF2-40B4-BE49-F238E27FC236}">
                <a16:creationId xmlns:a16="http://schemas.microsoft.com/office/drawing/2014/main" id="{41CA0059-60D2-6D7F-A447-1DBBEF5018AE}"/>
              </a:ext>
            </a:extLst>
          </p:cNvPr>
          <p:cNvSpPr/>
          <p:nvPr/>
        </p:nvSpPr>
        <p:spPr>
          <a:xfrm>
            <a:off x="2447825" y="3364259"/>
            <a:ext cx="1422400" cy="1422400"/>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5" name="!!solution_big">
            <a:extLst>
              <a:ext uri="{FF2B5EF4-FFF2-40B4-BE49-F238E27FC236}">
                <a16:creationId xmlns:a16="http://schemas.microsoft.com/office/drawing/2014/main" id="{01485104-FBE1-6D05-D1EB-C70693B8A671}"/>
              </a:ext>
            </a:extLst>
          </p:cNvPr>
          <p:cNvSpPr/>
          <p:nvPr/>
        </p:nvSpPr>
        <p:spPr>
          <a:xfrm>
            <a:off x="3426817" y="2068251"/>
            <a:ext cx="1422400" cy="1422400"/>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mc:AlternateContent xmlns:mc="http://schemas.openxmlformats.org/markup-compatibility/2006" xmlns:psez="http://schemas.microsoft.com/office/powerpoint/2016/sectionzoom">
        <mc:Choice Requires="psez">
          <p:graphicFrame>
            <p:nvGraphicFramePr>
              <p:cNvPr id="54" name="Section Zoom 53">
                <a:extLst>
                  <a:ext uri="{FF2B5EF4-FFF2-40B4-BE49-F238E27FC236}">
                    <a16:creationId xmlns:a16="http://schemas.microsoft.com/office/drawing/2014/main" id="{DBC6B9C2-6600-0373-E3D5-6E3846853C35}"/>
                  </a:ext>
                </a:extLst>
              </p:cNvPr>
              <p:cNvGraphicFramePr>
                <a:graphicFrameLocks noChangeAspect="1"/>
              </p:cNvGraphicFramePr>
              <p:nvPr>
                <p:extLst>
                  <p:ext uri="{D42A27DB-BD31-4B8C-83A1-F6EECF244321}">
                    <p14:modId xmlns:p14="http://schemas.microsoft.com/office/powerpoint/2010/main" val="4128634608"/>
                  </p:ext>
                </p:extLst>
              </p:nvPr>
            </p:nvGraphicFramePr>
            <p:xfrm>
              <a:off x="1577089" y="2440294"/>
              <a:ext cx="1205890" cy="678314"/>
            </p:xfrm>
            <a:graphic>
              <a:graphicData uri="http://schemas.microsoft.com/office/powerpoint/2016/sectionzoom">
                <psez:sectionZm>
                  <psez:sectionZmObj sectionId="{88495344-40FB-4841-99CC-E364E4B3FA60}">
                    <psez:zmPr id="{2045F387-F9C1-4234-AB40-2F706D3FBEEE}" transitionDur="1000" showBg="0">
                      <p166:blipFill xmlns:p166="http://schemas.microsoft.com/office/powerpoint/2016/6/main">
                        <a:blip r:embed="rId4"/>
                        <a:stretch>
                          <a:fillRect/>
                        </a:stretch>
                      </p166:blipFill>
                      <p166:spPr xmlns:p166="http://schemas.microsoft.com/office/powerpoint/2016/6/main">
                        <a:xfrm>
                          <a:off x="0" y="0"/>
                          <a:ext cx="1205890" cy="678314"/>
                        </a:xfrm>
                        <a:prstGeom prst="rect">
                          <a:avLst/>
                        </a:prstGeom>
                        <a:ln w="3175">
                          <a:noFill/>
                        </a:ln>
                      </p166:spPr>
                    </psez:zmPr>
                  </psez:sectionZmObj>
                </psez:sectionZm>
              </a:graphicData>
            </a:graphic>
          </p:graphicFrame>
        </mc:Choice>
        <mc:Fallback xmlns="">
          <p:pic>
            <p:nvPicPr>
              <p:cNvPr id="54" name="Section Zoom 53">
                <a:hlinkClick r:id="rId10" action="ppaction://hlinksldjump"/>
                <a:extLst>
                  <a:ext uri="{FF2B5EF4-FFF2-40B4-BE49-F238E27FC236}">
                    <a16:creationId xmlns:a16="http://schemas.microsoft.com/office/drawing/2014/main" id="{DBC6B9C2-6600-0373-E3D5-6E3846853C35}"/>
                  </a:ext>
                </a:extLst>
              </p:cNvPr>
              <p:cNvPicPr>
                <a:picLocks noGrp="1" noRot="1" noChangeAspect="1" noMove="1" noResize="1" noEditPoints="1" noAdjustHandles="1" noChangeArrowheads="1" noChangeShapeType="1"/>
              </p:cNvPicPr>
              <p:nvPr/>
            </p:nvPicPr>
            <p:blipFill>
              <a:blip r:embed="rId9"/>
              <a:stretch>
                <a:fillRect/>
              </a:stretch>
            </p:blipFill>
            <p:spPr>
              <a:xfrm>
                <a:off x="1577089" y="2440294"/>
                <a:ext cx="1205890" cy="678314"/>
              </a:xfrm>
              <a:prstGeom prst="rect">
                <a:avLst/>
              </a:prstGeom>
              <a:ln w="3175">
                <a:noFill/>
              </a:ln>
            </p:spPr>
          </p:pic>
        </mc:Fallback>
      </mc:AlternateContent>
      <p:sp useBgFill="1">
        <p:nvSpPr>
          <p:cNvPr id="21" name="!!potential_big">
            <a:extLst>
              <a:ext uri="{FF2B5EF4-FFF2-40B4-BE49-F238E27FC236}">
                <a16:creationId xmlns:a16="http://schemas.microsoft.com/office/drawing/2014/main" id="{451ADC09-786B-7817-12A7-45589629C4FD}"/>
              </a:ext>
            </a:extLst>
          </p:cNvPr>
          <p:cNvSpPr/>
          <p:nvPr/>
        </p:nvSpPr>
        <p:spPr>
          <a:xfrm>
            <a:off x="4405808" y="3364259"/>
            <a:ext cx="1422400" cy="1422400"/>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29" name="!!model_big">
            <a:extLst>
              <a:ext uri="{FF2B5EF4-FFF2-40B4-BE49-F238E27FC236}">
                <a16:creationId xmlns:a16="http://schemas.microsoft.com/office/drawing/2014/main" id="{D0B663A2-5250-7360-D77D-BA82684250B9}"/>
              </a:ext>
            </a:extLst>
          </p:cNvPr>
          <p:cNvSpPr/>
          <p:nvPr/>
        </p:nvSpPr>
        <p:spPr>
          <a:xfrm>
            <a:off x="5384800" y="2068251"/>
            <a:ext cx="1422400" cy="1422400"/>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40" name="!!growth_big">
            <a:extLst>
              <a:ext uri="{FF2B5EF4-FFF2-40B4-BE49-F238E27FC236}">
                <a16:creationId xmlns:a16="http://schemas.microsoft.com/office/drawing/2014/main" id="{1E4D5046-D93E-1283-7C95-8297912863DF}"/>
              </a:ext>
            </a:extLst>
          </p:cNvPr>
          <p:cNvSpPr/>
          <p:nvPr/>
        </p:nvSpPr>
        <p:spPr>
          <a:xfrm>
            <a:off x="6363791" y="3364259"/>
            <a:ext cx="1422400" cy="1422400"/>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41" name="!!competition_big">
            <a:extLst>
              <a:ext uri="{FF2B5EF4-FFF2-40B4-BE49-F238E27FC236}">
                <a16:creationId xmlns:a16="http://schemas.microsoft.com/office/drawing/2014/main" id="{CB47AF06-08C1-C824-3CDC-6718A25A5568}"/>
              </a:ext>
            </a:extLst>
          </p:cNvPr>
          <p:cNvSpPr/>
          <p:nvPr/>
        </p:nvSpPr>
        <p:spPr>
          <a:xfrm>
            <a:off x="7342783" y="2068251"/>
            <a:ext cx="1422400" cy="1422400"/>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52" name="!!team_big">
            <a:extLst>
              <a:ext uri="{FF2B5EF4-FFF2-40B4-BE49-F238E27FC236}">
                <a16:creationId xmlns:a16="http://schemas.microsoft.com/office/drawing/2014/main" id="{B302DE39-6CAA-0299-5B01-34FB4ACE7015}"/>
              </a:ext>
            </a:extLst>
          </p:cNvPr>
          <p:cNvSpPr/>
          <p:nvPr/>
        </p:nvSpPr>
        <p:spPr>
          <a:xfrm>
            <a:off x="9300766" y="2068251"/>
            <a:ext cx="1422400" cy="1422400"/>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p:nvSpPr>
          <p:cNvPr id="76" name="Slide Title">
            <a:extLst>
              <a:ext uri="{FF2B5EF4-FFF2-40B4-BE49-F238E27FC236}">
                <a16:creationId xmlns:a16="http://schemas.microsoft.com/office/drawing/2014/main" id="{F1C16585-D5BD-D317-3939-4561F6529330}"/>
              </a:ext>
            </a:extLst>
          </p:cNvPr>
          <p:cNvSpPr txBox="1"/>
          <p:nvPr/>
        </p:nvSpPr>
        <p:spPr>
          <a:xfrm>
            <a:off x="3288453" y="484964"/>
            <a:ext cx="5744522" cy="734753"/>
          </a:xfrm>
          <a:prstGeom prst="rect">
            <a:avLst/>
          </a:prstGeom>
          <a:noFill/>
        </p:spPr>
        <p:txBody>
          <a:bodyPr wrap="none" lIns="0">
            <a:spAutoFit/>
          </a:bodyPr>
          <a:lstStyle>
            <a:defPPr>
              <a:defRPr lang="en-US"/>
            </a:defPPr>
            <a:lvl1pPr algn="ctr">
              <a:defRPr sz="5400">
                <a:solidFill>
                  <a:schemeClr val="bg1"/>
                </a:solidFill>
                <a:latin typeface="Orbitron Black" pitchFamily="2" charset="0"/>
              </a:defRPr>
            </a:lvl1pPr>
          </a:lstStyle>
          <a:p>
            <a:pPr marL="0" marR="0" lvl="0" indent="0" defTabSz="914400" rtl="0" eaLnBrk="1" fontAlgn="auto" latinLnBrk="0" hangingPunct="1">
              <a:lnSpc>
                <a:spcPct val="55357"/>
              </a:lnSpc>
              <a:spcBef>
                <a:spcPts val="0"/>
              </a:spcBef>
              <a:spcAft>
                <a:spcPts val="0"/>
              </a:spcAft>
              <a:buClrTx/>
              <a:buSzTx/>
              <a:buFontTx/>
              <a:buNone/>
              <a:tabLst/>
              <a:defRPr/>
            </a:pPr>
            <a:r>
              <a:rPr kumimoji="0" lang="en-US" sz="6600" b="0" u="none" strike="noStrike" kern="1200" cap="none" spc="-150" normalizeH="0" baseline="0" noProof="0" dirty="0">
                <a:ln>
                  <a:noFill/>
                </a:ln>
                <a:solidFill>
                  <a:prstClr val="white"/>
                </a:solidFill>
                <a:effectLst>
                  <a:outerShdw blurRad="88900" dist="88900" dir="2700000" algn="tl" rotWithShape="0">
                    <a:prstClr val="black">
                      <a:alpha val="50000"/>
                    </a:prstClr>
                  </a:outerShdw>
                </a:effectLst>
                <a:uLnTx/>
                <a:uFillTx/>
                <a:latin typeface="Darker Grotesque SemiBold" pitchFamily="2" charset="0"/>
              </a:rPr>
              <a:t>Table of Contents</a:t>
            </a:r>
          </a:p>
        </p:txBody>
      </p:sp>
      <p:grpSp>
        <p:nvGrpSpPr>
          <p:cNvPr id="77" name="!!mission">
            <a:extLst>
              <a:ext uri="{FF2B5EF4-FFF2-40B4-BE49-F238E27FC236}">
                <a16:creationId xmlns:a16="http://schemas.microsoft.com/office/drawing/2014/main" id="{4D0C00DC-150A-FD9D-4EE1-B24D3FCF6B7B}"/>
              </a:ext>
            </a:extLst>
          </p:cNvPr>
          <p:cNvGrpSpPr/>
          <p:nvPr/>
        </p:nvGrpSpPr>
        <p:grpSpPr>
          <a:xfrm>
            <a:off x="1926241" y="1867721"/>
            <a:ext cx="507586" cy="507586"/>
            <a:chOff x="1700837" y="1711757"/>
            <a:chExt cx="507586" cy="507586"/>
          </a:xfrm>
        </p:grpSpPr>
        <p:sp useBgFill="1">
          <p:nvSpPr>
            <p:cNvPr id="78" name="Oval 77">
              <a:extLst>
                <a:ext uri="{FF2B5EF4-FFF2-40B4-BE49-F238E27FC236}">
                  <a16:creationId xmlns:a16="http://schemas.microsoft.com/office/drawing/2014/main" id="{C9B6FF81-6FE6-C909-6253-D0FEA76AB50A}"/>
                </a:ext>
              </a:extLst>
            </p:cNvPr>
            <p:cNvSpPr/>
            <p:nvPr/>
          </p:nvSpPr>
          <p:spPr>
            <a:xfrm>
              <a:off x="1700837" y="1711757"/>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79" name="Graphic 78">
              <a:extLst>
                <a:ext uri="{FF2B5EF4-FFF2-40B4-BE49-F238E27FC236}">
                  <a16:creationId xmlns:a16="http://schemas.microsoft.com/office/drawing/2014/main" id="{800F1B16-217C-9DC0-72A3-A42F9233098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828630" y="1839550"/>
              <a:ext cx="252000" cy="252000"/>
            </a:xfrm>
            <a:prstGeom prst="rect">
              <a:avLst/>
            </a:prstGeom>
          </p:spPr>
        </p:pic>
      </p:grpSp>
      <p:grpSp>
        <p:nvGrpSpPr>
          <p:cNvPr id="80" name="!!problem">
            <a:extLst>
              <a:ext uri="{FF2B5EF4-FFF2-40B4-BE49-F238E27FC236}">
                <a16:creationId xmlns:a16="http://schemas.microsoft.com/office/drawing/2014/main" id="{9B6C9727-7E1C-F116-6F90-1D7429A07540}"/>
              </a:ext>
            </a:extLst>
          </p:cNvPr>
          <p:cNvGrpSpPr/>
          <p:nvPr/>
        </p:nvGrpSpPr>
        <p:grpSpPr>
          <a:xfrm>
            <a:off x="2905233" y="4482692"/>
            <a:ext cx="507586" cy="507586"/>
            <a:chOff x="2240169" y="4083721"/>
            <a:chExt cx="507586" cy="507586"/>
          </a:xfrm>
        </p:grpSpPr>
        <p:sp useBgFill="1">
          <p:nvSpPr>
            <p:cNvPr id="81" name="Oval 80">
              <a:extLst>
                <a:ext uri="{FF2B5EF4-FFF2-40B4-BE49-F238E27FC236}">
                  <a16:creationId xmlns:a16="http://schemas.microsoft.com/office/drawing/2014/main" id="{98463B26-6FCE-4CAB-7C5B-843FA4A386F2}"/>
                </a:ext>
              </a:extLst>
            </p:cNvPr>
            <p:cNvSpPr/>
            <p:nvPr/>
          </p:nvSpPr>
          <p:spPr>
            <a:xfrm>
              <a:off x="2240169" y="4083721"/>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82" name="Graphic 81">
              <a:extLst>
                <a:ext uri="{FF2B5EF4-FFF2-40B4-BE49-F238E27FC236}">
                  <a16:creationId xmlns:a16="http://schemas.microsoft.com/office/drawing/2014/main" id="{875A70AF-DD72-53CD-B890-AA5606A5DC1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367962" y="4211514"/>
              <a:ext cx="252000" cy="252000"/>
            </a:xfrm>
            <a:prstGeom prst="rect">
              <a:avLst/>
            </a:prstGeom>
          </p:spPr>
        </p:pic>
      </p:grpSp>
      <p:grpSp>
        <p:nvGrpSpPr>
          <p:cNvPr id="83" name="!!solution">
            <a:extLst>
              <a:ext uri="{FF2B5EF4-FFF2-40B4-BE49-F238E27FC236}">
                <a16:creationId xmlns:a16="http://schemas.microsoft.com/office/drawing/2014/main" id="{02C93F58-6DE8-870C-D1AE-B70C074E0601}"/>
              </a:ext>
            </a:extLst>
          </p:cNvPr>
          <p:cNvGrpSpPr/>
          <p:nvPr/>
        </p:nvGrpSpPr>
        <p:grpSpPr>
          <a:xfrm>
            <a:off x="3886094" y="1867721"/>
            <a:ext cx="507586" cy="507586"/>
            <a:chOff x="3825777" y="2263184"/>
            <a:chExt cx="507586" cy="507586"/>
          </a:xfrm>
        </p:grpSpPr>
        <p:sp useBgFill="1">
          <p:nvSpPr>
            <p:cNvPr id="84" name="Oval 83">
              <a:extLst>
                <a:ext uri="{FF2B5EF4-FFF2-40B4-BE49-F238E27FC236}">
                  <a16:creationId xmlns:a16="http://schemas.microsoft.com/office/drawing/2014/main" id="{0F414691-D85D-55A6-6399-3CD06D7FCFFF}"/>
                </a:ext>
              </a:extLst>
            </p:cNvPr>
            <p:cNvSpPr/>
            <p:nvPr/>
          </p:nvSpPr>
          <p:spPr>
            <a:xfrm>
              <a:off x="3825777" y="2263184"/>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85" name="Graphic 84">
              <a:extLst>
                <a:ext uri="{FF2B5EF4-FFF2-40B4-BE49-F238E27FC236}">
                  <a16:creationId xmlns:a16="http://schemas.microsoft.com/office/drawing/2014/main" id="{5CF24868-AC3E-1F7F-E655-7F620EAAA3DB}"/>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953570" y="2390977"/>
              <a:ext cx="252000" cy="252000"/>
            </a:xfrm>
            <a:prstGeom prst="rect">
              <a:avLst/>
            </a:prstGeom>
          </p:spPr>
        </p:pic>
      </p:grpSp>
      <p:grpSp>
        <p:nvGrpSpPr>
          <p:cNvPr id="86" name="!!potential">
            <a:extLst>
              <a:ext uri="{FF2B5EF4-FFF2-40B4-BE49-F238E27FC236}">
                <a16:creationId xmlns:a16="http://schemas.microsoft.com/office/drawing/2014/main" id="{76D5D0DE-AA33-7B2C-C884-B10D4689429A}"/>
              </a:ext>
            </a:extLst>
          </p:cNvPr>
          <p:cNvGrpSpPr/>
          <p:nvPr/>
        </p:nvGrpSpPr>
        <p:grpSpPr>
          <a:xfrm>
            <a:off x="4863215" y="4480477"/>
            <a:ext cx="507586" cy="507586"/>
            <a:chOff x="4797684" y="4481585"/>
            <a:chExt cx="507586" cy="507586"/>
          </a:xfrm>
        </p:grpSpPr>
        <p:sp useBgFill="1">
          <p:nvSpPr>
            <p:cNvPr id="87" name="Oval 86">
              <a:extLst>
                <a:ext uri="{FF2B5EF4-FFF2-40B4-BE49-F238E27FC236}">
                  <a16:creationId xmlns:a16="http://schemas.microsoft.com/office/drawing/2014/main" id="{00A96CE1-5985-A4D9-DABC-EA7FB44BC0CC}"/>
                </a:ext>
              </a:extLst>
            </p:cNvPr>
            <p:cNvSpPr/>
            <p:nvPr/>
          </p:nvSpPr>
          <p:spPr>
            <a:xfrm>
              <a:off x="4797684" y="4481585"/>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88" name="Graphic 87">
              <a:extLst>
                <a:ext uri="{FF2B5EF4-FFF2-40B4-BE49-F238E27FC236}">
                  <a16:creationId xmlns:a16="http://schemas.microsoft.com/office/drawing/2014/main" id="{2A1CE0DD-DACD-661A-1B04-6016859A9D91}"/>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925477" y="4609378"/>
              <a:ext cx="252000" cy="252000"/>
            </a:xfrm>
            <a:prstGeom prst="rect">
              <a:avLst/>
            </a:prstGeom>
          </p:spPr>
        </p:pic>
      </p:grpSp>
      <p:grpSp>
        <p:nvGrpSpPr>
          <p:cNvPr id="89" name="!!model">
            <a:extLst>
              <a:ext uri="{FF2B5EF4-FFF2-40B4-BE49-F238E27FC236}">
                <a16:creationId xmlns:a16="http://schemas.microsoft.com/office/drawing/2014/main" id="{566EDD2E-22AC-6031-0455-A2B2DCCA440F}"/>
              </a:ext>
            </a:extLst>
          </p:cNvPr>
          <p:cNvGrpSpPr/>
          <p:nvPr/>
        </p:nvGrpSpPr>
        <p:grpSpPr>
          <a:xfrm>
            <a:off x="5842207" y="1867721"/>
            <a:ext cx="507586" cy="507586"/>
            <a:chOff x="5832785" y="1868829"/>
            <a:chExt cx="507586" cy="507586"/>
          </a:xfrm>
        </p:grpSpPr>
        <p:sp useBgFill="1">
          <p:nvSpPr>
            <p:cNvPr id="90" name="Oval 89">
              <a:extLst>
                <a:ext uri="{FF2B5EF4-FFF2-40B4-BE49-F238E27FC236}">
                  <a16:creationId xmlns:a16="http://schemas.microsoft.com/office/drawing/2014/main" id="{388129E3-63DA-5454-7CF3-03B8C87AAE37}"/>
                </a:ext>
              </a:extLst>
            </p:cNvPr>
            <p:cNvSpPr/>
            <p:nvPr/>
          </p:nvSpPr>
          <p:spPr>
            <a:xfrm>
              <a:off x="5832785" y="1868829"/>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91" name="Graphic 90">
              <a:extLst>
                <a:ext uri="{FF2B5EF4-FFF2-40B4-BE49-F238E27FC236}">
                  <a16:creationId xmlns:a16="http://schemas.microsoft.com/office/drawing/2014/main" id="{5D96F2BD-B628-D112-2E38-FB30D72EF76F}"/>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5960578" y="1996622"/>
              <a:ext cx="252000" cy="252000"/>
            </a:xfrm>
            <a:prstGeom prst="rect">
              <a:avLst/>
            </a:prstGeom>
          </p:spPr>
        </p:pic>
      </p:grpSp>
      <p:grpSp>
        <p:nvGrpSpPr>
          <p:cNvPr id="92" name="!!growth">
            <a:extLst>
              <a:ext uri="{FF2B5EF4-FFF2-40B4-BE49-F238E27FC236}">
                <a16:creationId xmlns:a16="http://schemas.microsoft.com/office/drawing/2014/main" id="{4799AE04-E682-847B-C0E1-01565EE45133}"/>
              </a:ext>
            </a:extLst>
          </p:cNvPr>
          <p:cNvGrpSpPr/>
          <p:nvPr/>
        </p:nvGrpSpPr>
        <p:grpSpPr>
          <a:xfrm>
            <a:off x="6821198" y="4480477"/>
            <a:ext cx="507586" cy="507586"/>
            <a:chOff x="6811776" y="4481585"/>
            <a:chExt cx="507586" cy="507586"/>
          </a:xfrm>
        </p:grpSpPr>
        <p:sp useBgFill="1">
          <p:nvSpPr>
            <p:cNvPr id="93" name="Oval 92">
              <a:extLst>
                <a:ext uri="{FF2B5EF4-FFF2-40B4-BE49-F238E27FC236}">
                  <a16:creationId xmlns:a16="http://schemas.microsoft.com/office/drawing/2014/main" id="{45655F16-2ECE-EDA5-6F1F-965804C74FBE}"/>
                </a:ext>
              </a:extLst>
            </p:cNvPr>
            <p:cNvSpPr/>
            <p:nvPr/>
          </p:nvSpPr>
          <p:spPr>
            <a:xfrm>
              <a:off x="6811776" y="4481585"/>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94" name="Graphic 93">
              <a:extLst>
                <a:ext uri="{FF2B5EF4-FFF2-40B4-BE49-F238E27FC236}">
                  <a16:creationId xmlns:a16="http://schemas.microsoft.com/office/drawing/2014/main" id="{26471ED8-B281-8A51-3506-E86AA66F87E3}"/>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6939569" y="4609378"/>
              <a:ext cx="252000" cy="252000"/>
            </a:xfrm>
            <a:prstGeom prst="rect">
              <a:avLst/>
            </a:prstGeom>
          </p:spPr>
        </p:pic>
      </p:grpSp>
      <p:grpSp>
        <p:nvGrpSpPr>
          <p:cNvPr id="95" name="!!competition">
            <a:extLst>
              <a:ext uri="{FF2B5EF4-FFF2-40B4-BE49-F238E27FC236}">
                <a16:creationId xmlns:a16="http://schemas.microsoft.com/office/drawing/2014/main" id="{7B3CFE44-CCB2-0E22-A954-EDDDAD190D76}"/>
              </a:ext>
            </a:extLst>
          </p:cNvPr>
          <p:cNvGrpSpPr/>
          <p:nvPr/>
        </p:nvGrpSpPr>
        <p:grpSpPr>
          <a:xfrm>
            <a:off x="7800190" y="1867721"/>
            <a:ext cx="507586" cy="507586"/>
            <a:chOff x="7790768" y="1868829"/>
            <a:chExt cx="507586" cy="507586"/>
          </a:xfrm>
        </p:grpSpPr>
        <p:sp useBgFill="1">
          <p:nvSpPr>
            <p:cNvPr id="96" name="Oval 95">
              <a:extLst>
                <a:ext uri="{FF2B5EF4-FFF2-40B4-BE49-F238E27FC236}">
                  <a16:creationId xmlns:a16="http://schemas.microsoft.com/office/drawing/2014/main" id="{D788B742-9A70-2B7D-B38B-7FF78CADE6D8}"/>
                </a:ext>
              </a:extLst>
            </p:cNvPr>
            <p:cNvSpPr/>
            <p:nvPr/>
          </p:nvSpPr>
          <p:spPr>
            <a:xfrm>
              <a:off x="7790768" y="1868829"/>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97" name="Graphic 96">
              <a:extLst>
                <a:ext uri="{FF2B5EF4-FFF2-40B4-BE49-F238E27FC236}">
                  <a16:creationId xmlns:a16="http://schemas.microsoft.com/office/drawing/2014/main" id="{79C69A43-9E36-291C-6CF0-244B275780D1}"/>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7918561" y="1996622"/>
              <a:ext cx="252000" cy="252000"/>
            </a:xfrm>
            <a:prstGeom prst="rect">
              <a:avLst/>
            </a:prstGeom>
          </p:spPr>
        </p:pic>
      </p:grpSp>
      <p:grpSp>
        <p:nvGrpSpPr>
          <p:cNvPr id="101" name="!!team">
            <a:extLst>
              <a:ext uri="{FF2B5EF4-FFF2-40B4-BE49-F238E27FC236}">
                <a16:creationId xmlns:a16="http://schemas.microsoft.com/office/drawing/2014/main" id="{8E61FCE0-E10A-1420-082C-CE9DBF73E0CA}"/>
              </a:ext>
            </a:extLst>
          </p:cNvPr>
          <p:cNvGrpSpPr/>
          <p:nvPr/>
        </p:nvGrpSpPr>
        <p:grpSpPr>
          <a:xfrm>
            <a:off x="9758173" y="1867721"/>
            <a:ext cx="507586" cy="507586"/>
            <a:chOff x="9748751" y="1868829"/>
            <a:chExt cx="507586" cy="507586"/>
          </a:xfrm>
        </p:grpSpPr>
        <p:sp useBgFill="1">
          <p:nvSpPr>
            <p:cNvPr id="102" name="Oval 101">
              <a:extLst>
                <a:ext uri="{FF2B5EF4-FFF2-40B4-BE49-F238E27FC236}">
                  <a16:creationId xmlns:a16="http://schemas.microsoft.com/office/drawing/2014/main" id="{42463592-5F51-250B-F652-A79CA406F0C6}"/>
                </a:ext>
              </a:extLst>
            </p:cNvPr>
            <p:cNvSpPr/>
            <p:nvPr/>
          </p:nvSpPr>
          <p:spPr>
            <a:xfrm>
              <a:off x="9748751" y="1868829"/>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103" name="Graphic 102">
              <a:extLst>
                <a:ext uri="{FF2B5EF4-FFF2-40B4-BE49-F238E27FC236}">
                  <a16:creationId xmlns:a16="http://schemas.microsoft.com/office/drawing/2014/main" id="{767B9916-BE31-3F3A-5EEC-B9649AD83CC9}"/>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9876544" y="1996622"/>
              <a:ext cx="252000" cy="252000"/>
            </a:xfrm>
            <a:prstGeom prst="rect">
              <a:avLst/>
            </a:prstGeom>
          </p:spPr>
        </p:pic>
      </p:grpSp>
      <mc:AlternateContent xmlns:mc="http://schemas.openxmlformats.org/markup-compatibility/2006" xmlns:psez="http://schemas.microsoft.com/office/powerpoint/2016/sectionzoom">
        <mc:Choice Requires="psez">
          <p:graphicFrame>
            <p:nvGraphicFramePr>
              <p:cNvPr id="7" name="Section Zoom 6">
                <a:extLst>
                  <a:ext uri="{FF2B5EF4-FFF2-40B4-BE49-F238E27FC236}">
                    <a16:creationId xmlns:a16="http://schemas.microsoft.com/office/drawing/2014/main" id="{9C812770-1A6C-DA5B-1711-1DBE2F511457}"/>
                  </a:ext>
                </a:extLst>
              </p:cNvPr>
              <p:cNvGraphicFramePr>
                <a:graphicFrameLocks noChangeAspect="1"/>
              </p:cNvGraphicFramePr>
              <p:nvPr>
                <p:extLst>
                  <p:ext uri="{D42A27DB-BD31-4B8C-83A1-F6EECF244321}">
                    <p14:modId xmlns:p14="http://schemas.microsoft.com/office/powerpoint/2010/main" val="3652512214"/>
                  </p:ext>
                </p:extLst>
              </p:nvPr>
            </p:nvGraphicFramePr>
            <p:xfrm>
              <a:off x="2556079" y="3736302"/>
              <a:ext cx="1205892" cy="678314"/>
            </p:xfrm>
            <a:graphic>
              <a:graphicData uri="http://schemas.microsoft.com/office/powerpoint/2016/sectionzoom">
                <psez:sectionZm>
                  <psez:sectionZmObj sectionId="{89DC3976-4114-4C72-A3F7-CD5F9D4A7E2B}">
                    <psez:zmPr id="{589C5D53-314B-45D2-A22D-40EF9D54BAAF}" transitionDur="1000" showBg="0">
                      <p166:blipFill xmlns:p166="http://schemas.microsoft.com/office/powerpoint/2016/6/main">
                        <a:blip r:embed="rId27"/>
                        <a:stretch>
                          <a:fillRect/>
                        </a:stretch>
                      </p166:blipFill>
                      <p166:spPr xmlns:p166="http://schemas.microsoft.com/office/powerpoint/2016/6/main">
                        <a:xfrm>
                          <a:off x="0" y="0"/>
                          <a:ext cx="1205892" cy="678314"/>
                        </a:xfrm>
                        <a:prstGeom prst="rect">
                          <a:avLst/>
                        </a:prstGeom>
                        <a:ln w="3175">
                          <a:noFill/>
                        </a:ln>
                      </p166:spPr>
                    </psez:zmPr>
                  </psez:sectionZmObj>
                </psez:sectionZm>
              </a:graphicData>
            </a:graphic>
          </p:graphicFrame>
        </mc:Choice>
        <mc:Fallback xmlns="">
          <p:pic>
            <p:nvPicPr>
              <p:cNvPr id="7" name="Section Zoom 6">
                <a:hlinkClick r:id="rId30" action="ppaction://hlinksldjump"/>
                <a:extLst>
                  <a:ext uri="{FF2B5EF4-FFF2-40B4-BE49-F238E27FC236}">
                    <a16:creationId xmlns:a16="http://schemas.microsoft.com/office/drawing/2014/main" id="{9C812770-1A6C-DA5B-1711-1DBE2F511457}"/>
                  </a:ext>
                </a:extLst>
              </p:cNvPr>
              <p:cNvPicPr>
                <a:picLocks noGrp="1" noRot="1" noChangeAspect="1" noMove="1" noResize="1" noEditPoints="1" noAdjustHandles="1" noChangeArrowheads="1" noChangeShapeType="1"/>
              </p:cNvPicPr>
              <p:nvPr/>
            </p:nvPicPr>
            <p:blipFill>
              <a:blip r:embed="rId31"/>
              <a:stretch>
                <a:fillRect/>
              </a:stretch>
            </p:blipFill>
            <p:spPr>
              <a:xfrm>
                <a:off x="2556079" y="3736302"/>
                <a:ext cx="1205892" cy="678314"/>
              </a:xfrm>
              <a:prstGeom prst="rect">
                <a:avLst/>
              </a:prstGeom>
              <a:ln w="3175">
                <a:noFill/>
              </a:ln>
            </p:spPr>
          </p:pic>
        </mc:Fallback>
      </mc:AlternateContent>
      <mc:AlternateContent xmlns:mc="http://schemas.openxmlformats.org/markup-compatibility/2006" xmlns:psez="http://schemas.microsoft.com/office/powerpoint/2016/sectionzoom">
        <mc:Choice Requires="psez">
          <p:graphicFrame>
            <p:nvGraphicFramePr>
              <p:cNvPr id="10" name="Section Zoom 9">
                <a:extLst>
                  <a:ext uri="{FF2B5EF4-FFF2-40B4-BE49-F238E27FC236}">
                    <a16:creationId xmlns:a16="http://schemas.microsoft.com/office/drawing/2014/main" id="{A7B5DE9F-77DA-2216-24D5-A7E51426B6E6}"/>
                  </a:ext>
                </a:extLst>
              </p:cNvPr>
              <p:cNvGraphicFramePr>
                <a:graphicFrameLocks noChangeAspect="1"/>
              </p:cNvGraphicFramePr>
              <p:nvPr>
                <p:extLst>
                  <p:ext uri="{D42A27DB-BD31-4B8C-83A1-F6EECF244321}">
                    <p14:modId xmlns:p14="http://schemas.microsoft.com/office/powerpoint/2010/main" val="590615241"/>
                  </p:ext>
                </p:extLst>
              </p:nvPr>
            </p:nvGraphicFramePr>
            <p:xfrm>
              <a:off x="3535071" y="2440294"/>
              <a:ext cx="1205892" cy="678314"/>
            </p:xfrm>
            <a:graphic>
              <a:graphicData uri="http://schemas.microsoft.com/office/powerpoint/2016/sectionzoom">
                <psez:sectionZm>
                  <psez:sectionZmObj sectionId="{B0161835-6204-4266-8552-F3667AA67871}">
                    <psez:zmPr id="{8063EAC8-A51B-4716-95F3-8D194DDEC352}" transitionDur="1000" showBg="0">
                      <p166:blipFill xmlns:p166="http://schemas.microsoft.com/office/powerpoint/2016/6/main">
                        <a:blip r:embed="rId32"/>
                        <a:stretch>
                          <a:fillRect/>
                        </a:stretch>
                      </p166:blipFill>
                      <p166:spPr xmlns:p166="http://schemas.microsoft.com/office/powerpoint/2016/6/main">
                        <a:xfrm>
                          <a:off x="0" y="0"/>
                          <a:ext cx="1205892" cy="678314"/>
                        </a:xfrm>
                        <a:prstGeom prst="rect">
                          <a:avLst/>
                        </a:prstGeom>
                        <a:ln w="3175">
                          <a:noFill/>
                        </a:ln>
                      </p166:spPr>
                    </psez:zmPr>
                  </psez:sectionZmObj>
                </psez:sectionZm>
              </a:graphicData>
            </a:graphic>
          </p:graphicFrame>
        </mc:Choice>
        <mc:Fallback xmlns="">
          <p:pic>
            <p:nvPicPr>
              <p:cNvPr id="10" name="Section Zoom 9">
                <a:hlinkClick r:id="rId33" action="ppaction://hlinksldjump"/>
                <a:extLst>
                  <a:ext uri="{FF2B5EF4-FFF2-40B4-BE49-F238E27FC236}">
                    <a16:creationId xmlns:a16="http://schemas.microsoft.com/office/drawing/2014/main" id="{A7B5DE9F-77DA-2216-24D5-A7E51426B6E6}"/>
                  </a:ext>
                </a:extLst>
              </p:cNvPr>
              <p:cNvPicPr>
                <a:picLocks noGrp="1" noRot="1" noChangeAspect="1" noMove="1" noResize="1" noEditPoints="1" noAdjustHandles="1" noChangeArrowheads="1" noChangeShapeType="1"/>
              </p:cNvPicPr>
              <p:nvPr/>
            </p:nvPicPr>
            <p:blipFill>
              <a:blip r:embed="rId34"/>
              <a:stretch>
                <a:fillRect/>
              </a:stretch>
            </p:blipFill>
            <p:spPr>
              <a:xfrm>
                <a:off x="3535071" y="2440294"/>
                <a:ext cx="1205892" cy="678314"/>
              </a:xfrm>
              <a:prstGeom prst="rect">
                <a:avLst/>
              </a:prstGeom>
              <a:ln w="3175">
                <a:noFill/>
              </a:ln>
            </p:spPr>
          </p:pic>
        </mc:Fallback>
      </mc:AlternateContent>
      <mc:AlternateContent xmlns:mc="http://schemas.openxmlformats.org/markup-compatibility/2006">
        <mc:Choice xmlns:psez="http://schemas.microsoft.com/office/powerpoint/2016/sectionzoom" Requires="psez">
          <p:graphicFrame>
            <p:nvGraphicFramePr>
              <p:cNvPr id="13" name="Section Zoom 12">
                <a:extLst>
                  <a:ext uri="{FF2B5EF4-FFF2-40B4-BE49-F238E27FC236}">
                    <a16:creationId xmlns:a16="http://schemas.microsoft.com/office/drawing/2014/main" id="{8C693734-C934-C86F-DBF3-51A83A14962D}"/>
                  </a:ext>
                </a:extLst>
              </p:cNvPr>
              <p:cNvGraphicFramePr>
                <a:graphicFrameLocks noChangeAspect="1"/>
              </p:cNvGraphicFramePr>
              <p:nvPr>
                <p:extLst>
                  <p:ext uri="{D42A27DB-BD31-4B8C-83A1-F6EECF244321}">
                    <p14:modId xmlns:p14="http://schemas.microsoft.com/office/powerpoint/2010/main" val="63645922"/>
                  </p:ext>
                </p:extLst>
              </p:nvPr>
            </p:nvGraphicFramePr>
            <p:xfrm>
              <a:off x="4514062" y="3736302"/>
              <a:ext cx="1205892" cy="678314"/>
            </p:xfrm>
            <a:graphic>
              <a:graphicData uri="http://schemas.microsoft.com/office/powerpoint/2016/sectionzoom">
                <psez:sectionZm>
                  <psez:sectionZmObj sectionId="{B78F869A-DB52-4C0F-9771-93BD0B0C77E6}">
                    <psez:zmPr id="{25F3C81B-8628-4BDC-A625-35EC4F6BCABF}" transitionDur="1000" showBg="0">
                      <p166:blipFill xmlns:p166="http://schemas.microsoft.com/office/powerpoint/2016/6/main">
                        <a:blip r:embed="rId35"/>
                        <a:stretch>
                          <a:fillRect/>
                        </a:stretch>
                      </p166:blipFill>
                      <p166:spPr xmlns:p166="http://schemas.microsoft.com/office/powerpoint/2016/6/main">
                        <a:xfrm>
                          <a:off x="0" y="0"/>
                          <a:ext cx="1205892" cy="678314"/>
                        </a:xfrm>
                        <a:prstGeom prst="rect">
                          <a:avLst/>
                        </a:prstGeom>
                        <a:ln w="3175">
                          <a:noFill/>
                        </a:ln>
                      </p166:spPr>
                    </psez:zmPr>
                  </psez:sectionZmObj>
                </psez:sectionZm>
              </a:graphicData>
            </a:graphic>
          </p:graphicFrame>
        </mc:Choice>
        <mc:Fallback>
          <p:pic>
            <p:nvPicPr>
              <p:cNvPr id="13" name="Section Zoom 12">
                <a:hlinkClick r:id="rId36" action="ppaction://hlinksldjump"/>
                <a:extLst>
                  <a:ext uri="{FF2B5EF4-FFF2-40B4-BE49-F238E27FC236}">
                    <a16:creationId xmlns:a16="http://schemas.microsoft.com/office/drawing/2014/main" id="{8C693734-C934-C86F-DBF3-51A83A14962D}"/>
                  </a:ext>
                </a:extLst>
              </p:cNvPr>
              <p:cNvPicPr>
                <a:picLocks noGrp="1" noRot="1" noChangeAspect="1" noMove="1" noResize="1" noEditPoints="1" noAdjustHandles="1" noChangeArrowheads="1" noChangeShapeType="1"/>
              </p:cNvPicPr>
              <p:nvPr/>
            </p:nvPicPr>
            <p:blipFill>
              <a:blip r:embed="rId35"/>
              <a:stretch>
                <a:fillRect/>
              </a:stretch>
            </p:blipFill>
            <p:spPr>
              <a:xfrm>
                <a:off x="4514062" y="3736302"/>
                <a:ext cx="1205892" cy="678314"/>
              </a:xfrm>
              <a:prstGeom prst="rect">
                <a:avLst/>
              </a:prstGeom>
              <a:ln w="3175">
                <a:noFill/>
              </a:ln>
            </p:spPr>
          </p:pic>
        </mc:Fallback>
      </mc:AlternateContent>
      <mc:AlternateContent xmlns:mc="http://schemas.openxmlformats.org/markup-compatibility/2006" xmlns:psez="http://schemas.microsoft.com/office/powerpoint/2016/sectionzoom">
        <mc:Choice Requires="psez">
          <p:graphicFrame>
            <p:nvGraphicFramePr>
              <p:cNvPr id="16" name="Section Zoom 15">
                <a:extLst>
                  <a:ext uri="{FF2B5EF4-FFF2-40B4-BE49-F238E27FC236}">
                    <a16:creationId xmlns:a16="http://schemas.microsoft.com/office/drawing/2014/main" id="{366A5243-9F37-B263-172D-5FF4FD239A02}"/>
                  </a:ext>
                </a:extLst>
              </p:cNvPr>
              <p:cNvGraphicFramePr>
                <a:graphicFrameLocks noChangeAspect="1"/>
              </p:cNvGraphicFramePr>
              <p:nvPr>
                <p:extLst>
                  <p:ext uri="{D42A27DB-BD31-4B8C-83A1-F6EECF244321}">
                    <p14:modId xmlns:p14="http://schemas.microsoft.com/office/powerpoint/2010/main" val="3643834020"/>
                  </p:ext>
                </p:extLst>
              </p:nvPr>
            </p:nvGraphicFramePr>
            <p:xfrm>
              <a:off x="5493054" y="2440294"/>
              <a:ext cx="1205892" cy="678314"/>
            </p:xfrm>
            <a:graphic>
              <a:graphicData uri="http://schemas.microsoft.com/office/powerpoint/2016/sectionzoom">
                <psez:sectionZm>
                  <psez:sectionZmObj sectionId="{8EDEC664-D3C4-4592-8786-C99AA6E5D5F4}">
                    <psez:zmPr id="{1174C820-6585-4812-BAF9-B20F5FE26C7E}" transitionDur="1000" showBg="0">
                      <p166:blipFill xmlns:p166="http://schemas.microsoft.com/office/powerpoint/2016/6/main">
                        <a:blip r:embed="rId37"/>
                        <a:stretch>
                          <a:fillRect/>
                        </a:stretch>
                      </p166:blipFill>
                      <p166:spPr xmlns:p166="http://schemas.microsoft.com/office/powerpoint/2016/6/main">
                        <a:xfrm>
                          <a:off x="0" y="0"/>
                          <a:ext cx="1205892" cy="678314"/>
                        </a:xfrm>
                        <a:prstGeom prst="rect">
                          <a:avLst/>
                        </a:prstGeom>
                        <a:ln w="3175">
                          <a:noFill/>
                        </a:ln>
                      </p166:spPr>
                    </psez:zmPr>
                  </psez:sectionZmObj>
                </psez:sectionZm>
              </a:graphicData>
            </a:graphic>
          </p:graphicFrame>
        </mc:Choice>
        <mc:Fallback xmlns="">
          <p:pic>
            <p:nvPicPr>
              <p:cNvPr id="16" name="Section Zoom 15">
                <a:hlinkClick r:id="rId39" action="ppaction://hlinksldjump"/>
                <a:extLst>
                  <a:ext uri="{FF2B5EF4-FFF2-40B4-BE49-F238E27FC236}">
                    <a16:creationId xmlns:a16="http://schemas.microsoft.com/office/drawing/2014/main" id="{366A5243-9F37-B263-172D-5FF4FD239A02}"/>
                  </a:ext>
                </a:extLst>
              </p:cNvPr>
              <p:cNvPicPr>
                <a:picLocks noGrp="1" noRot="1" noChangeAspect="1" noMove="1" noResize="1" noEditPoints="1" noAdjustHandles="1" noChangeArrowheads="1" noChangeShapeType="1"/>
              </p:cNvPicPr>
              <p:nvPr/>
            </p:nvPicPr>
            <p:blipFill>
              <a:blip r:embed="rId40"/>
              <a:stretch>
                <a:fillRect/>
              </a:stretch>
            </p:blipFill>
            <p:spPr>
              <a:xfrm>
                <a:off x="5493054" y="2440294"/>
                <a:ext cx="1205892" cy="678314"/>
              </a:xfrm>
              <a:prstGeom prst="rect">
                <a:avLst/>
              </a:prstGeom>
              <a:ln w="3175">
                <a:noFill/>
              </a:ln>
            </p:spPr>
          </p:pic>
        </mc:Fallback>
      </mc:AlternateContent>
      <mc:AlternateContent xmlns:mc="http://schemas.openxmlformats.org/markup-compatibility/2006" xmlns:psez="http://schemas.microsoft.com/office/powerpoint/2016/sectionzoom">
        <mc:Choice Requires="psez">
          <p:graphicFrame>
            <p:nvGraphicFramePr>
              <p:cNvPr id="3" name="Section Zoom 2">
                <a:extLst>
                  <a:ext uri="{FF2B5EF4-FFF2-40B4-BE49-F238E27FC236}">
                    <a16:creationId xmlns:a16="http://schemas.microsoft.com/office/drawing/2014/main" id="{B1818394-B566-89EC-93B7-0C7F52D96C8E}"/>
                  </a:ext>
                </a:extLst>
              </p:cNvPr>
              <p:cNvGraphicFramePr>
                <a:graphicFrameLocks noChangeAspect="1"/>
              </p:cNvGraphicFramePr>
              <p:nvPr>
                <p:extLst>
                  <p:ext uri="{D42A27DB-BD31-4B8C-83A1-F6EECF244321}">
                    <p14:modId xmlns:p14="http://schemas.microsoft.com/office/powerpoint/2010/main" val="931416635"/>
                  </p:ext>
                </p:extLst>
              </p:nvPr>
            </p:nvGraphicFramePr>
            <p:xfrm>
              <a:off x="6475316" y="3736302"/>
              <a:ext cx="1205892" cy="678314"/>
            </p:xfrm>
            <a:graphic>
              <a:graphicData uri="http://schemas.microsoft.com/office/powerpoint/2016/sectionzoom">
                <psez:sectionZm>
                  <psez:sectionZmObj sectionId="{F496BB06-4A29-4BF5-BA77-B16347F04B8B}">
                    <psez:zmPr id="{CA16EA92-A482-4473-9D2E-4B82CD37A180}" transitionDur="1000" showBg="0">
                      <p166:blipFill xmlns:p166="http://schemas.microsoft.com/office/powerpoint/2016/6/main">
                        <a:blip r:embed="rId41"/>
                        <a:stretch>
                          <a:fillRect/>
                        </a:stretch>
                      </p166:blipFill>
                      <p166:spPr xmlns:p166="http://schemas.microsoft.com/office/powerpoint/2016/6/main">
                        <a:xfrm>
                          <a:off x="0" y="0"/>
                          <a:ext cx="1205892" cy="678314"/>
                        </a:xfrm>
                        <a:prstGeom prst="rect">
                          <a:avLst/>
                        </a:prstGeom>
                      </p166:spPr>
                    </psez:zmPr>
                  </psez:sectionZmObj>
                </psez:sectionZm>
              </a:graphicData>
            </a:graphic>
          </p:graphicFrame>
        </mc:Choice>
        <mc:Fallback xmlns="">
          <p:pic>
            <p:nvPicPr>
              <p:cNvPr id="3" name="Section Zoom 2">
                <a:hlinkClick r:id="rId42" action="ppaction://hlinksldjump"/>
                <a:extLst>
                  <a:ext uri="{FF2B5EF4-FFF2-40B4-BE49-F238E27FC236}">
                    <a16:creationId xmlns:a16="http://schemas.microsoft.com/office/drawing/2014/main" id="{B1818394-B566-89EC-93B7-0C7F52D96C8E}"/>
                  </a:ext>
                </a:extLst>
              </p:cNvPr>
              <p:cNvPicPr>
                <a:picLocks noGrp="1" noRot="1" noChangeAspect="1" noMove="1" noResize="1" noEditPoints="1" noAdjustHandles="1" noChangeArrowheads="1" noChangeShapeType="1"/>
              </p:cNvPicPr>
              <p:nvPr/>
            </p:nvPicPr>
            <p:blipFill>
              <a:blip r:embed="rId43"/>
              <a:stretch>
                <a:fillRect/>
              </a:stretch>
            </p:blipFill>
            <p:spPr>
              <a:xfrm>
                <a:off x="6475316" y="3736302"/>
                <a:ext cx="1205892" cy="678314"/>
              </a:xfrm>
              <a:prstGeom prst="rect">
                <a:avLst/>
              </a:prstGeom>
            </p:spPr>
          </p:pic>
        </mc:Fallback>
      </mc:AlternateContent>
      <mc:AlternateContent xmlns:mc="http://schemas.openxmlformats.org/markup-compatibility/2006" xmlns:psez="http://schemas.microsoft.com/office/powerpoint/2016/sectionzoom">
        <mc:Choice Requires="psez">
          <p:graphicFrame>
            <p:nvGraphicFramePr>
              <p:cNvPr id="8" name="Section Zoom 7">
                <a:extLst>
                  <a:ext uri="{FF2B5EF4-FFF2-40B4-BE49-F238E27FC236}">
                    <a16:creationId xmlns:a16="http://schemas.microsoft.com/office/drawing/2014/main" id="{A64A8C2C-A09D-914F-4D82-0AC210E81EC2}"/>
                  </a:ext>
                </a:extLst>
              </p:cNvPr>
              <p:cNvGraphicFramePr>
                <a:graphicFrameLocks noChangeAspect="1"/>
              </p:cNvGraphicFramePr>
              <p:nvPr>
                <p:extLst>
                  <p:ext uri="{D42A27DB-BD31-4B8C-83A1-F6EECF244321}">
                    <p14:modId xmlns:p14="http://schemas.microsoft.com/office/powerpoint/2010/main" val="2526438885"/>
                  </p:ext>
                </p:extLst>
              </p:nvPr>
            </p:nvGraphicFramePr>
            <p:xfrm>
              <a:off x="7451037" y="2440294"/>
              <a:ext cx="1205892" cy="678314"/>
            </p:xfrm>
            <a:graphic>
              <a:graphicData uri="http://schemas.microsoft.com/office/powerpoint/2016/sectionzoom">
                <psez:sectionZm>
                  <psez:sectionZmObj sectionId="{5F9BCD4A-9433-48A8-B291-287BE2581A63}">
                    <psez:zmPr id="{18EA1257-2A04-4F60-AC28-AE506CECCC30}" transitionDur="1000" showBg="0">
                      <p166:blipFill xmlns:p166="http://schemas.microsoft.com/office/powerpoint/2016/6/main">
                        <a:blip r:embed="rId44"/>
                        <a:stretch>
                          <a:fillRect/>
                        </a:stretch>
                      </p166:blipFill>
                      <p166:spPr xmlns:p166="http://schemas.microsoft.com/office/powerpoint/2016/6/main">
                        <a:xfrm>
                          <a:off x="0" y="0"/>
                          <a:ext cx="1205892" cy="678314"/>
                        </a:xfrm>
                        <a:prstGeom prst="rect">
                          <a:avLst/>
                        </a:prstGeom>
                        <a:ln>
                          <a:noFill/>
                        </a:ln>
                      </p166:spPr>
                    </psez:zmPr>
                  </psez:sectionZmObj>
                </psez:sectionZm>
              </a:graphicData>
            </a:graphic>
          </p:graphicFrame>
        </mc:Choice>
        <mc:Fallback xmlns="">
          <p:pic>
            <p:nvPicPr>
              <p:cNvPr id="8" name="Section Zoom 7">
                <a:hlinkClick r:id="rId45" action="ppaction://hlinksldjump"/>
                <a:extLst>
                  <a:ext uri="{FF2B5EF4-FFF2-40B4-BE49-F238E27FC236}">
                    <a16:creationId xmlns:a16="http://schemas.microsoft.com/office/drawing/2014/main" id="{A64A8C2C-A09D-914F-4D82-0AC210E81EC2}"/>
                  </a:ext>
                </a:extLst>
              </p:cNvPr>
              <p:cNvPicPr>
                <a:picLocks noGrp="1" noRot="1" noChangeAspect="1" noMove="1" noResize="1" noEditPoints="1" noAdjustHandles="1" noChangeArrowheads="1" noChangeShapeType="1"/>
              </p:cNvPicPr>
              <p:nvPr/>
            </p:nvPicPr>
            <p:blipFill>
              <a:blip r:embed="rId46"/>
              <a:stretch>
                <a:fillRect/>
              </a:stretch>
            </p:blipFill>
            <p:spPr>
              <a:xfrm>
                <a:off x="7451037" y="2440294"/>
                <a:ext cx="1205892" cy="678314"/>
              </a:xfrm>
              <a:prstGeom prst="rect">
                <a:avLst/>
              </a:prstGeom>
              <a:ln>
                <a:noFill/>
              </a:ln>
            </p:spPr>
          </p:pic>
        </mc:Fallback>
      </mc:AlternateContent>
      <p:sp useBgFill="1">
        <p:nvSpPr>
          <p:cNvPr id="51" name="!!finanvials_big">
            <a:extLst>
              <a:ext uri="{FF2B5EF4-FFF2-40B4-BE49-F238E27FC236}">
                <a16:creationId xmlns:a16="http://schemas.microsoft.com/office/drawing/2014/main" id="{C1A01352-BCE7-17AB-4430-ACC0B0082F50}"/>
              </a:ext>
            </a:extLst>
          </p:cNvPr>
          <p:cNvSpPr/>
          <p:nvPr/>
        </p:nvSpPr>
        <p:spPr>
          <a:xfrm>
            <a:off x="8321775" y="3364259"/>
            <a:ext cx="1422400" cy="1422400"/>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grpSp>
        <p:nvGrpSpPr>
          <p:cNvPr id="98" name="!!financials">
            <a:extLst>
              <a:ext uri="{FF2B5EF4-FFF2-40B4-BE49-F238E27FC236}">
                <a16:creationId xmlns:a16="http://schemas.microsoft.com/office/drawing/2014/main" id="{E0A6DEA5-CA59-57A5-0E30-5A4162D13094}"/>
              </a:ext>
            </a:extLst>
          </p:cNvPr>
          <p:cNvGrpSpPr/>
          <p:nvPr/>
        </p:nvGrpSpPr>
        <p:grpSpPr>
          <a:xfrm>
            <a:off x="8779182" y="4480477"/>
            <a:ext cx="507586" cy="507586"/>
            <a:chOff x="8769760" y="4481585"/>
            <a:chExt cx="507586" cy="507586"/>
          </a:xfrm>
        </p:grpSpPr>
        <p:sp useBgFill="1">
          <p:nvSpPr>
            <p:cNvPr id="99" name="Oval 98">
              <a:extLst>
                <a:ext uri="{FF2B5EF4-FFF2-40B4-BE49-F238E27FC236}">
                  <a16:creationId xmlns:a16="http://schemas.microsoft.com/office/drawing/2014/main" id="{3094A7F4-7D95-3CCB-D7F6-F42074CE8F7B}"/>
                </a:ext>
              </a:extLst>
            </p:cNvPr>
            <p:cNvSpPr/>
            <p:nvPr/>
          </p:nvSpPr>
          <p:spPr>
            <a:xfrm>
              <a:off x="8769760" y="4481585"/>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100" name="Graphic 99">
              <a:extLst>
                <a:ext uri="{FF2B5EF4-FFF2-40B4-BE49-F238E27FC236}">
                  <a16:creationId xmlns:a16="http://schemas.microsoft.com/office/drawing/2014/main" id="{4409B0E0-3844-50FF-9E5A-258BBD79A43E}"/>
                </a:ext>
              </a:extLst>
            </p:cNvPr>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8897553" y="4609378"/>
              <a:ext cx="252000" cy="252000"/>
            </a:xfrm>
            <a:prstGeom prst="rect">
              <a:avLst/>
            </a:prstGeom>
          </p:spPr>
        </p:pic>
      </p:grpSp>
      <mc:AlternateContent xmlns:mc="http://schemas.openxmlformats.org/markup-compatibility/2006">
        <mc:Choice xmlns:psez="http://schemas.microsoft.com/office/powerpoint/2016/sectionzoom" Requires="psez">
          <p:graphicFrame>
            <p:nvGraphicFramePr>
              <p:cNvPr id="15" name="Section Zoom 14">
                <a:extLst>
                  <a:ext uri="{FF2B5EF4-FFF2-40B4-BE49-F238E27FC236}">
                    <a16:creationId xmlns:a16="http://schemas.microsoft.com/office/drawing/2014/main" id="{994A7A82-00DA-C962-F4B3-D28B371A268F}"/>
                  </a:ext>
                </a:extLst>
              </p:cNvPr>
              <p:cNvGraphicFramePr>
                <a:graphicFrameLocks noChangeAspect="1"/>
              </p:cNvGraphicFramePr>
              <p:nvPr>
                <p:extLst>
                  <p:ext uri="{D42A27DB-BD31-4B8C-83A1-F6EECF244321}">
                    <p14:modId xmlns:p14="http://schemas.microsoft.com/office/powerpoint/2010/main" val="2513048448"/>
                  </p:ext>
                </p:extLst>
              </p:nvPr>
            </p:nvGraphicFramePr>
            <p:xfrm>
              <a:off x="8430029" y="3736302"/>
              <a:ext cx="1205892" cy="678314"/>
            </p:xfrm>
            <a:graphic>
              <a:graphicData uri="http://schemas.microsoft.com/office/powerpoint/2016/sectionzoom">
                <psez:sectionZm>
                  <psez:sectionZmObj sectionId="{DAF8DABC-592A-4901-A0AC-5CDA09D8F45E}">
                    <psez:zmPr id="{B0CC5743-31DA-4C38-8F9F-D13430DC46E4}" transitionDur="1000" showBg="0">
                      <p166:blipFill xmlns:p166="http://schemas.microsoft.com/office/powerpoint/2016/6/main">
                        <a:blip r:embed="rId49"/>
                        <a:stretch>
                          <a:fillRect/>
                        </a:stretch>
                      </p166:blipFill>
                      <p166:spPr xmlns:p166="http://schemas.microsoft.com/office/powerpoint/2016/6/main">
                        <a:xfrm>
                          <a:off x="0" y="0"/>
                          <a:ext cx="1205892" cy="678314"/>
                        </a:xfrm>
                        <a:prstGeom prst="rect">
                          <a:avLst/>
                        </a:prstGeom>
                        <a:ln w="3175">
                          <a:noFill/>
                        </a:ln>
                      </p166:spPr>
                    </psez:zmPr>
                  </psez:sectionZmObj>
                </psez:sectionZm>
              </a:graphicData>
            </a:graphic>
          </p:graphicFrame>
        </mc:Choice>
        <mc:Fallback>
          <p:pic>
            <p:nvPicPr>
              <p:cNvPr id="15" name="Section Zoom 14">
                <a:hlinkClick r:id="rId50" action="ppaction://hlinksldjump"/>
                <a:extLst>
                  <a:ext uri="{FF2B5EF4-FFF2-40B4-BE49-F238E27FC236}">
                    <a16:creationId xmlns:a16="http://schemas.microsoft.com/office/drawing/2014/main" id="{994A7A82-00DA-C962-F4B3-D28B371A268F}"/>
                  </a:ext>
                </a:extLst>
              </p:cNvPr>
              <p:cNvPicPr>
                <a:picLocks noGrp="1" noRot="1" noChangeAspect="1" noMove="1" noResize="1" noEditPoints="1" noAdjustHandles="1" noChangeArrowheads="1" noChangeShapeType="1"/>
              </p:cNvPicPr>
              <p:nvPr/>
            </p:nvPicPr>
            <p:blipFill>
              <a:blip r:embed="rId49"/>
              <a:stretch>
                <a:fillRect/>
              </a:stretch>
            </p:blipFill>
            <p:spPr>
              <a:xfrm>
                <a:off x="8430029" y="3736302"/>
                <a:ext cx="1205892" cy="678314"/>
              </a:xfrm>
              <a:prstGeom prst="rect">
                <a:avLst/>
              </a:prstGeom>
              <a:ln w="3175">
                <a:noFill/>
              </a:ln>
            </p:spPr>
          </p:pic>
        </mc:Fallback>
      </mc:AlternateContent>
      <mc:AlternateContent xmlns:mc="http://schemas.openxmlformats.org/markup-compatibility/2006" xmlns:psez="http://schemas.microsoft.com/office/powerpoint/2016/sectionzoom">
        <mc:Choice Requires="psez">
          <p:graphicFrame>
            <p:nvGraphicFramePr>
              <p:cNvPr id="18" name="Section Zoom 17">
                <a:extLst>
                  <a:ext uri="{FF2B5EF4-FFF2-40B4-BE49-F238E27FC236}">
                    <a16:creationId xmlns:a16="http://schemas.microsoft.com/office/drawing/2014/main" id="{3E37003B-E503-7160-A212-66213D34C012}"/>
                  </a:ext>
                </a:extLst>
              </p:cNvPr>
              <p:cNvGraphicFramePr>
                <a:graphicFrameLocks noChangeAspect="1"/>
              </p:cNvGraphicFramePr>
              <p:nvPr>
                <p:extLst>
                  <p:ext uri="{D42A27DB-BD31-4B8C-83A1-F6EECF244321}">
                    <p14:modId xmlns:p14="http://schemas.microsoft.com/office/powerpoint/2010/main" val="1424119920"/>
                  </p:ext>
                </p:extLst>
              </p:nvPr>
            </p:nvGraphicFramePr>
            <p:xfrm>
              <a:off x="9409020" y="2440294"/>
              <a:ext cx="1205892" cy="678314"/>
            </p:xfrm>
            <a:graphic>
              <a:graphicData uri="http://schemas.microsoft.com/office/powerpoint/2016/sectionzoom">
                <psez:sectionZm>
                  <psez:sectionZmObj sectionId="{98810976-D7DB-4275-9710-9A2889E2A734}">
                    <psez:zmPr id="{F08AC0D9-533E-4A9B-AE6D-5C782F66EA32}" transitionDur="1000" showBg="0">
                      <p166:blipFill xmlns:p166="http://schemas.microsoft.com/office/powerpoint/2016/6/main">
                        <a:blip r:embed="rId51"/>
                        <a:stretch>
                          <a:fillRect/>
                        </a:stretch>
                      </p166:blipFill>
                      <p166:spPr xmlns:p166="http://schemas.microsoft.com/office/powerpoint/2016/6/main">
                        <a:xfrm>
                          <a:off x="0" y="0"/>
                          <a:ext cx="1205892" cy="678314"/>
                        </a:xfrm>
                        <a:prstGeom prst="rect">
                          <a:avLst/>
                        </a:prstGeom>
                        <a:ln>
                          <a:noFill/>
                        </a:ln>
                      </p166:spPr>
                    </psez:zmPr>
                  </psez:sectionZmObj>
                </psez:sectionZm>
              </a:graphicData>
            </a:graphic>
          </p:graphicFrame>
        </mc:Choice>
        <mc:Fallback xmlns="">
          <p:pic>
            <p:nvPicPr>
              <p:cNvPr id="18" name="Section Zoom 17">
                <a:hlinkClick r:id="rId52" action="ppaction://hlinksldjump"/>
                <a:extLst>
                  <a:ext uri="{FF2B5EF4-FFF2-40B4-BE49-F238E27FC236}">
                    <a16:creationId xmlns:a16="http://schemas.microsoft.com/office/drawing/2014/main" id="{3E37003B-E503-7160-A212-66213D34C012}"/>
                  </a:ext>
                </a:extLst>
              </p:cNvPr>
              <p:cNvPicPr>
                <a:picLocks noGrp="1" noRot="1" noChangeAspect="1" noMove="1" noResize="1" noEditPoints="1" noAdjustHandles="1" noChangeArrowheads="1" noChangeShapeType="1"/>
              </p:cNvPicPr>
              <p:nvPr/>
            </p:nvPicPr>
            <p:blipFill>
              <a:blip r:embed="rId53"/>
              <a:stretch>
                <a:fillRect/>
              </a:stretch>
            </p:blipFill>
            <p:spPr>
              <a:xfrm>
                <a:off x="9409020" y="2440294"/>
                <a:ext cx="1205892" cy="678314"/>
              </a:xfrm>
              <a:prstGeom prst="rect">
                <a:avLst/>
              </a:prstGeom>
              <a:ln>
                <a:noFill/>
              </a:ln>
            </p:spPr>
          </p:pic>
        </mc:Fallback>
      </mc:AlternateContent>
    </p:spTree>
    <p:extLst>
      <p:ext uri="{BB962C8B-B14F-4D97-AF65-F5344CB8AC3E}">
        <p14:creationId xmlns:p14="http://schemas.microsoft.com/office/powerpoint/2010/main" val="1075787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4CBEE47-4141-2200-9A33-ADE75DA0B25B}"/>
              </a:ext>
            </a:extLst>
          </p:cNvPr>
          <p:cNvSpPr txBox="1"/>
          <p:nvPr/>
        </p:nvSpPr>
        <p:spPr>
          <a:xfrm>
            <a:off x="1789534" y="1244554"/>
            <a:ext cx="8612935" cy="2460674"/>
          </a:xfrm>
          <a:prstGeom prst="rect">
            <a:avLst/>
          </a:prstGeom>
          <a:noFill/>
        </p:spPr>
        <p:txBody>
          <a:bodyPr wrap="none" lIns="0" tIns="0" rIns="0" bIns="0"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9500" b="0" i="0" u="none" strike="noStrike" kern="0" cap="none" spc="0" normalizeH="0" baseline="0" noProof="0" dirty="0">
                <a:ln>
                  <a:noFill/>
                </a:ln>
                <a:solidFill>
                  <a:prstClr val="white"/>
                </a:solidFill>
                <a:effectLst/>
                <a:uLnTx/>
                <a:uFillTx/>
                <a:latin typeface="Darker Grotesque" pitchFamily="2" charset="0"/>
              </a:rPr>
              <a:t>Problem</a:t>
            </a:r>
          </a:p>
        </p:txBody>
      </p:sp>
      <p:sp>
        <p:nvSpPr>
          <p:cNvPr id="7" name="TextBox 6">
            <a:extLst>
              <a:ext uri="{FF2B5EF4-FFF2-40B4-BE49-F238E27FC236}">
                <a16:creationId xmlns:a16="http://schemas.microsoft.com/office/drawing/2014/main" id="{5D470096-ACD7-1592-119D-C102855C1D6D}"/>
              </a:ext>
            </a:extLst>
          </p:cNvPr>
          <p:cNvSpPr txBox="1"/>
          <p:nvPr/>
        </p:nvSpPr>
        <p:spPr>
          <a:xfrm>
            <a:off x="765215" y="3065568"/>
            <a:ext cx="10661573" cy="2460674"/>
          </a:xfrm>
          <a:prstGeom prst="rect">
            <a:avLst/>
          </a:prstGeom>
          <a:noFill/>
        </p:spPr>
        <p:txBody>
          <a:bodyPr wrap="none" lIns="0" tIns="0" rIns="0" bIns="0"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9500" b="0" i="0" u="none" strike="noStrike" kern="0" cap="none" spc="0" normalizeH="0" baseline="0" noProof="0" dirty="0">
                <a:ln>
                  <a:noFill/>
                </a:ln>
                <a:solidFill>
                  <a:prstClr val="white"/>
                </a:solidFill>
                <a:effectLst/>
                <a:uLnTx/>
                <a:uFillTx/>
                <a:latin typeface="Darker Grotesque" pitchFamily="2" charset="0"/>
              </a:rPr>
              <a:t>Statement</a:t>
            </a:r>
          </a:p>
        </p:txBody>
      </p:sp>
      <p:grpSp>
        <p:nvGrpSpPr>
          <p:cNvPr id="26" name="Group 25">
            <a:extLst>
              <a:ext uri="{FF2B5EF4-FFF2-40B4-BE49-F238E27FC236}">
                <a16:creationId xmlns:a16="http://schemas.microsoft.com/office/drawing/2014/main" id="{9418E4A9-697A-F984-D410-E0EBA0D710B6}"/>
              </a:ext>
            </a:extLst>
          </p:cNvPr>
          <p:cNvGrpSpPr/>
          <p:nvPr/>
        </p:nvGrpSpPr>
        <p:grpSpPr>
          <a:xfrm>
            <a:off x="299484" y="7434459"/>
            <a:ext cx="11644423" cy="507586"/>
            <a:chOff x="299484" y="369986"/>
            <a:chExt cx="11644423" cy="507586"/>
          </a:xfrm>
        </p:grpSpPr>
        <p:cxnSp>
          <p:nvCxnSpPr>
            <p:cNvPr id="27" name="Straight Connector 26">
              <a:extLst>
                <a:ext uri="{FF2B5EF4-FFF2-40B4-BE49-F238E27FC236}">
                  <a16:creationId xmlns:a16="http://schemas.microsoft.com/office/drawing/2014/main" id="{03D533FC-301F-4241-F885-36A143CB5AD6}"/>
                </a:ext>
              </a:extLst>
            </p:cNvPr>
            <p:cNvCxnSpPr/>
            <p:nvPr/>
          </p:nvCxnSpPr>
          <p:spPr>
            <a:xfrm>
              <a:off x="299484" y="62377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nvGrpSpPr>
            <p:cNvPr id="28" name="!!mission">
              <a:extLst>
                <a:ext uri="{FF2B5EF4-FFF2-40B4-BE49-F238E27FC236}">
                  <a16:creationId xmlns:a16="http://schemas.microsoft.com/office/drawing/2014/main" id="{78936679-7C61-4065-06C1-7E6D95B9FA11}"/>
                </a:ext>
              </a:extLst>
            </p:cNvPr>
            <p:cNvGrpSpPr/>
            <p:nvPr/>
          </p:nvGrpSpPr>
          <p:grpSpPr>
            <a:xfrm>
              <a:off x="5842207" y="369986"/>
              <a:ext cx="507586" cy="507586"/>
              <a:chOff x="1700837" y="1711757"/>
              <a:chExt cx="507586" cy="507586"/>
            </a:xfrm>
          </p:grpSpPr>
          <p:sp useBgFill="1">
            <p:nvSpPr>
              <p:cNvPr id="29" name="Oval 28">
                <a:extLst>
                  <a:ext uri="{FF2B5EF4-FFF2-40B4-BE49-F238E27FC236}">
                    <a16:creationId xmlns:a16="http://schemas.microsoft.com/office/drawing/2014/main" id="{971099E7-F054-4A7B-A4C7-FB199C82A717}"/>
                  </a:ext>
                </a:extLst>
              </p:cNvPr>
              <p:cNvSpPr/>
              <p:nvPr/>
            </p:nvSpPr>
            <p:spPr>
              <a:xfrm>
                <a:off x="1700837" y="1711757"/>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30" name="Graphic 29">
                <a:extLst>
                  <a:ext uri="{FF2B5EF4-FFF2-40B4-BE49-F238E27FC236}">
                    <a16:creationId xmlns:a16="http://schemas.microsoft.com/office/drawing/2014/main" id="{6EE4E794-E472-C5DB-EC17-CB376EC148E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28630" y="1839550"/>
                <a:ext cx="252000" cy="252000"/>
              </a:xfrm>
              <a:prstGeom prst="rect">
                <a:avLst/>
              </a:prstGeom>
            </p:spPr>
          </p:pic>
        </p:grpSp>
      </p:grpSp>
      <p:grpSp>
        <p:nvGrpSpPr>
          <p:cNvPr id="2" name="Group 1">
            <a:extLst>
              <a:ext uri="{FF2B5EF4-FFF2-40B4-BE49-F238E27FC236}">
                <a16:creationId xmlns:a16="http://schemas.microsoft.com/office/drawing/2014/main" id="{AEF8DAB0-7880-E7A8-CB59-C62B100990C4}"/>
              </a:ext>
            </a:extLst>
          </p:cNvPr>
          <p:cNvGrpSpPr/>
          <p:nvPr/>
        </p:nvGrpSpPr>
        <p:grpSpPr>
          <a:xfrm>
            <a:off x="668217" y="8590930"/>
            <a:ext cx="10855565" cy="3787204"/>
            <a:chOff x="1670150" y="1637219"/>
            <a:chExt cx="9075403" cy="2840107"/>
          </a:xfrm>
        </p:grpSpPr>
        <p:grpSp>
          <p:nvGrpSpPr>
            <p:cNvPr id="3" name="Group 2">
              <a:extLst>
                <a:ext uri="{FF2B5EF4-FFF2-40B4-BE49-F238E27FC236}">
                  <a16:creationId xmlns:a16="http://schemas.microsoft.com/office/drawing/2014/main" id="{6B72D5D9-C8DF-1CE1-77ED-AB9D9D7FF727}"/>
                </a:ext>
              </a:extLst>
            </p:cNvPr>
            <p:cNvGrpSpPr/>
            <p:nvPr/>
          </p:nvGrpSpPr>
          <p:grpSpPr>
            <a:xfrm>
              <a:off x="2007160" y="2982796"/>
              <a:ext cx="8738393" cy="1494530"/>
              <a:chOff x="2059829" y="3545303"/>
              <a:chExt cx="8738393" cy="1494530"/>
            </a:xfrm>
          </p:grpSpPr>
          <p:sp>
            <p:nvSpPr>
              <p:cNvPr id="5" name="TextBox 4">
                <a:extLst>
                  <a:ext uri="{FF2B5EF4-FFF2-40B4-BE49-F238E27FC236}">
                    <a16:creationId xmlns:a16="http://schemas.microsoft.com/office/drawing/2014/main" id="{98F8C6A8-7BF0-F177-ECCD-85D0168A38B4}"/>
                  </a:ext>
                </a:extLst>
              </p:cNvPr>
              <p:cNvSpPr txBox="1"/>
              <p:nvPr/>
            </p:nvSpPr>
            <p:spPr>
              <a:xfrm>
                <a:off x="4651391" y="4524752"/>
                <a:ext cx="2895627" cy="438536"/>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US" dirty="0">
                    <a:solidFill>
                      <a:prstClr val="white">
                        <a:alpha val="50000"/>
                      </a:prstClr>
                    </a:solidFill>
                  </a:rPr>
                  <a:t>increase in the likelihood of reporting loneliness when unemployed.</a:t>
                </a:r>
                <a:endParaRPr lang="en-GB" dirty="0">
                  <a:solidFill>
                    <a:prstClr val="white">
                      <a:alpha val="50000"/>
                    </a:prstClr>
                  </a:solidFill>
                </a:endParaRPr>
              </a:p>
            </p:txBody>
          </p:sp>
          <p:sp>
            <p:nvSpPr>
              <p:cNvPr id="8" name="TextBox 7">
                <a:extLst>
                  <a:ext uri="{FF2B5EF4-FFF2-40B4-BE49-F238E27FC236}">
                    <a16:creationId xmlns:a16="http://schemas.microsoft.com/office/drawing/2014/main" id="{3DBC4686-80F3-9F9D-C079-DA59E72E93A0}"/>
                  </a:ext>
                </a:extLst>
              </p:cNvPr>
              <p:cNvSpPr txBox="1"/>
              <p:nvPr/>
            </p:nvSpPr>
            <p:spPr>
              <a:xfrm>
                <a:off x="7822845" y="4524752"/>
                <a:ext cx="2975377" cy="438536"/>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US" dirty="0">
                    <a:solidFill>
                      <a:prstClr val="white">
                        <a:alpha val="50000"/>
                      </a:prstClr>
                    </a:solidFill>
                  </a:rPr>
                  <a:t>higher risk of unemployment is linked to experiencing loneliness earlier in life.</a:t>
                </a:r>
                <a:endParaRPr lang="en-GB" dirty="0">
                  <a:solidFill>
                    <a:prstClr val="white">
                      <a:alpha val="50000"/>
                    </a:prstClr>
                  </a:solidFill>
                </a:endParaRPr>
              </a:p>
            </p:txBody>
          </p:sp>
          <p:sp>
            <p:nvSpPr>
              <p:cNvPr id="9" name="TextBox 8">
                <a:extLst>
                  <a:ext uri="{FF2B5EF4-FFF2-40B4-BE49-F238E27FC236}">
                    <a16:creationId xmlns:a16="http://schemas.microsoft.com/office/drawing/2014/main" id="{5E76D01B-0B5D-E548-585D-1BA9F01E768B}"/>
                  </a:ext>
                </a:extLst>
              </p:cNvPr>
              <p:cNvSpPr txBox="1"/>
              <p:nvPr/>
            </p:nvSpPr>
            <p:spPr>
              <a:xfrm>
                <a:off x="2059829" y="4524752"/>
                <a:ext cx="2210400" cy="438536"/>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US" dirty="0">
                    <a:solidFill>
                      <a:prstClr val="white">
                        <a:alpha val="50000"/>
                      </a:prstClr>
                    </a:solidFill>
                  </a:rPr>
                  <a:t>Unemployed individuals are more likely to commit suicide</a:t>
                </a:r>
                <a:endParaRPr lang="en-GB" dirty="0">
                  <a:solidFill>
                    <a:prstClr val="white">
                      <a:alpha val="50000"/>
                    </a:prstClr>
                  </a:solidFill>
                </a:endParaRPr>
              </a:p>
            </p:txBody>
          </p:sp>
          <p:grpSp>
            <p:nvGrpSpPr>
              <p:cNvPr id="10" name="Group 9">
                <a:extLst>
                  <a:ext uri="{FF2B5EF4-FFF2-40B4-BE49-F238E27FC236}">
                    <a16:creationId xmlns:a16="http://schemas.microsoft.com/office/drawing/2014/main" id="{9B4E933C-F266-6C56-FCCA-D57A113F8F6C}"/>
                  </a:ext>
                </a:extLst>
              </p:cNvPr>
              <p:cNvGrpSpPr/>
              <p:nvPr/>
            </p:nvGrpSpPr>
            <p:grpSpPr>
              <a:xfrm>
                <a:off x="2504506" y="3545303"/>
                <a:ext cx="7626220" cy="1494530"/>
                <a:chOff x="2512519" y="3545303"/>
                <a:chExt cx="7626220" cy="1494530"/>
              </a:xfrm>
            </p:grpSpPr>
            <p:cxnSp>
              <p:nvCxnSpPr>
                <p:cNvPr id="11" name="Straight Connector 10">
                  <a:extLst>
                    <a:ext uri="{FF2B5EF4-FFF2-40B4-BE49-F238E27FC236}">
                      <a16:creationId xmlns:a16="http://schemas.microsoft.com/office/drawing/2014/main" id="{3C66887B-F96F-8C8A-72E6-2052A51B5650}"/>
                    </a:ext>
                  </a:extLst>
                </p:cNvPr>
                <p:cNvCxnSpPr>
                  <a:cxnSpLocks/>
                </p:cNvCxnSpPr>
                <p:nvPr/>
              </p:nvCxnSpPr>
              <p:spPr>
                <a:xfrm>
                  <a:off x="4659404" y="3545303"/>
                  <a:ext cx="0" cy="149453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sp>
              <p:nvSpPr>
                <p:cNvPr id="12" name="TextBox 11">
                  <a:extLst>
                    <a:ext uri="{FF2B5EF4-FFF2-40B4-BE49-F238E27FC236}">
                      <a16:creationId xmlns:a16="http://schemas.microsoft.com/office/drawing/2014/main" id="{EA347496-CCC6-BA67-BFDD-380E614D7028}"/>
                    </a:ext>
                  </a:extLst>
                </p:cNvPr>
                <p:cNvSpPr txBox="1"/>
                <p:nvPr/>
              </p:nvSpPr>
              <p:spPr>
                <a:xfrm>
                  <a:off x="5187734" y="3545303"/>
                  <a:ext cx="1838966" cy="772840"/>
                </a:xfrm>
                <a:prstGeom prst="rect">
                  <a:avLst/>
                </a:prstGeom>
                <a:noFill/>
              </p:spPr>
              <p:txBody>
                <a:bodyPr wrap="none"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GB" sz="6600" dirty="0"/>
                    <a:t> 40%</a:t>
                  </a:r>
                </a:p>
              </p:txBody>
            </p:sp>
            <p:sp>
              <p:nvSpPr>
                <p:cNvPr id="13" name="TextBox 12">
                  <a:extLst>
                    <a:ext uri="{FF2B5EF4-FFF2-40B4-BE49-F238E27FC236}">
                      <a16:creationId xmlns:a16="http://schemas.microsoft.com/office/drawing/2014/main" id="{20CC88FA-F214-EDA1-A106-ECE9FDACFB2C}"/>
                    </a:ext>
                  </a:extLst>
                </p:cNvPr>
                <p:cNvSpPr txBox="1"/>
                <p:nvPr/>
              </p:nvSpPr>
              <p:spPr>
                <a:xfrm>
                  <a:off x="7847726" y="3545303"/>
                  <a:ext cx="2291013" cy="772840"/>
                </a:xfrm>
                <a:prstGeom prst="rect">
                  <a:avLst/>
                </a:prstGeom>
                <a:noFill/>
              </p:spPr>
              <p:txBody>
                <a:bodyPr wrap="none"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US" sz="6600" dirty="0"/>
                    <a:t>17.5%</a:t>
                  </a:r>
                  <a:endParaRPr lang="en-GB" sz="6600" dirty="0"/>
                </a:p>
              </p:txBody>
            </p:sp>
            <p:sp>
              <p:nvSpPr>
                <p:cNvPr id="14" name="TextBox 13">
                  <a:extLst>
                    <a:ext uri="{FF2B5EF4-FFF2-40B4-BE49-F238E27FC236}">
                      <a16:creationId xmlns:a16="http://schemas.microsoft.com/office/drawing/2014/main" id="{A653382C-45AC-86E6-1502-B0A907B22168}"/>
                    </a:ext>
                  </a:extLst>
                </p:cNvPr>
                <p:cNvSpPr txBox="1"/>
                <p:nvPr/>
              </p:nvSpPr>
              <p:spPr>
                <a:xfrm>
                  <a:off x="2512519" y="3545303"/>
                  <a:ext cx="1410964" cy="772840"/>
                </a:xfrm>
                <a:prstGeom prst="rect">
                  <a:avLst/>
                </a:prstGeom>
                <a:noFill/>
              </p:spPr>
              <p:txBody>
                <a:bodyPr wrap="none"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US" sz="6600" dirty="0"/>
                    <a:t>16x</a:t>
                  </a:r>
                  <a:endParaRPr lang="en-GB" sz="6600" dirty="0"/>
                </a:p>
              </p:txBody>
            </p:sp>
            <p:cxnSp>
              <p:nvCxnSpPr>
                <p:cNvPr id="15" name="Straight Connector 14">
                  <a:extLst>
                    <a:ext uri="{FF2B5EF4-FFF2-40B4-BE49-F238E27FC236}">
                      <a16:creationId xmlns:a16="http://schemas.microsoft.com/office/drawing/2014/main" id="{85EFCCF2-BEFE-B642-2924-5903EB747705}"/>
                    </a:ext>
                  </a:extLst>
                </p:cNvPr>
                <p:cNvCxnSpPr>
                  <a:cxnSpLocks/>
                </p:cNvCxnSpPr>
                <p:nvPr/>
              </p:nvCxnSpPr>
              <p:spPr>
                <a:xfrm>
                  <a:off x="7555035" y="3545303"/>
                  <a:ext cx="0" cy="149453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grpSp>
        <p:sp>
          <p:nvSpPr>
            <p:cNvPr id="4" name="TextBox 3">
              <a:extLst>
                <a:ext uri="{FF2B5EF4-FFF2-40B4-BE49-F238E27FC236}">
                  <a16:creationId xmlns:a16="http://schemas.microsoft.com/office/drawing/2014/main" id="{4FAD42A7-9641-F0DE-EB96-A267C7ACB056}"/>
                </a:ext>
              </a:extLst>
            </p:cNvPr>
            <p:cNvSpPr txBox="1"/>
            <p:nvPr/>
          </p:nvSpPr>
          <p:spPr>
            <a:xfrm>
              <a:off x="1670150" y="1637219"/>
              <a:ext cx="8851700" cy="585930"/>
            </a:xfrm>
            <a:prstGeom prst="rect">
              <a:avLst/>
            </a:prstGeom>
            <a:noFill/>
          </p:spPr>
          <p:txBody>
            <a:bodyPr wrap="square"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pPr algn="ctr"/>
              <a:r>
                <a:rPr lang="en-GB" sz="4800" dirty="0"/>
                <a:t>Here are the problems that users have</a:t>
              </a:r>
            </a:p>
          </p:txBody>
        </p:sp>
      </p:grpSp>
      <p:pic>
        <p:nvPicPr>
          <p:cNvPr id="16" name="Picture 15" descr="A close-up of a logo&#10;&#10;AI-generated content may be incorrect.">
            <a:extLst>
              <a:ext uri="{FF2B5EF4-FFF2-40B4-BE49-F238E27FC236}">
                <a16:creationId xmlns:a16="http://schemas.microsoft.com/office/drawing/2014/main" id="{7F018B6D-A975-F743-295A-6E800AA3EFD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523782" y="5974268"/>
            <a:ext cx="505929" cy="632979"/>
          </a:xfrm>
          <a:prstGeom prst="rect">
            <a:avLst/>
          </a:prstGeom>
        </p:spPr>
      </p:pic>
    </p:spTree>
    <p:custDataLst>
      <p:tags r:id="rId1"/>
    </p:custDataLst>
    <p:extLst>
      <p:ext uri="{BB962C8B-B14F-4D97-AF65-F5344CB8AC3E}">
        <p14:creationId xmlns:p14="http://schemas.microsoft.com/office/powerpoint/2010/main" val="978745888"/>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0-#ppt_h/2"/>
                                          </p:val>
                                        </p:tav>
                                        <p:tav tm="100000">
                                          <p:val>
                                            <p:strVal val="#ppt_y"/>
                                          </p:val>
                                        </p:tav>
                                      </p:tavLst>
                                    </p:anim>
                                  </p:childTnLst>
                                </p:cTn>
                              </p:par>
                              <p:par>
                                <p:cTn id="9" presetID="9"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dissolve">
                                      <p:cBhvr>
                                        <p:cTn id="11" dur="500"/>
                                        <p:tgtEl>
                                          <p:spTgt spid="16"/>
                                        </p:tgtEl>
                                      </p:cBhvr>
                                    </p:animEffect>
                                  </p:childTnLst>
                                </p:cTn>
                              </p:par>
                              <p:par>
                                <p:cTn id="12" presetID="2" presetClass="entr" presetSubtype="4" fill="hold" nodeType="with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additive="base">
                                        <p:cTn id="14" dur="500" fill="hold"/>
                                        <p:tgtEl>
                                          <p:spTgt spid="16"/>
                                        </p:tgtEl>
                                        <p:attrNameLst>
                                          <p:attrName>ppt_x</p:attrName>
                                        </p:attrNameLst>
                                      </p:cBhvr>
                                      <p:tavLst>
                                        <p:tav tm="0">
                                          <p:val>
                                            <p:strVal val="#ppt_x"/>
                                          </p:val>
                                        </p:tav>
                                        <p:tav tm="100000">
                                          <p:val>
                                            <p:strVal val="#ppt_x"/>
                                          </p:val>
                                        </p:tav>
                                      </p:tavLst>
                                    </p:anim>
                                    <p:anim calcmode="lin" valueType="num">
                                      <p:cBhvr additive="base">
                                        <p:cTn id="15"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CD71B04-A06D-A176-6B96-5250AD809BBC}"/>
              </a:ext>
            </a:extLst>
          </p:cNvPr>
          <p:cNvSpPr txBox="1"/>
          <p:nvPr/>
        </p:nvSpPr>
        <p:spPr>
          <a:xfrm>
            <a:off x="299484" y="407551"/>
            <a:ext cx="795089" cy="185564"/>
          </a:xfrm>
          <a:prstGeom prst="rect">
            <a:avLst/>
          </a:prstGeom>
          <a:noFill/>
        </p:spPr>
        <p:txBody>
          <a:bodyPr wrap="none" lIns="0" tIns="0" rIns="0" bIns="0" rtlCol="0">
            <a:spAutoFit/>
          </a:bodyPr>
          <a:lstStyle/>
          <a:p>
            <a:pPr marL="0" marR="0" lvl="0" indent="0" defTabSz="914400" rtl="0" eaLnBrk="1" fontAlgn="auto" latinLnBrk="0" hangingPunct="1">
              <a:lnSpc>
                <a:spcPct val="6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Darker Grotesque" pitchFamily="2" charset="0"/>
              </a:rPr>
              <a:t>Problem</a:t>
            </a:r>
          </a:p>
        </p:txBody>
      </p:sp>
      <p:sp>
        <p:nvSpPr>
          <p:cNvPr id="8" name="TextBox 7">
            <a:extLst>
              <a:ext uri="{FF2B5EF4-FFF2-40B4-BE49-F238E27FC236}">
                <a16:creationId xmlns:a16="http://schemas.microsoft.com/office/drawing/2014/main" id="{CF2753BC-A19C-EA62-95CA-98BE0DAD536F}"/>
              </a:ext>
            </a:extLst>
          </p:cNvPr>
          <p:cNvSpPr txBox="1"/>
          <p:nvPr/>
        </p:nvSpPr>
        <p:spPr>
          <a:xfrm>
            <a:off x="1143269" y="407551"/>
            <a:ext cx="984244" cy="185564"/>
          </a:xfrm>
          <a:prstGeom prst="rect">
            <a:avLst/>
          </a:prstGeom>
          <a:noFill/>
        </p:spPr>
        <p:txBody>
          <a:bodyPr wrap="none" lIns="0" tIns="0" rIns="0" bIns="0" rtlCol="0">
            <a:spAutoFit/>
          </a:bodyPr>
          <a:lstStyle/>
          <a:p>
            <a:pPr marL="0" marR="0" lvl="0" indent="0" defTabSz="914400" rtl="0" eaLnBrk="1" fontAlgn="auto" latinLnBrk="0" hangingPunct="1">
              <a:lnSpc>
                <a:spcPct val="6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Darker Grotesque" pitchFamily="2" charset="0"/>
              </a:rPr>
              <a:t>Statement</a:t>
            </a:r>
          </a:p>
        </p:txBody>
      </p:sp>
      <p:grpSp>
        <p:nvGrpSpPr>
          <p:cNvPr id="13" name="Group 12">
            <a:extLst>
              <a:ext uri="{FF2B5EF4-FFF2-40B4-BE49-F238E27FC236}">
                <a16:creationId xmlns:a16="http://schemas.microsoft.com/office/drawing/2014/main" id="{CE78C0B1-9145-3B15-D39F-A30E0292DE88}"/>
              </a:ext>
            </a:extLst>
          </p:cNvPr>
          <p:cNvGrpSpPr/>
          <p:nvPr/>
        </p:nvGrpSpPr>
        <p:grpSpPr>
          <a:xfrm>
            <a:off x="299484" y="369986"/>
            <a:ext cx="11644423" cy="507586"/>
            <a:chOff x="299484" y="369986"/>
            <a:chExt cx="11644423" cy="507586"/>
          </a:xfrm>
        </p:grpSpPr>
        <p:cxnSp>
          <p:nvCxnSpPr>
            <p:cNvPr id="5" name="Straight Connector 4">
              <a:extLst>
                <a:ext uri="{FF2B5EF4-FFF2-40B4-BE49-F238E27FC236}">
                  <a16:creationId xmlns:a16="http://schemas.microsoft.com/office/drawing/2014/main" id="{8DE788B0-3D24-B444-9A30-B6D3868BFED3}"/>
                </a:ext>
              </a:extLst>
            </p:cNvPr>
            <p:cNvCxnSpPr/>
            <p:nvPr/>
          </p:nvCxnSpPr>
          <p:spPr>
            <a:xfrm>
              <a:off x="299484" y="62377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nvGrpSpPr>
            <p:cNvPr id="10" name="!!mission">
              <a:extLst>
                <a:ext uri="{FF2B5EF4-FFF2-40B4-BE49-F238E27FC236}">
                  <a16:creationId xmlns:a16="http://schemas.microsoft.com/office/drawing/2014/main" id="{98F7707E-45E4-7874-747F-539EE3211649}"/>
                </a:ext>
              </a:extLst>
            </p:cNvPr>
            <p:cNvGrpSpPr/>
            <p:nvPr/>
          </p:nvGrpSpPr>
          <p:grpSpPr>
            <a:xfrm>
              <a:off x="5842207" y="369986"/>
              <a:ext cx="507586" cy="507586"/>
              <a:chOff x="1700837" y="1711757"/>
              <a:chExt cx="507586" cy="507586"/>
            </a:xfrm>
          </p:grpSpPr>
          <p:sp useBgFill="1">
            <p:nvSpPr>
              <p:cNvPr id="11" name="Oval 10">
                <a:extLst>
                  <a:ext uri="{FF2B5EF4-FFF2-40B4-BE49-F238E27FC236}">
                    <a16:creationId xmlns:a16="http://schemas.microsoft.com/office/drawing/2014/main" id="{174FF9FF-5E40-050C-56CC-5CC8886A5C3A}"/>
                  </a:ext>
                </a:extLst>
              </p:cNvPr>
              <p:cNvSpPr/>
              <p:nvPr/>
            </p:nvSpPr>
            <p:spPr>
              <a:xfrm>
                <a:off x="1700837" y="1711757"/>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12" name="Graphic 11">
                <a:extLst>
                  <a:ext uri="{FF2B5EF4-FFF2-40B4-BE49-F238E27FC236}">
                    <a16:creationId xmlns:a16="http://schemas.microsoft.com/office/drawing/2014/main" id="{AFDAC79A-DBA9-31BE-8292-1DCB10D53F7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28630" y="1839550"/>
                <a:ext cx="252000" cy="252000"/>
              </a:xfrm>
              <a:prstGeom prst="rect">
                <a:avLst/>
              </a:prstGeom>
            </p:spPr>
          </p:pic>
        </p:grpSp>
      </p:grpSp>
      <p:grpSp>
        <p:nvGrpSpPr>
          <p:cNvPr id="4" name="Group 3">
            <a:extLst>
              <a:ext uri="{FF2B5EF4-FFF2-40B4-BE49-F238E27FC236}">
                <a16:creationId xmlns:a16="http://schemas.microsoft.com/office/drawing/2014/main" id="{04816C24-5C5F-4AE6-137A-F7FA4B890007}"/>
              </a:ext>
            </a:extLst>
          </p:cNvPr>
          <p:cNvGrpSpPr/>
          <p:nvPr/>
        </p:nvGrpSpPr>
        <p:grpSpPr>
          <a:xfrm>
            <a:off x="855785" y="1324716"/>
            <a:ext cx="10855565" cy="3787204"/>
            <a:chOff x="1670150" y="1637219"/>
            <a:chExt cx="9075403" cy="2840107"/>
          </a:xfrm>
        </p:grpSpPr>
        <p:grpSp>
          <p:nvGrpSpPr>
            <p:cNvPr id="7" name="Group 6">
              <a:extLst>
                <a:ext uri="{FF2B5EF4-FFF2-40B4-BE49-F238E27FC236}">
                  <a16:creationId xmlns:a16="http://schemas.microsoft.com/office/drawing/2014/main" id="{7A3A169B-CD24-B9FC-3EEA-AF0BF1C3C3C7}"/>
                </a:ext>
              </a:extLst>
            </p:cNvPr>
            <p:cNvGrpSpPr/>
            <p:nvPr/>
          </p:nvGrpSpPr>
          <p:grpSpPr>
            <a:xfrm>
              <a:off x="2007160" y="2982796"/>
              <a:ext cx="8738393" cy="1494530"/>
              <a:chOff x="2059829" y="3545303"/>
              <a:chExt cx="8738393" cy="1494530"/>
            </a:xfrm>
          </p:grpSpPr>
          <p:sp>
            <p:nvSpPr>
              <p:cNvPr id="19" name="TextBox 18">
                <a:extLst>
                  <a:ext uri="{FF2B5EF4-FFF2-40B4-BE49-F238E27FC236}">
                    <a16:creationId xmlns:a16="http://schemas.microsoft.com/office/drawing/2014/main" id="{570B82F6-0EBB-52C1-AA9C-EDB9D9526387}"/>
                  </a:ext>
                </a:extLst>
              </p:cNvPr>
              <p:cNvSpPr txBox="1"/>
              <p:nvPr/>
            </p:nvSpPr>
            <p:spPr>
              <a:xfrm>
                <a:off x="4651391" y="4524752"/>
                <a:ext cx="2895627" cy="438536"/>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US" dirty="0">
                    <a:solidFill>
                      <a:prstClr val="white">
                        <a:alpha val="50000"/>
                      </a:prstClr>
                    </a:solidFill>
                  </a:rPr>
                  <a:t>increase in the likelihood of reporting loneliness when unemployed.</a:t>
                </a:r>
                <a:endParaRPr lang="en-GB" dirty="0">
                  <a:solidFill>
                    <a:prstClr val="white">
                      <a:alpha val="50000"/>
                    </a:prstClr>
                  </a:solidFill>
                </a:endParaRPr>
              </a:p>
            </p:txBody>
          </p:sp>
          <p:sp>
            <p:nvSpPr>
              <p:cNvPr id="20" name="TextBox 19">
                <a:extLst>
                  <a:ext uri="{FF2B5EF4-FFF2-40B4-BE49-F238E27FC236}">
                    <a16:creationId xmlns:a16="http://schemas.microsoft.com/office/drawing/2014/main" id="{621A65AC-3251-B7C8-1044-242959616B52}"/>
                  </a:ext>
                </a:extLst>
              </p:cNvPr>
              <p:cNvSpPr txBox="1"/>
              <p:nvPr/>
            </p:nvSpPr>
            <p:spPr>
              <a:xfrm>
                <a:off x="7822845" y="4524752"/>
                <a:ext cx="2975377" cy="438536"/>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US" dirty="0">
                    <a:solidFill>
                      <a:prstClr val="white">
                        <a:alpha val="50000"/>
                      </a:prstClr>
                    </a:solidFill>
                  </a:rPr>
                  <a:t>higher risk of unemployment is linked to experiencing loneliness earlier in life.</a:t>
                </a:r>
                <a:endParaRPr lang="en-GB" dirty="0">
                  <a:solidFill>
                    <a:prstClr val="white">
                      <a:alpha val="50000"/>
                    </a:prstClr>
                  </a:solidFill>
                </a:endParaRPr>
              </a:p>
            </p:txBody>
          </p:sp>
          <p:sp>
            <p:nvSpPr>
              <p:cNvPr id="21" name="TextBox 20">
                <a:extLst>
                  <a:ext uri="{FF2B5EF4-FFF2-40B4-BE49-F238E27FC236}">
                    <a16:creationId xmlns:a16="http://schemas.microsoft.com/office/drawing/2014/main" id="{821B72B4-E8F2-7AB9-F330-E2200987E162}"/>
                  </a:ext>
                </a:extLst>
              </p:cNvPr>
              <p:cNvSpPr txBox="1"/>
              <p:nvPr/>
            </p:nvSpPr>
            <p:spPr>
              <a:xfrm>
                <a:off x="2059829" y="4524752"/>
                <a:ext cx="2210400" cy="438536"/>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US" dirty="0">
                    <a:solidFill>
                      <a:prstClr val="white">
                        <a:alpha val="50000"/>
                      </a:prstClr>
                    </a:solidFill>
                  </a:rPr>
                  <a:t>Unemployed individuals are more likely to commit suicide</a:t>
                </a:r>
                <a:endParaRPr lang="en-GB" dirty="0">
                  <a:solidFill>
                    <a:prstClr val="white">
                      <a:alpha val="50000"/>
                    </a:prstClr>
                  </a:solidFill>
                </a:endParaRPr>
              </a:p>
            </p:txBody>
          </p:sp>
          <p:grpSp>
            <p:nvGrpSpPr>
              <p:cNvPr id="22" name="Group 21">
                <a:extLst>
                  <a:ext uri="{FF2B5EF4-FFF2-40B4-BE49-F238E27FC236}">
                    <a16:creationId xmlns:a16="http://schemas.microsoft.com/office/drawing/2014/main" id="{418CD8FE-F5CC-EBF6-B5C5-F1ABF8CE5A4A}"/>
                  </a:ext>
                </a:extLst>
              </p:cNvPr>
              <p:cNvGrpSpPr/>
              <p:nvPr/>
            </p:nvGrpSpPr>
            <p:grpSpPr>
              <a:xfrm>
                <a:off x="2504506" y="3545303"/>
                <a:ext cx="7626220" cy="1494530"/>
                <a:chOff x="2512519" y="3545303"/>
                <a:chExt cx="7626220" cy="1494530"/>
              </a:xfrm>
            </p:grpSpPr>
            <p:cxnSp>
              <p:nvCxnSpPr>
                <p:cNvPr id="23" name="Straight Connector 22">
                  <a:extLst>
                    <a:ext uri="{FF2B5EF4-FFF2-40B4-BE49-F238E27FC236}">
                      <a16:creationId xmlns:a16="http://schemas.microsoft.com/office/drawing/2014/main" id="{87D1DEB2-8989-D6EB-3E91-4E45B37A138C}"/>
                    </a:ext>
                  </a:extLst>
                </p:cNvPr>
                <p:cNvCxnSpPr>
                  <a:cxnSpLocks/>
                </p:cNvCxnSpPr>
                <p:nvPr/>
              </p:nvCxnSpPr>
              <p:spPr>
                <a:xfrm>
                  <a:off x="4659404" y="3545303"/>
                  <a:ext cx="0" cy="149453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sp>
              <p:nvSpPr>
                <p:cNvPr id="24" name="TextBox 23">
                  <a:extLst>
                    <a:ext uri="{FF2B5EF4-FFF2-40B4-BE49-F238E27FC236}">
                      <a16:creationId xmlns:a16="http://schemas.microsoft.com/office/drawing/2014/main" id="{FA58369D-A781-616E-8E36-E7CE6C760AA8}"/>
                    </a:ext>
                  </a:extLst>
                </p:cNvPr>
                <p:cNvSpPr txBox="1"/>
                <p:nvPr/>
              </p:nvSpPr>
              <p:spPr>
                <a:xfrm>
                  <a:off x="5187734" y="3545303"/>
                  <a:ext cx="1838966" cy="772840"/>
                </a:xfrm>
                <a:prstGeom prst="rect">
                  <a:avLst/>
                </a:prstGeom>
                <a:noFill/>
              </p:spPr>
              <p:txBody>
                <a:bodyPr wrap="none"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GB" sz="6600" dirty="0"/>
                    <a:t> 40%</a:t>
                  </a:r>
                </a:p>
              </p:txBody>
            </p:sp>
            <p:sp>
              <p:nvSpPr>
                <p:cNvPr id="25" name="TextBox 24">
                  <a:extLst>
                    <a:ext uri="{FF2B5EF4-FFF2-40B4-BE49-F238E27FC236}">
                      <a16:creationId xmlns:a16="http://schemas.microsoft.com/office/drawing/2014/main" id="{72DCDD37-2F18-55B1-E7CE-5D5E6B27C15A}"/>
                    </a:ext>
                  </a:extLst>
                </p:cNvPr>
                <p:cNvSpPr txBox="1"/>
                <p:nvPr/>
              </p:nvSpPr>
              <p:spPr>
                <a:xfrm>
                  <a:off x="7847726" y="3545303"/>
                  <a:ext cx="2291013" cy="772840"/>
                </a:xfrm>
                <a:prstGeom prst="rect">
                  <a:avLst/>
                </a:prstGeom>
                <a:noFill/>
              </p:spPr>
              <p:txBody>
                <a:bodyPr wrap="none"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US" sz="6600" dirty="0"/>
                    <a:t>17.5%</a:t>
                  </a:r>
                  <a:endParaRPr lang="en-GB" sz="6600" dirty="0"/>
                </a:p>
              </p:txBody>
            </p:sp>
            <p:sp>
              <p:nvSpPr>
                <p:cNvPr id="26" name="TextBox 25">
                  <a:extLst>
                    <a:ext uri="{FF2B5EF4-FFF2-40B4-BE49-F238E27FC236}">
                      <a16:creationId xmlns:a16="http://schemas.microsoft.com/office/drawing/2014/main" id="{D8CF76F5-8C5E-BB33-B111-AB832C617B11}"/>
                    </a:ext>
                  </a:extLst>
                </p:cNvPr>
                <p:cNvSpPr txBox="1"/>
                <p:nvPr/>
              </p:nvSpPr>
              <p:spPr>
                <a:xfrm>
                  <a:off x="2512519" y="3545303"/>
                  <a:ext cx="1410964" cy="772840"/>
                </a:xfrm>
                <a:prstGeom prst="rect">
                  <a:avLst/>
                </a:prstGeom>
                <a:noFill/>
              </p:spPr>
              <p:txBody>
                <a:bodyPr wrap="none"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US" sz="6600" dirty="0"/>
                    <a:t>16x</a:t>
                  </a:r>
                  <a:endParaRPr lang="en-GB" sz="6600" dirty="0"/>
                </a:p>
              </p:txBody>
            </p:sp>
            <p:cxnSp>
              <p:nvCxnSpPr>
                <p:cNvPr id="27" name="Straight Connector 26">
                  <a:extLst>
                    <a:ext uri="{FF2B5EF4-FFF2-40B4-BE49-F238E27FC236}">
                      <a16:creationId xmlns:a16="http://schemas.microsoft.com/office/drawing/2014/main" id="{D7226123-4C1B-146F-93CA-AA1525A2C961}"/>
                    </a:ext>
                  </a:extLst>
                </p:cNvPr>
                <p:cNvCxnSpPr>
                  <a:cxnSpLocks/>
                </p:cNvCxnSpPr>
                <p:nvPr/>
              </p:nvCxnSpPr>
              <p:spPr>
                <a:xfrm>
                  <a:off x="7555035" y="3545303"/>
                  <a:ext cx="0" cy="149453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grpSp>
        <p:sp>
          <p:nvSpPr>
            <p:cNvPr id="14" name="TextBox 13">
              <a:extLst>
                <a:ext uri="{FF2B5EF4-FFF2-40B4-BE49-F238E27FC236}">
                  <a16:creationId xmlns:a16="http://schemas.microsoft.com/office/drawing/2014/main" id="{E1A9A111-0CEA-A1C5-39D8-D972B7D43B7F}"/>
                </a:ext>
              </a:extLst>
            </p:cNvPr>
            <p:cNvSpPr txBox="1"/>
            <p:nvPr/>
          </p:nvSpPr>
          <p:spPr>
            <a:xfrm>
              <a:off x="1670150" y="1637219"/>
              <a:ext cx="8851700" cy="585930"/>
            </a:xfrm>
            <a:prstGeom prst="rect">
              <a:avLst/>
            </a:prstGeom>
            <a:noFill/>
          </p:spPr>
          <p:txBody>
            <a:bodyPr wrap="square"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pPr algn="ctr"/>
              <a:r>
                <a:rPr lang="en-GB" sz="4800" dirty="0"/>
                <a:t>Here are the problems that users have</a:t>
              </a:r>
            </a:p>
          </p:txBody>
        </p:sp>
      </p:grpSp>
      <p:sp>
        <p:nvSpPr>
          <p:cNvPr id="32" name="TextBox 31">
            <a:extLst>
              <a:ext uri="{FF2B5EF4-FFF2-40B4-BE49-F238E27FC236}">
                <a16:creationId xmlns:a16="http://schemas.microsoft.com/office/drawing/2014/main" id="{2099DB4A-C52F-E815-C554-8598472DD37E}"/>
              </a:ext>
            </a:extLst>
          </p:cNvPr>
          <p:cNvSpPr txBox="1"/>
          <p:nvPr/>
        </p:nvSpPr>
        <p:spPr>
          <a:xfrm>
            <a:off x="299484" y="6511562"/>
            <a:ext cx="11144283" cy="261610"/>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pPr algn="l"/>
            <a:r>
              <a:rPr lang="en-US" sz="1050" dirty="0">
                <a:solidFill>
                  <a:prstClr val="white">
                    <a:alpha val="50000"/>
                  </a:prstClr>
                </a:solidFill>
              </a:rPr>
              <a:t>Sources: National Library of Medicine, BMC Public Health, </a:t>
            </a:r>
            <a:r>
              <a:rPr lang="en-US" sz="1050" dirty="0" err="1">
                <a:solidFill>
                  <a:prstClr val="white">
                    <a:alpha val="50000"/>
                  </a:prstClr>
                </a:solidFill>
              </a:rPr>
              <a:t>Researchhub</a:t>
            </a:r>
            <a:endParaRPr lang="en-GB" sz="1050" dirty="0">
              <a:solidFill>
                <a:prstClr val="white">
                  <a:alpha val="50000"/>
                </a:prstClr>
              </a:solidFill>
            </a:endParaRPr>
          </a:p>
        </p:txBody>
      </p:sp>
      <p:pic>
        <p:nvPicPr>
          <p:cNvPr id="35" name="Picture 34" descr="A close-up of a logo&#10;&#10;AI-generated content may be incorrect.">
            <a:extLst>
              <a:ext uri="{FF2B5EF4-FFF2-40B4-BE49-F238E27FC236}">
                <a16:creationId xmlns:a16="http://schemas.microsoft.com/office/drawing/2014/main" id="{F736E566-A191-360B-05D7-4322881CFF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23782" y="5974268"/>
            <a:ext cx="505929" cy="632979"/>
          </a:xfrm>
          <a:prstGeom prst="rect">
            <a:avLst/>
          </a:prstGeom>
        </p:spPr>
      </p:pic>
    </p:spTree>
    <p:extLst>
      <p:ext uri="{BB962C8B-B14F-4D97-AF65-F5344CB8AC3E}">
        <p14:creationId xmlns:p14="http://schemas.microsoft.com/office/powerpoint/2010/main" val="61057075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ppt_x"/>
                                          </p:val>
                                        </p:tav>
                                        <p:tav tm="100000">
                                          <p:val>
                                            <p:strVal val="#ppt_x"/>
                                          </p:val>
                                        </p:tav>
                                      </p:tavLst>
                                    </p:anim>
                                    <p:anim calcmode="lin" valueType="num">
                                      <p:cBhvr additive="base">
                                        <p:cTn id="8" dur="500" fill="hold"/>
                                        <p:tgtEl>
                                          <p:spTgt spid="35"/>
                                        </p:tgtEl>
                                        <p:attrNameLst>
                                          <p:attrName>ppt_y</p:attrName>
                                        </p:attrNameLst>
                                      </p:cBhvr>
                                      <p:tavLst>
                                        <p:tav tm="0">
                                          <p:val>
                                            <p:strVal val="0-#ppt_h/2"/>
                                          </p:val>
                                        </p:tav>
                                        <p:tav tm="100000">
                                          <p:val>
                                            <p:strVal val="#ppt_y"/>
                                          </p:val>
                                        </p:tav>
                                      </p:tavLst>
                                    </p:anim>
                                  </p:childTnLst>
                                </p:cTn>
                              </p:par>
                              <p:par>
                                <p:cTn id="9" presetID="9" presetClass="entr" presetSubtype="0" fill="hold" nodeType="with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dissolve">
                                      <p:cBhvr>
                                        <p:cTn id="11" dur="500"/>
                                        <p:tgtEl>
                                          <p:spTgt spid="35"/>
                                        </p:tgtEl>
                                      </p:cBhvr>
                                    </p:animEffect>
                                  </p:childTnLst>
                                </p:cTn>
                              </p:par>
                              <p:par>
                                <p:cTn id="12" presetID="2" presetClass="entr" presetSubtype="4" fill="hold" nodeType="withEffect">
                                  <p:stCondLst>
                                    <p:cond delay="0"/>
                                  </p:stCondLst>
                                  <p:childTnLst>
                                    <p:set>
                                      <p:cBhvr>
                                        <p:cTn id="13" dur="1" fill="hold">
                                          <p:stCondLst>
                                            <p:cond delay="0"/>
                                          </p:stCondLst>
                                        </p:cTn>
                                        <p:tgtEl>
                                          <p:spTgt spid="35"/>
                                        </p:tgtEl>
                                        <p:attrNameLst>
                                          <p:attrName>style.visibility</p:attrName>
                                        </p:attrNameLst>
                                      </p:cBhvr>
                                      <p:to>
                                        <p:strVal val="visible"/>
                                      </p:to>
                                    </p:set>
                                    <p:anim calcmode="lin" valueType="num">
                                      <p:cBhvr additive="base">
                                        <p:cTn id="14" dur="500" fill="hold"/>
                                        <p:tgtEl>
                                          <p:spTgt spid="35"/>
                                        </p:tgtEl>
                                        <p:attrNameLst>
                                          <p:attrName>ppt_x</p:attrName>
                                        </p:attrNameLst>
                                      </p:cBhvr>
                                      <p:tavLst>
                                        <p:tav tm="0">
                                          <p:val>
                                            <p:strVal val="#ppt_x"/>
                                          </p:val>
                                        </p:tav>
                                        <p:tav tm="100000">
                                          <p:val>
                                            <p:strVal val="#ppt_x"/>
                                          </p:val>
                                        </p:tav>
                                      </p:tavLst>
                                    </p:anim>
                                    <p:anim calcmode="lin" valueType="num">
                                      <p:cBhvr additive="base">
                                        <p:cTn id="15"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CCCD1D-24F7-7818-1BC1-F700A1D07CDD}"/>
              </a:ext>
            </a:extLst>
          </p:cNvPr>
          <p:cNvSpPr txBox="1"/>
          <p:nvPr/>
        </p:nvSpPr>
        <p:spPr>
          <a:xfrm>
            <a:off x="1533467" y="954836"/>
            <a:ext cx="8873066" cy="4953664"/>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9500" b="0" i="0" u="none" strike="noStrike" kern="0" cap="none" spc="0" normalizeH="0" baseline="0" noProof="0" dirty="0">
                <a:ln>
                  <a:noFill/>
                </a:ln>
                <a:solidFill>
                  <a:prstClr val="white"/>
                </a:solidFill>
                <a:effectLst/>
                <a:uLnTx/>
                <a:uFillTx/>
                <a:latin typeface="Darker Grotesque" pitchFamily="2" charset="0"/>
              </a:rPr>
              <a:t>Our Mission</a:t>
            </a:r>
          </a:p>
        </p:txBody>
      </p:sp>
      <p:grpSp>
        <p:nvGrpSpPr>
          <p:cNvPr id="3" name="Group 2">
            <a:extLst>
              <a:ext uri="{FF2B5EF4-FFF2-40B4-BE49-F238E27FC236}">
                <a16:creationId xmlns:a16="http://schemas.microsoft.com/office/drawing/2014/main" id="{DD729241-D7D1-1D58-1A11-ED52B824CD5C}"/>
              </a:ext>
            </a:extLst>
          </p:cNvPr>
          <p:cNvGrpSpPr/>
          <p:nvPr/>
        </p:nvGrpSpPr>
        <p:grpSpPr>
          <a:xfrm>
            <a:off x="299484" y="7202586"/>
            <a:ext cx="11644423" cy="507586"/>
            <a:chOff x="299484" y="369986"/>
            <a:chExt cx="11644423" cy="507586"/>
          </a:xfrm>
        </p:grpSpPr>
        <p:cxnSp>
          <p:nvCxnSpPr>
            <p:cNvPr id="17" name="Straight Connector 16">
              <a:extLst>
                <a:ext uri="{FF2B5EF4-FFF2-40B4-BE49-F238E27FC236}">
                  <a16:creationId xmlns:a16="http://schemas.microsoft.com/office/drawing/2014/main" id="{4320C07B-77FB-C610-D595-5D243C2E4C66}"/>
                </a:ext>
              </a:extLst>
            </p:cNvPr>
            <p:cNvCxnSpPr/>
            <p:nvPr/>
          </p:nvCxnSpPr>
          <p:spPr>
            <a:xfrm>
              <a:off x="299484" y="62377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nvGrpSpPr>
            <p:cNvPr id="18" name="!!problem">
              <a:extLst>
                <a:ext uri="{FF2B5EF4-FFF2-40B4-BE49-F238E27FC236}">
                  <a16:creationId xmlns:a16="http://schemas.microsoft.com/office/drawing/2014/main" id="{8DBF9CEF-6472-CB5D-E76C-791BCCCDE878}"/>
                </a:ext>
              </a:extLst>
            </p:cNvPr>
            <p:cNvGrpSpPr/>
            <p:nvPr/>
          </p:nvGrpSpPr>
          <p:grpSpPr>
            <a:xfrm>
              <a:off x="5842207" y="369986"/>
              <a:ext cx="507586" cy="507586"/>
              <a:chOff x="2240169" y="4083721"/>
              <a:chExt cx="507586" cy="507586"/>
            </a:xfrm>
          </p:grpSpPr>
          <p:sp useBgFill="1">
            <p:nvSpPr>
              <p:cNvPr id="19" name="Oval 18">
                <a:extLst>
                  <a:ext uri="{FF2B5EF4-FFF2-40B4-BE49-F238E27FC236}">
                    <a16:creationId xmlns:a16="http://schemas.microsoft.com/office/drawing/2014/main" id="{3B69514D-9C1F-FD8E-8717-6D152462D787}"/>
                  </a:ext>
                </a:extLst>
              </p:cNvPr>
              <p:cNvSpPr/>
              <p:nvPr/>
            </p:nvSpPr>
            <p:spPr>
              <a:xfrm>
                <a:off x="2240169" y="4083721"/>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20" name="Graphic 19">
                <a:extLst>
                  <a:ext uri="{FF2B5EF4-FFF2-40B4-BE49-F238E27FC236}">
                    <a16:creationId xmlns:a16="http://schemas.microsoft.com/office/drawing/2014/main" id="{4BC5A95E-1C18-467E-551A-D8A8D45E039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7962" y="4211514"/>
                <a:ext cx="252000" cy="252000"/>
              </a:xfrm>
              <a:prstGeom prst="rect">
                <a:avLst/>
              </a:prstGeom>
            </p:spPr>
          </p:pic>
        </p:grpSp>
      </p:grpSp>
      <p:grpSp>
        <p:nvGrpSpPr>
          <p:cNvPr id="26" name="Group 25">
            <a:extLst>
              <a:ext uri="{FF2B5EF4-FFF2-40B4-BE49-F238E27FC236}">
                <a16:creationId xmlns:a16="http://schemas.microsoft.com/office/drawing/2014/main" id="{9A0C9E4A-C053-832F-E6CC-7221ACD2F821}"/>
              </a:ext>
            </a:extLst>
          </p:cNvPr>
          <p:cNvGrpSpPr/>
          <p:nvPr/>
        </p:nvGrpSpPr>
        <p:grpSpPr>
          <a:xfrm>
            <a:off x="928009" y="10552354"/>
            <a:ext cx="10587982" cy="1215076"/>
            <a:chOff x="928009" y="4662116"/>
            <a:chExt cx="10587982" cy="1215076"/>
          </a:xfrm>
        </p:grpSpPr>
        <p:sp>
          <p:nvSpPr>
            <p:cNvPr id="27" name="TextBox 26">
              <a:extLst>
                <a:ext uri="{FF2B5EF4-FFF2-40B4-BE49-F238E27FC236}">
                  <a16:creationId xmlns:a16="http://schemas.microsoft.com/office/drawing/2014/main" id="{AD51D20E-0D62-04AB-5789-F2097F967C73}"/>
                </a:ext>
              </a:extLst>
            </p:cNvPr>
            <p:cNvSpPr txBox="1"/>
            <p:nvPr/>
          </p:nvSpPr>
          <p:spPr>
            <a:xfrm>
              <a:off x="928009" y="4662116"/>
              <a:ext cx="10587982" cy="1030410"/>
            </a:xfrm>
            <a:prstGeom prst="rect">
              <a:avLst/>
            </a:prstGeom>
            <a:noFill/>
          </p:spPr>
          <p:txBody>
            <a:bodyPr wrap="square"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pPr algn="ctr"/>
              <a:r>
                <a:rPr lang="en-GB" sz="4800" dirty="0"/>
                <a:t>Connecting | Motivating | Empowering</a:t>
              </a:r>
            </a:p>
            <a:p>
              <a:pPr algn="ctr"/>
              <a:r>
                <a:rPr lang="en-GB" sz="4800" dirty="0"/>
                <a:t> </a:t>
              </a:r>
            </a:p>
          </p:txBody>
        </p:sp>
        <p:sp>
          <p:nvSpPr>
            <p:cNvPr id="28" name="TextBox 27">
              <a:extLst>
                <a:ext uri="{FF2B5EF4-FFF2-40B4-BE49-F238E27FC236}">
                  <a16:creationId xmlns:a16="http://schemas.microsoft.com/office/drawing/2014/main" id="{5A3C98BD-3047-BD67-D590-29FB2F4F9F19}"/>
                </a:ext>
              </a:extLst>
            </p:cNvPr>
            <p:cNvSpPr txBox="1"/>
            <p:nvPr/>
          </p:nvSpPr>
          <p:spPr>
            <a:xfrm>
              <a:off x="3045280" y="5507860"/>
              <a:ext cx="6098720" cy="369332"/>
            </a:xfrm>
            <a:prstGeom prst="rect">
              <a:avLst/>
            </a:prstGeom>
            <a:noFill/>
          </p:spPr>
          <p:txBody>
            <a:bodyPr wrap="square">
              <a:spAutoFit/>
            </a:bodyPr>
            <a:lstStyle/>
            <a:p>
              <a:r>
                <a:rPr lang="en-GB" sz="1800" dirty="0">
                  <a:solidFill>
                    <a:schemeClr val="bg1"/>
                  </a:solidFill>
                </a:rPr>
                <a:t>the unemployed to find jobs through gamified real-world quest</a:t>
              </a:r>
              <a:endParaRPr lang="en-US" dirty="0">
                <a:solidFill>
                  <a:schemeClr val="bg1"/>
                </a:solidFill>
              </a:endParaRPr>
            </a:p>
          </p:txBody>
        </p:sp>
      </p:grpSp>
      <p:grpSp>
        <p:nvGrpSpPr>
          <p:cNvPr id="29" name="Group 28">
            <a:extLst>
              <a:ext uri="{FF2B5EF4-FFF2-40B4-BE49-F238E27FC236}">
                <a16:creationId xmlns:a16="http://schemas.microsoft.com/office/drawing/2014/main" id="{6FF1E352-0AA7-BFC1-6FCD-AED3902789BE}"/>
              </a:ext>
            </a:extLst>
          </p:cNvPr>
          <p:cNvGrpSpPr/>
          <p:nvPr/>
        </p:nvGrpSpPr>
        <p:grpSpPr>
          <a:xfrm>
            <a:off x="2202335" y="8302124"/>
            <a:ext cx="7838719" cy="1781530"/>
            <a:chOff x="2154366" y="2365606"/>
            <a:chExt cx="7838719" cy="1781530"/>
          </a:xfrm>
        </p:grpSpPr>
        <p:pic>
          <p:nvPicPr>
            <p:cNvPr id="30" name="Graphic 29" descr="Connected outline">
              <a:extLst>
                <a:ext uri="{FF2B5EF4-FFF2-40B4-BE49-F238E27FC236}">
                  <a16:creationId xmlns:a16="http://schemas.microsoft.com/office/drawing/2014/main" id="{6240E1CE-2882-7B9B-A656-36B70DE0CE5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154366" y="2365606"/>
              <a:ext cx="1781530" cy="1781530"/>
            </a:xfrm>
            <a:prstGeom prst="rect">
              <a:avLst/>
            </a:prstGeom>
          </p:spPr>
        </p:pic>
        <p:pic>
          <p:nvPicPr>
            <p:cNvPr id="31" name="Graphic 30" descr="Full battery with solid fill">
              <a:extLst>
                <a:ext uri="{FF2B5EF4-FFF2-40B4-BE49-F238E27FC236}">
                  <a16:creationId xmlns:a16="http://schemas.microsoft.com/office/drawing/2014/main" id="{35ECE34B-A3FF-8CF1-C85D-1EB81FD9BDD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54411" y="2516143"/>
              <a:ext cx="1480457" cy="1480457"/>
            </a:xfrm>
            <a:prstGeom prst="rect">
              <a:avLst/>
            </a:prstGeom>
          </p:spPr>
        </p:pic>
        <p:pic>
          <p:nvPicPr>
            <p:cNvPr id="32" name="Graphic 31" descr="Sprouting Seed with solid fill">
              <a:extLst>
                <a:ext uri="{FF2B5EF4-FFF2-40B4-BE49-F238E27FC236}">
                  <a16:creationId xmlns:a16="http://schemas.microsoft.com/office/drawing/2014/main" id="{1FDE22AF-A6DD-74BA-0FC7-69FC7FA0FD5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784771" y="2652214"/>
              <a:ext cx="1208314" cy="1208314"/>
            </a:xfrm>
            <a:prstGeom prst="rect">
              <a:avLst/>
            </a:prstGeom>
          </p:spPr>
        </p:pic>
      </p:grpSp>
      <p:pic>
        <p:nvPicPr>
          <p:cNvPr id="33" name="Picture 32" descr="A close-up of a logo&#10;&#10;AI-generated content may be incorrect.">
            <a:extLst>
              <a:ext uri="{FF2B5EF4-FFF2-40B4-BE49-F238E27FC236}">
                <a16:creationId xmlns:a16="http://schemas.microsoft.com/office/drawing/2014/main" id="{4D5AD84B-386A-A3B7-2115-0A3280AD624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523782" y="5974268"/>
            <a:ext cx="505929" cy="632979"/>
          </a:xfrm>
          <a:prstGeom prst="rect">
            <a:avLst/>
          </a:prstGeom>
        </p:spPr>
      </p:pic>
    </p:spTree>
    <p:extLst>
      <p:ext uri="{BB962C8B-B14F-4D97-AF65-F5344CB8AC3E}">
        <p14:creationId xmlns:p14="http://schemas.microsoft.com/office/powerpoint/2010/main" val="236446107"/>
      </p:ext>
    </p:extLst>
  </p:cSld>
  <p:clrMapOvr>
    <a:masterClrMapping/>
  </p:clrMapOvr>
  <mc:AlternateContent xmlns:mc="http://schemas.openxmlformats.org/markup-compatibility/2006" xmlns:p159="http://schemas.microsoft.com/office/powerpoint/2015/09/main">
    <mc:Choice Requires="p159">
      <p:transition spd="slow" advTm="0">
        <p159:morph option="byObjec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0-#ppt_h/2"/>
                                          </p:val>
                                        </p:tav>
                                        <p:tav tm="100000">
                                          <p:val>
                                            <p:strVal val="#ppt_y"/>
                                          </p:val>
                                        </p:tav>
                                      </p:tavLst>
                                    </p:anim>
                                  </p:childTnLst>
                                </p:cTn>
                              </p:par>
                              <p:par>
                                <p:cTn id="9" presetID="9" presetClass="entr" presetSubtype="0" fill="hold" nodeType="with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dissolve">
                                      <p:cBhvr>
                                        <p:cTn id="11" dur="500"/>
                                        <p:tgtEl>
                                          <p:spTgt spid="33"/>
                                        </p:tgtEl>
                                      </p:cBhvr>
                                    </p:animEffect>
                                  </p:childTnLst>
                                </p:cTn>
                              </p:par>
                              <p:par>
                                <p:cTn id="12" presetID="2" presetClass="entr" presetSubtype="4" fill="hold" nodeType="withEffect">
                                  <p:stCondLst>
                                    <p:cond delay="0"/>
                                  </p:stCondLst>
                                  <p:childTnLst>
                                    <p:set>
                                      <p:cBhvr>
                                        <p:cTn id="13" dur="1" fill="hold">
                                          <p:stCondLst>
                                            <p:cond delay="0"/>
                                          </p:stCondLst>
                                        </p:cTn>
                                        <p:tgtEl>
                                          <p:spTgt spid="33"/>
                                        </p:tgtEl>
                                        <p:attrNameLst>
                                          <p:attrName>style.visibility</p:attrName>
                                        </p:attrNameLst>
                                      </p:cBhvr>
                                      <p:to>
                                        <p:strVal val="visible"/>
                                      </p:to>
                                    </p:set>
                                    <p:anim calcmode="lin" valueType="num">
                                      <p:cBhvr additive="base">
                                        <p:cTn id="14" dur="500" fill="hold"/>
                                        <p:tgtEl>
                                          <p:spTgt spid="33"/>
                                        </p:tgtEl>
                                        <p:attrNameLst>
                                          <p:attrName>ppt_x</p:attrName>
                                        </p:attrNameLst>
                                      </p:cBhvr>
                                      <p:tavLst>
                                        <p:tav tm="0">
                                          <p:val>
                                            <p:strVal val="#ppt_x"/>
                                          </p:val>
                                        </p:tav>
                                        <p:tav tm="100000">
                                          <p:val>
                                            <p:strVal val="#ppt_x"/>
                                          </p:val>
                                        </p:tav>
                                      </p:tavLst>
                                    </p:anim>
                                    <p:anim calcmode="lin" valueType="num">
                                      <p:cBhvr additive="base">
                                        <p:cTn id="15"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E67E7352-B98C-2C21-BAFE-0E927185B1A7}"/>
              </a:ext>
            </a:extLst>
          </p:cNvPr>
          <p:cNvSpPr txBox="1"/>
          <p:nvPr/>
        </p:nvSpPr>
        <p:spPr>
          <a:xfrm>
            <a:off x="299484" y="407551"/>
            <a:ext cx="1133324" cy="185564"/>
          </a:xfrm>
          <a:prstGeom prst="rect">
            <a:avLst/>
          </a:prstGeom>
          <a:noFill/>
        </p:spPr>
        <p:txBody>
          <a:bodyPr wrap="none" lIns="0" tIns="0" rIns="0" bIns="0" rtlCol="0">
            <a:spAutoFit/>
          </a:bodyPr>
          <a:lstStyle/>
          <a:p>
            <a:pPr marL="0" marR="0" lvl="0" indent="0" defTabSz="914400" rtl="0" eaLnBrk="1" fontAlgn="auto" latinLnBrk="0" hangingPunct="1">
              <a:lnSpc>
                <a:spcPct val="6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Darker Grotesque" pitchFamily="2" charset="0"/>
              </a:rPr>
              <a:t>Our Mission</a:t>
            </a:r>
          </a:p>
        </p:txBody>
      </p:sp>
      <p:grpSp>
        <p:nvGrpSpPr>
          <p:cNvPr id="28" name="Group 27">
            <a:extLst>
              <a:ext uri="{FF2B5EF4-FFF2-40B4-BE49-F238E27FC236}">
                <a16:creationId xmlns:a16="http://schemas.microsoft.com/office/drawing/2014/main" id="{0F3576EF-148D-4A7A-BD98-51879695CEED}"/>
              </a:ext>
            </a:extLst>
          </p:cNvPr>
          <p:cNvGrpSpPr/>
          <p:nvPr/>
        </p:nvGrpSpPr>
        <p:grpSpPr>
          <a:xfrm>
            <a:off x="299484" y="369986"/>
            <a:ext cx="11644423" cy="507586"/>
            <a:chOff x="299484" y="369986"/>
            <a:chExt cx="11644423" cy="507586"/>
          </a:xfrm>
        </p:grpSpPr>
        <p:cxnSp>
          <p:nvCxnSpPr>
            <p:cNvPr id="16" name="Straight Connector 15">
              <a:extLst>
                <a:ext uri="{FF2B5EF4-FFF2-40B4-BE49-F238E27FC236}">
                  <a16:creationId xmlns:a16="http://schemas.microsoft.com/office/drawing/2014/main" id="{22AC9991-262E-EF14-2026-D6AF9586B7A9}"/>
                </a:ext>
              </a:extLst>
            </p:cNvPr>
            <p:cNvCxnSpPr/>
            <p:nvPr/>
          </p:nvCxnSpPr>
          <p:spPr>
            <a:xfrm>
              <a:off x="299484" y="62377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nvGrpSpPr>
            <p:cNvPr id="25" name="!!problem">
              <a:extLst>
                <a:ext uri="{FF2B5EF4-FFF2-40B4-BE49-F238E27FC236}">
                  <a16:creationId xmlns:a16="http://schemas.microsoft.com/office/drawing/2014/main" id="{FBD1A3CB-98E3-CD6F-F329-948E5CF3261D}"/>
                </a:ext>
              </a:extLst>
            </p:cNvPr>
            <p:cNvGrpSpPr/>
            <p:nvPr/>
          </p:nvGrpSpPr>
          <p:grpSpPr>
            <a:xfrm>
              <a:off x="5842207" y="369986"/>
              <a:ext cx="507586" cy="507586"/>
              <a:chOff x="2240169" y="4083721"/>
              <a:chExt cx="507586" cy="507586"/>
            </a:xfrm>
          </p:grpSpPr>
          <p:sp useBgFill="1">
            <p:nvSpPr>
              <p:cNvPr id="26" name="Oval 25">
                <a:extLst>
                  <a:ext uri="{FF2B5EF4-FFF2-40B4-BE49-F238E27FC236}">
                    <a16:creationId xmlns:a16="http://schemas.microsoft.com/office/drawing/2014/main" id="{2A2DCA69-B059-83DD-8D11-155A7B88EF96}"/>
                  </a:ext>
                </a:extLst>
              </p:cNvPr>
              <p:cNvSpPr/>
              <p:nvPr/>
            </p:nvSpPr>
            <p:spPr>
              <a:xfrm>
                <a:off x="2240169" y="4083721"/>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27" name="Graphic 26">
                <a:extLst>
                  <a:ext uri="{FF2B5EF4-FFF2-40B4-BE49-F238E27FC236}">
                    <a16:creationId xmlns:a16="http://schemas.microsoft.com/office/drawing/2014/main" id="{CEAFF00E-6925-E474-3F33-908489A0E70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7962" y="4211514"/>
                <a:ext cx="252000" cy="252000"/>
              </a:xfrm>
              <a:prstGeom prst="rect">
                <a:avLst/>
              </a:prstGeom>
            </p:spPr>
          </p:pic>
        </p:grpSp>
      </p:grpSp>
      <p:grpSp>
        <p:nvGrpSpPr>
          <p:cNvPr id="38" name="Group 37">
            <a:extLst>
              <a:ext uri="{FF2B5EF4-FFF2-40B4-BE49-F238E27FC236}">
                <a16:creationId xmlns:a16="http://schemas.microsoft.com/office/drawing/2014/main" id="{EAD4500A-4F59-FB07-CB8F-F4F8DD2D8E39}"/>
              </a:ext>
            </a:extLst>
          </p:cNvPr>
          <p:cNvGrpSpPr/>
          <p:nvPr/>
        </p:nvGrpSpPr>
        <p:grpSpPr>
          <a:xfrm>
            <a:off x="928009" y="4280263"/>
            <a:ext cx="10587982" cy="1215076"/>
            <a:chOff x="928009" y="4662116"/>
            <a:chExt cx="10587982" cy="1215076"/>
          </a:xfrm>
        </p:grpSpPr>
        <p:sp>
          <p:nvSpPr>
            <p:cNvPr id="22" name="TextBox 21">
              <a:extLst>
                <a:ext uri="{FF2B5EF4-FFF2-40B4-BE49-F238E27FC236}">
                  <a16:creationId xmlns:a16="http://schemas.microsoft.com/office/drawing/2014/main" id="{5272F3D6-6A97-9D5A-6F15-D7FEBBC78182}"/>
                </a:ext>
              </a:extLst>
            </p:cNvPr>
            <p:cNvSpPr txBox="1"/>
            <p:nvPr/>
          </p:nvSpPr>
          <p:spPr>
            <a:xfrm>
              <a:off x="928009" y="4662116"/>
              <a:ext cx="10587982" cy="1030410"/>
            </a:xfrm>
            <a:prstGeom prst="rect">
              <a:avLst/>
            </a:prstGeom>
            <a:noFill/>
          </p:spPr>
          <p:txBody>
            <a:bodyPr wrap="square"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pPr algn="ctr"/>
              <a:r>
                <a:rPr lang="en-GB" sz="4800" dirty="0"/>
                <a:t>Connecting | Motivating | Empowering</a:t>
              </a:r>
            </a:p>
            <a:p>
              <a:pPr algn="ctr"/>
              <a:r>
                <a:rPr lang="en-GB" sz="4800" dirty="0"/>
                <a:t> </a:t>
              </a:r>
            </a:p>
          </p:txBody>
        </p:sp>
        <p:sp>
          <p:nvSpPr>
            <p:cNvPr id="30" name="TextBox 29">
              <a:extLst>
                <a:ext uri="{FF2B5EF4-FFF2-40B4-BE49-F238E27FC236}">
                  <a16:creationId xmlns:a16="http://schemas.microsoft.com/office/drawing/2014/main" id="{BC4722E0-F733-F7CF-E03B-EB78C812AC67}"/>
                </a:ext>
              </a:extLst>
            </p:cNvPr>
            <p:cNvSpPr txBox="1"/>
            <p:nvPr/>
          </p:nvSpPr>
          <p:spPr>
            <a:xfrm>
              <a:off x="3045280" y="5507860"/>
              <a:ext cx="6098720" cy="369332"/>
            </a:xfrm>
            <a:prstGeom prst="rect">
              <a:avLst/>
            </a:prstGeom>
            <a:noFill/>
          </p:spPr>
          <p:txBody>
            <a:bodyPr wrap="square">
              <a:spAutoFit/>
            </a:bodyPr>
            <a:lstStyle/>
            <a:p>
              <a:r>
                <a:rPr lang="en-GB" sz="1800" dirty="0">
                  <a:solidFill>
                    <a:schemeClr val="bg1"/>
                  </a:solidFill>
                </a:rPr>
                <a:t>the unemployed to find jobs through gamified real-world quest</a:t>
              </a:r>
              <a:endParaRPr lang="en-US" dirty="0">
                <a:solidFill>
                  <a:schemeClr val="bg1"/>
                </a:solidFill>
              </a:endParaRPr>
            </a:p>
          </p:txBody>
        </p:sp>
      </p:grpSp>
      <p:grpSp>
        <p:nvGrpSpPr>
          <p:cNvPr id="39" name="Group 38">
            <a:extLst>
              <a:ext uri="{FF2B5EF4-FFF2-40B4-BE49-F238E27FC236}">
                <a16:creationId xmlns:a16="http://schemas.microsoft.com/office/drawing/2014/main" id="{828AEBA9-658E-FEB3-EC75-191AB7EA9FBD}"/>
              </a:ext>
            </a:extLst>
          </p:cNvPr>
          <p:cNvGrpSpPr/>
          <p:nvPr/>
        </p:nvGrpSpPr>
        <p:grpSpPr>
          <a:xfrm>
            <a:off x="2175280" y="1916653"/>
            <a:ext cx="7838719" cy="1781530"/>
            <a:chOff x="2154366" y="2365606"/>
            <a:chExt cx="7838719" cy="1781530"/>
          </a:xfrm>
        </p:grpSpPr>
        <p:pic>
          <p:nvPicPr>
            <p:cNvPr id="32" name="Graphic 31" descr="Connected outline">
              <a:extLst>
                <a:ext uri="{FF2B5EF4-FFF2-40B4-BE49-F238E27FC236}">
                  <a16:creationId xmlns:a16="http://schemas.microsoft.com/office/drawing/2014/main" id="{61E3163C-2A33-2B47-1AD6-746531D024F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154366" y="2365606"/>
              <a:ext cx="1781530" cy="1781530"/>
            </a:xfrm>
            <a:prstGeom prst="rect">
              <a:avLst/>
            </a:prstGeom>
          </p:spPr>
        </p:pic>
        <p:pic>
          <p:nvPicPr>
            <p:cNvPr id="34" name="Graphic 33" descr="Full battery with solid fill">
              <a:extLst>
                <a:ext uri="{FF2B5EF4-FFF2-40B4-BE49-F238E27FC236}">
                  <a16:creationId xmlns:a16="http://schemas.microsoft.com/office/drawing/2014/main" id="{23AFB0ED-A080-4380-9209-1F922059A29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54411" y="2516143"/>
              <a:ext cx="1480457" cy="1480457"/>
            </a:xfrm>
            <a:prstGeom prst="rect">
              <a:avLst/>
            </a:prstGeom>
          </p:spPr>
        </p:pic>
        <p:pic>
          <p:nvPicPr>
            <p:cNvPr id="36" name="Graphic 35" descr="Sprouting Seed with solid fill">
              <a:extLst>
                <a:ext uri="{FF2B5EF4-FFF2-40B4-BE49-F238E27FC236}">
                  <a16:creationId xmlns:a16="http://schemas.microsoft.com/office/drawing/2014/main" id="{1E551624-A236-A811-FA01-3A0FA135C9D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784771" y="2652214"/>
              <a:ext cx="1208314" cy="1208314"/>
            </a:xfrm>
            <a:prstGeom prst="rect">
              <a:avLst/>
            </a:prstGeom>
          </p:spPr>
        </p:pic>
      </p:grpSp>
      <p:pic>
        <p:nvPicPr>
          <p:cNvPr id="40" name="Picture 39" descr="A close-up of a logo&#10;&#10;AI-generated content may be incorrect.">
            <a:extLst>
              <a:ext uri="{FF2B5EF4-FFF2-40B4-BE49-F238E27FC236}">
                <a16:creationId xmlns:a16="http://schemas.microsoft.com/office/drawing/2014/main" id="{237EBD51-AE79-8AE8-BA72-16C9AF3F8A1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523782" y="5974268"/>
            <a:ext cx="505929" cy="632979"/>
          </a:xfrm>
          <a:prstGeom prst="rect">
            <a:avLst/>
          </a:prstGeom>
        </p:spPr>
      </p:pic>
    </p:spTree>
    <p:extLst>
      <p:ext uri="{BB962C8B-B14F-4D97-AF65-F5344CB8AC3E}">
        <p14:creationId xmlns:p14="http://schemas.microsoft.com/office/powerpoint/2010/main" val="407603596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500" fill="hold"/>
                                        <p:tgtEl>
                                          <p:spTgt spid="40"/>
                                        </p:tgtEl>
                                        <p:attrNameLst>
                                          <p:attrName>ppt_x</p:attrName>
                                        </p:attrNameLst>
                                      </p:cBhvr>
                                      <p:tavLst>
                                        <p:tav tm="0">
                                          <p:val>
                                            <p:strVal val="#ppt_x"/>
                                          </p:val>
                                        </p:tav>
                                        <p:tav tm="100000">
                                          <p:val>
                                            <p:strVal val="#ppt_x"/>
                                          </p:val>
                                        </p:tav>
                                      </p:tavLst>
                                    </p:anim>
                                    <p:anim calcmode="lin" valueType="num">
                                      <p:cBhvr additive="base">
                                        <p:cTn id="8" dur="500" fill="hold"/>
                                        <p:tgtEl>
                                          <p:spTgt spid="40"/>
                                        </p:tgtEl>
                                        <p:attrNameLst>
                                          <p:attrName>ppt_y</p:attrName>
                                        </p:attrNameLst>
                                      </p:cBhvr>
                                      <p:tavLst>
                                        <p:tav tm="0">
                                          <p:val>
                                            <p:strVal val="0-#ppt_h/2"/>
                                          </p:val>
                                        </p:tav>
                                        <p:tav tm="100000">
                                          <p:val>
                                            <p:strVal val="#ppt_y"/>
                                          </p:val>
                                        </p:tav>
                                      </p:tavLst>
                                    </p:anim>
                                  </p:childTnLst>
                                </p:cTn>
                              </p:par>
                              <p:par>
                                <p:cTn id="9" presetID="9" presetClass="entr" presetSubtype="0" fill="hold" nodeType="with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dissolve">
                                      <p:cBhvr>
                                        <p:cTn id="11" dur="500"/>
                                        <p:tgtEl>
                                          <p:spTgt spid="40"/>
                                        </p:tgtEl>
                                      </p:cBhvr>
                                    </p:animEffect>
                                  </p:childTnLst>
                                </p:cTn>
                              </p:par>
                              <p:par>
                                <p:cTn id="12" presetID="2" presetClass="entr" presetSubtype="4" fill="hold" nodeType="withEffect">
                                  <p:stCondLst>
                                    <p:cond delay="0"/>
                                  </p:stCondLst>
                                  <p:childTnLst>
                                    <p:set>
                                      <p:cBhvr>
                                        <p:cTn id="13" dur="1" fill="hold">
                                          <p:stCondLst>
                                            <p:cond delay="0"/>
                                          </p:stCondLst>
                                        </p:cTn>
                                        <p:tgtEl>
                                          <p:spTgt spid="40"/>
                                        </p:tgtEl>
                                        <p:attrNameLst>
                                          <p:attrName>style.visibility</p:attrName>
                                        </p:attrNameLst>
                                      </p:cBhvr>
                                      <p:to>
                                        <p:strVal val="visible"/>
                                      </p:to>
                                    </p:set>
                                    <p:anim calcmode="lin" valueType="num">
                                      <p:cBhvr additive="base">
                                        <p:cTn id="14" dur="500" fill="hold"/>
                                        <p:tgtEl>
                                          <p:spTgt spid="40"/>
                                        </p:tgtEl>
                                        <p:attrNameLst>
                                          <p:attrName>ppt_x</p:attrName>
                                        </p:attrNameLst>
                                      </p:cBhvr>
                                      <p:tavLst>
                                        <p:tav tm="0">
                                          <p:val>
                                            <p:strVal val="#ppt_x"/>
                                          </p:val>
                                        </p:tav>
                                        <p:tav tm="100000">
                                          <p:val>
                                            <p:strVal val="#ppt_x"/>
                                          </p:val>
                                        </p:tav>
                                      </p:tavLst>
                                    </p:anim>
                                    <p:anim calcmode="lin" valueType="num">
                                      <p:cBhvr additive="base">
                                        <p:cTn id="15"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CCCD1D-24F7-7818-1BC1-F700A1D07CDD}"/>
              </a:ext>
            </a:extLst>
          </p:cNvPr>
          <p:cNvSpPr txBox="1"/>
          <p:nvPr/>
        </p:nvSpPr>
        <p:spPr>
          <a:xfrm>
            <a:off x="853475" y="1029544"/>
            <a:ext cx="10233049" cy="4953664"/>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9500" b="0" i="0" u="none" strike="noStrike" kern="0" cap="none" spc="0" normalizeH="0" baseline="0" noProof="0" dirty="0">
                <a:ln>
                  <a:noFill/>
                </a:ln>
                <a:solidFill>
                  <a:prstClr val="white"/>
                </a:solidFill>
                <a:effectLst/>
                <a:uLnTx/>
                <a:uFillTx/>
                <a:latin typeface="Darker Grotesque" pitchFamily="2" charset="0"/>
              </a:rPr>
              <a:t>User Personna</a:t>
            </a:r>
          </a:p>
        </p:txBody>
      </p:sp>
      <p:pic>
        <p:nvPicPr>
          <p:cNvPr id="43" name="Picture 42" descr="A close-up of a logo&#10;&#10;AI-generated content may be incorrect.">
            <a:extLst>
              <a:ext uri="{FF2B5EF4-FFF2-40B4-BE49-F238E27FC236}">
                <a16:creationId xmlns:a16="http://schemas.microsoft.com/office/drawing/2014/main" id="{831E4C23-9C22-6B3A-ED1F-E2B0F1FB4C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23782" y="5974268"/>
            <a:ext cx="505929" cy="632979"/>
          </a:xfrm>
          <a:prstGeom prst="rect">
            <a:avLst/>
          </a:prstGeom>
        </p:spPr>
      </p:pic>
    </p:spTree>
    <p:extLst>
      <p:ext uri="{BB962C8B-B14F-4D97-AF65-F5344CB8AC3E}">
        <p14:creationId xmlns:p14="http://schemas.microsoft.com/office/powerpoint/2010/main" val="2212010097"/>
      </p:ext>
    </p:extLst>
  </p:cSld>
  <p:clrMapOvr>
    <a:masterClrMapping/>
  </p:clrMapOvr>
  <mc:AlternateContent xmlns:mc="http://schemas.openxmlformats.org/markup-compatibility/2006" xmlns:p159="http://schemas.microsoft.com/office/powerpoint/2015/09/main">
    <mc:Choice Requires="p159">
      <p:transition spd="slow" advTm="0">
        <p159:morph option="byObjec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500" fill="hold"/>
                                        <p:tgtEl>
                                          <p:spTgt spid="43"/>
                                        </p:tgtEl>
                                        <p:attrNameLst>
                                          <p:attrName>ppt_x</p:attrName>
                                        </p:attrNameLst>
                                      </p:cBhvr>
                                      <p:tavLst>
                                        <p:tav tm="0">
                                          <p:val>
                                            <p:strVal val="#ppt_x"/>
                                          </p:val>
                                        </p:tav>
                                        <p:tav tm="100000">
                                          <p:val>
                                            <p:strVal val="#ppt_x"/>
                                          </p:val>
                                        </p:tav>
                                      </p:tavLst>
                                    </p:anim>
                                    <p:anim calcmode="lin" valueType="num">
                                      <p:cBhvr additive="base">
                                        <p:cTn id="8" dur="500" fill="hold"/>
                                        <p:tgtEl>
                                          <p:spTgt spid="43"/>
                                        </p:tgtEl>
                                        <p:attrNameLst>
                                          <p:attrName>ppt_y</p:attrName>
                                        </p:attrNameLst>
                                      </p:cBhvr>
                                      <p:tavLst>
                                        <p:tav tm="0">
                                          <p:val>
                                            <p:strVal val="0-#ppt_h/2"/>
                                          </p:val>
                                        </p:tav>
                                        <p:tav tm="100000">
                                          <p:val>
                                            <p:strVal val="#ppt_y"/>
                                          </p:val>
                                        </p:tav>
                                      </p:tavLst>
                                    </p:anim>
                                  </p:childTnLst>
                                </p:cTn>
                              </p:par>
                              <p:par>
                                <p:cTn id="9" presetID="9" presetClass="entr" presetSubtype="0" fill="hold" nodeType="with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dissolve">
                                      <p:cBhvr>
                                        <p:cTn id="11" dur="500"/>
                                        <p:tgtEl>
                                          <p:spTgt spid="43"/>
                                        </p:tgtEl>
                                      </p:cBhvr>
                                    </p:animEffect>
                                  </p:childTnLst>
                                </p:cTn>
                              </p:par>
                              <p:par>
                                <p:cTn id="12" presetID="2" presetClass="entr" presetSubtype="4" fill="hold" nodeType="withEffect">
                                  <p:stCondLst>
                                    <p:cond delay="0"/>
                                  </p:stCondLst>
                                  <p:childTnLst>
                                    <p:set>
                                      <p:cBhvr>
                                        <p:cTn id="13" dur="1" fill="hold">
                                          <p:stCondLst>
                                            <p:cond delay="0"/>
                                          </p:stCondLst>
                                        </p:cTn>
                                        <p:tgtEl>
                                          <p:spTgt spid="43"/>
                                        </p:tgtEl>
                                        <p:attrNameLst>
                                          <p:attrName>style.visibility</p:attrName>
                                        </p:attrNameLst>
                                      </p:cBhvr>
                                      <p:to>
                                        <p:strVal val="visible"/>
                                      </p:to>
                                    </p:set>
                                    <p:anim calcmode="lin" valueType="num">
                                      <p:cBhvr additive="base">
                                        <p:cTn id="14" dur="500" fill="hold"/>
                                        <p:tgtEl>
                                          <p:spTgt spid="43"/>
                                        </p:tgtEl>
                                        <p:attrNameLst>
                                          <p:attrName>ppt_x</p:attrName>
                                        </p:attrNameLst>
                                      </p:cBhvr>
                                      <p:tavLst>
                                        <p:tav tm="0">
                                          <p:val>
                                            <p:strVal val="#ppt_x"/>
                                          </p:val>
                                        </p:tav>
                                        <p:tav tm="100000">
                                          <p:val>
                                            <p:strVal val="#ppt_x"/>
                                          </p:val>
                                        </p:tav>
                                      </p:tavLst>
                                    </p:anim>
                                    <p:anim calcmode="lin" valueType="num">
                                      <p:cBhvr additive="base">
                                        <p:cTn id="15"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4F8D7-8437-B6CE-624B-E3D8192E614E}"/>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8F909B01-7ED9-365D-0295-8EDC33E62661}"/>
              </a:ext>
            </a:extLst>
          </p:cNvPr>
          <p:cNvSpPr txBox="1"/>
          <p:nvPr/>
        </p:nvSpPr>
        <p:spPr>
          <a:xfrm>
            <a:off x="299484" y="407551"/>
            <a:ext cx="1243930" cy="185564"/>
          </a:xfrm>
          <a:prstGeom prst="rect">
            <a:avLst/>
          </a:prstGeom>
          <a:noFill/>
        </p:spPr>
        <p:txBody>
          <a:bodyPr wrap="none" lIns="0" tIns="0" rIns="0" bIns="0" rtlCol="0">
            <a:spAutoFit/>
          </a:bodyPr>
          <a:lstStyle/>
          <a:p>
            <a:pPr marL="0" marR="0" lvl="0" indent="0" defTabSz="914400" rtl="0" eaLnBrk="1" fontAlgn="auto" latinLnBrk="0" hangingPunct="1">
              <a:lnSpc>
                <a:spcPct val="6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Darker Grotesque" pitchFamily="2" charset="0"/>
              </a:rPr>
              <a:t>User Persona</a:t>
            </a:r>
          </a:p>
        </p:txBody>
      </p:sp>
      <p:grpSp>
        <p:nvGrpSpPr>
          <p:cNvPr id="28" name="Group 27">
            <a:extLst>
              <a:ext uri="{FF2B5EF4-FFF2-40B4-BE49-F238E27FC236}">
                <a16:creationId xmlns:a16="http://schemas.microsoft.com/office/drawing/2014/main" id="{84CDCC9F-E2AD-476D-7A41-EF10FCA681F1}"/>
              </a:ext>
            </a:extLst>
          </p:cNvPr>
          <p:cNvGrpSpPr/>
          <p:nvPr/>
        </p:nvGrpSpPr>
        <p:grpSpPr>
          <a:xfrm>
            <a:off x="299484" y="369986"/>
            <a:ext cx="11644423" cy="507586"/>
            <a:chOff x="299484" y="369986"/>
            <a:chExt cx="11644423" cy="507586"/>
          </a:xfrm>
        </p:grpSpPr>
        <p:cxnSp>
          <p:nvCxnSpPr>
            <p:cNvPr id="16" name="Straight Connector 15">
              <a:extLst>
                <a:ext uri="{FF2B5EF4-FFF2-40B4-BE49-F238E27FC236}">
                  <a16:creationId xmlns:a16="http://schemas.microsoft.com/office/drawing/2014/main" id="{7F0391E7-7970-5C23-94B2-6FFAF9025254}"/>
                </a:ext>
              </a:extLst>
            </p:cNvPr>
            <p:cNvCxnSpPr/>
            <p:nvPr/>
          </p:nvCxnSpPr>
          <p:spPr>
            <a:xfrm>
              <a:off x="299484" y="62377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nvGrpSpPr>
            <p:cNvPr id="25" name="!!problem">
              <a:extLst>
                <a:ext uri="{FF2B5EF4-FFF2-40B4-BE49-F238E27FC236}">
                  <a16:creationId xmlns:a16="http://schemas.microsoft.com/office/drawing/2014/main" id="{BC18B219-CEEE-C7FE-DD00-E5905467C3CB}"/>
                </a:ext>
              </a:extLst>
            </p:cNvPr>
            <p:cNvGrpSpPr/>
            <p:nvPr/>
          </p:nvGrpSpPr>
          <p:grpSpPr>
            <a:xfrm>
              <a:off x="5842207" y="369986"/>
              <a:ext cx="507586" cy="507586"/>
              <a:chOff x="2240169" y="4083721"/>
              <a:chExt cx="507586" cy="507586"/>
            </a:xfrm>
          </p:grpSpPr>
          <p:sp useBgFill="1">
            <p:nvSpPr>
              <p:cNvPr id="26" name="Oval 25">
                <a:extLst>
                  <a:ext uri="{FF2B5EF4-FFF2-40B4-BE49-F238E27FC236}">
                    <a16:creationId xmlns:a16="http://schemas.microsoft.com/office/drawing/2014/main" id="{41885C89-2404-622A-C9B1-59204428EC5A}"/>
                  </a:ext>
                </a:extLst>
              </p:cNvPr>
              <p:cNvSpPr/>
              <p:nvPr/>
            </p:nvSpPr>
            <p:spPr>
              <a:xfrm>
                <a:off x="2240169" y="4083721"/>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27" name="Graphic 26">
                <a:extLst>
                  <a:ext uri="{FF2B5EF4-FFF2-40B4-BE49-F238E27FC236}">
                    <a16:creationId xmlns:a16="http://schemas.microsoft.com/office/drawing/2014/main" id="{FA8E2ADB-CBFF-77E4-F590-B0ED0F76B69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67962" y="4211514"/>
                <a:ext cx="252000" cy="252000"/>
              </a:xfrm>
              <a:prstGeom prst="rect">
                <a:avLst/>
              </a:prstGeom>
            </p:spPr>
          </p:pic>
        </p:grpSp>
      </p:grpSp>
      <p:pic>
        <p:nvPicPr>
          <p:cNvPr id="40" name="Picture 39" descr="A close-up of a logo&#10;&#10;AI-generated content may be incorrect.">
            <a:extLst>
              <a:ext uri="{FF2B5EF4-FFF2-40B4-BE49-F238E27FC236}">
                <a16:creationId xmlns:a16="http://schemas.microsoft.com/office/drawing/2014/main" id="{061385BD-EBDC-CBA6-1FD8-A61771F80D6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23782" y="5974268"/>
            <a:ext cx="505929" cy="632979"/>
          </a:xfrm>
          <a:prstGeom prst="rect">
            <a:avLst/>
          </a:prstGeom>
        </p:spPr>
      </p:pic>
      <p:sp>
        <p:nvSpPr>
          <p:cNvPr id="2" name="Google Shape;146;p17">
            <a:extLst>
              <a:ext uri="{FF2B5EF4-FFF2-40B4-BE49-F238E27FC236}">
                <a16:creationId xmlns:a16="http://schemas.microsoft.com/office/drawing/2014/main" id="{7F7F447B-EEDE-413D-4AE6-25B70F7BDDEE}"/>
              </a:ext>
            </a:extLst>
          </p:cNvPr>
          <p:cNvSpPr txBox="1">
            <a:spLocks/>
          </p:cNvSpPr>
          <p:nvPr/>
        </p:nvSpPr>
        <p:spPr>
          <a:xfrm>
            <a:off x="129120" y="851200"/>
            <a:ext cx="11318100" cy="771600"/>
          </a:xfrm>
          <a:prstGeom prst="rect">
            <a:avLst/>
          </a:prstGeom>
          <a:noFill/>
          <a:ln>
            <a:noFill/>
          </a:ln>
        </p:spPr>
        <p:txBody>
          <a:bodyPr spcFirstLastPara="1" wrap="square" lIns="91425" tIns="45700" rIns="91425" bIns="4570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rgbClr val="0F2342"/>
              </a:buClr>
              <a:buSzPts val="2800"/>
              <a:buFont typeface="Times New Roman"/>
              <a:buNone/>
            </a:pPr>
            <a:r>
              <a:rPr lang="en-US" sz="1400" dirty="0">
                <a:solidFill>
                  <a:schemeClr val="bg1"/>
                </a:solidFill>
                <a:latin typeface="Merriweather"/>
                <a:ea typeface="Merriweather"/>
                <a:cs typeface="Merriweather"/>
                <a:sym typeface="Merriweather"/>
              </a:rPr>
              <a:t>Recently Laid Off</a:t>
            </a:r>
            <a:endParaRPr lang="en-US" dirty="0">
              <a:solidFill>
                <a:schemeClr val="bg1"/>
              </a:solidFill>
              <a:latin typeface="Merriweather"/>
              <a:ea typeface="Merriweather"/>
              <a:cs typeface="Merriweather"/>
              <a:sym typeface="Merriweather"/>
            </a:endParaRPr>
          </a:p>
        </p:txBody>
      </p:sp>
      <p:sp>
        <p:nvSpPr>
          <p:cNvPr id="6" name="Google Shape;153;p17">
            <a:extLst>
              <a:ext uri="{FF2B5EF4-FFF2-40B4-BE49-F238E27FC236}">
                <a16:creationId xmlns:a16="http://schemas.microsoft.com/office/drawing/2014/main" id="{89DFC146-70A0-259E-A0A1-20D14A16DCEF}"/>
              </a:ext>
            </a:extLst>
          </p:cNvPr>
          <p:cNvSpPr txBox="1"/>
          <p:nvPr/>
        </p:nvSpPr>
        <p:spPr>
          <a:xfrm>
            <a:off x="8104938" y="4769425"/>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endParaRPr sz="2000">
              <a:solidFill>
                <a:schemeClr val="dk1"/>
              </a:solidFill>
              <a:latin typeface="Merriweather"/>
              <a:ea typeface="Merriweather"/>
              <a:cs typeface="Merriweather"/>
              <a:sym typeface="Merriweather"/>
            </a:endParaRPr>
          </a:p>
        </p:txBody>
      </p:sp>
      <p:sp>
        <p:nvSpPr>
          <p:cNvPr id="7" name="Google Shape;154;p17">
            <a:extLst>
              <a:ext uri="{FF2B5EF4-FFF2-40B4-BE49-F238E27FC236}">
                <a16:creationId xmlns:a16="http://schemas.microsoft.com/office/drawing/2014/main" id="{BB894EDC-99E6-13DB-D824-5C2CB392ECB8}"/>
              </a:ext>
            </a:extLst>
          </p:cNvPr>
          <p:cNvSpPr txBox="1"/>
          <p:nvPr/>
        </p:nvSpPr>
        <p:spPr>
          <a:xfrm>
            <a:off x="129128" y="805275"/>
            <a:ext cx="2875800" cy="5172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Clr>
                <a:schemeClr val="dk1"/>
              </a:buClr>
              <a:buSzPts val="1100"/>
              <a:buFont typeface="Arial"/>
              <a:buNone/>
            </a:pPr>
            <a:r>
              <a:rPr lang="en-US" sz="2400" b="1" dirty="0">
                <a:latin typeface="Merriweather"/>
                <a:ea typeface="Merriweather"/>
                <a:cs typeface="Merriweather"/>
                <a:sym typeface="Merriweather"/>
              </a:rPr>
              <a:t>Alex Thompson</a:t>
            </a:r>
            <a:endParaRPr sz="3100" b="1" dirty="0">
              <a:latin typeface="Merriweather"/>
              <a:ea typeface="Merriweather"/>
              <a:cs typeface="Merriweather"/>
              <a:sym typeface="Merriweather"/>
            </a:endParaRPr>
          </a:p>
        </p:txBody>
      </p:sp>
      <p:sp>
        <p:nvSpPr>
          <p:cNvPr id="9" name="Google Shape;156;p17">
            <a:extLst>
              <a:ext uri="{FF2B5EF4-FFF2-40B4-BE49-F238E27FC236}">
                <a16:creationId xmlns:a16="http://schemas.microsoft.com/office/drawing/2014/main" id="{B3489DE2-AEB9-7E1F-54C3-8F34672B2B25}"/>
              </a:ext>
            </a:extLst>
          </p:cNvPr>
          <p:cNvSpPr txBox="1"/>
          <p:nvPr/>
        </p:nvSpPr>
        <p:spPr>
          <a:xfrm>
            <a:off x="3069225" y="4849275"/>
            <a:ext cx="8672700" cy="364800"/>
          </a:xfrm>
          <a:prstGeom prst="rect">
            <a:avLst/>
          </a:prstGeom>
          <a:solidFill>
            <a:schemeClr val="tx1"/>
          </a:solid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n-US" sz="1300" b="1">
                <a:solidFill>
                  <a:schemeClr val="lt1"/>
                </a:solidFill>
                <a:latin typeface="Calibri"/>
                <a:ea typeface="Calibri"/>
                <a:cs typeface="Calibri"/>
                <a:sym typeface="Calibri"/>
              </a:rPr>
              <a:t>Solutions / Messages</a:t>
            </a:r>
            <a:endParaRPr sz="1300" b="1">
              <a:solidFill>
                <a:schemeClr val="lt1"/>
              </a:solidFill>
              <a:latin typeface="Calibri"/>
              <a:ea typeface="Calibri"/>
              <a:cs typeface="Calibri"/>
              <a:sym typeface="Calibri"/>
            </a:endParaRPr>
          </a:p>
        </p:txBody>
      </p:sp>
      <p:sp>
        <p:nvSpPr>
          <p:cNvPr id="10" name="Google Shape;157;p17">
            <a:extLst>
              <a:ext uri="{FF2B5EF4-FFF2-40B4-BE49-F238E27FC236}">
                <a16:creationId xmlns:a16="http://schemas.microsoft.com/office/drawing/2014/main" id="{754952ED-EF3B-14E8-D4FE-E7E797C72C7E}"/>
              </a:ext>
            </a:extLst>
          </p:cNvPr>
          <p:cNvSpPr txBox="1"/>
          <p:nvPr/>
        </p:nvSpPr>
        <p:spPr>
          <a:xfrm>
            <a:off x="3069225" y="2233169"/>
            <a:ext cx="3359050" cy="1031021"/>
          </a:xfrm>
          <a:prstGeom prst="rect">
            <a:avLst/>
          </a:prstGeom>
          <a:noFill/>
          <a:ln>
            <a:noFill/>
          </a:ln>
        </p:spPr>
        <p:txBody>
          <a:bodyPr spcFirstLastPara="1" wrap="square" lIns="91425" tIns="91425" rIns="91425" bIns="91425" anchor="t" anchorCtr="0">
            <a:spAutoFit/>
          </a:bodyPr>
          <a:lstStyle/>
          <a:p>
            <a:pPr marL="457200" lvl="0" indent="-298450" algn="l" rtl="0">
              <a:spcBef>
                <a:spcPts val="0"/>
              </a:spcBef>
              <a:spcAft>
                <a:spcPts val="0"/>
              </a:spcAft>
              <a:buClr>
                <a:schemeClr val="dk1"/>
              </a:buClr>
              <a:buSzPts val="1100"/>
              <a:buChar char="●"/>
            </a:pPr>
            <a:r>
              <a:rPr lang="en-US" sz="1100" dirty="0">
                <a:solidFill>
                  <a:schemeClr val="bg1"/>
                </a:solidFill>
              </a:rPr>
              <a:t>Turning career recovery into a structured</a:t>
            </a:r>
          </a:p>
          <a:p>
            <a:pPr marL="457200" lvl="0" indent="-298450" algn="l" rtl="0">
              <a:spcBef>
                <a:spcPts val="0"/>
              </a:spcBef>
              <a:spcAft>
                <a:spcPts val="0"/>
              </a:spcAft>
              <a:buClr>
                <a:schemeClr val="dk1"/>
              </a:buClr>
              <a:buSzPts val="1100"/>
              <a:buChar char="●"/>
            </a:pPr>
            <a:r>
              <a:rPr lang="en-US" sz="1100" dirty="0">
                <a:solidFill>
                  <a:schemeClr val="bg1"/>
                </a:solidFill>
              </a:rPr>
              <a:t>personal growth and networking</a:t>
            </a:r>
          </a:p>
          <a:p>
            <a:pPr marL="457200" lvl="0" indent="-298450" algn="l" rtl="0">
              <a:spcBef>
                <a:spcPts val="0"/>
              </a:spcBef>
              <a:spcAft>
                <a:spcPts val="0"/>
              </a:spcAft>
              <a:buClr>
                <a:schemeClr val="dk1"/>
              </a:buClr>
              <a:buSzPts val="1100"/>
              <a:buChar char="●"/>
            </a:pPr>
            <a:r>
              <a:rPr lang="en-US" sz="1100" dirty="0">
                <a:solidFill>
                  <a:schemeClr val="bg1"/>
                </a:solidFill>
              </a:rPr>
              <a:t>Exploring how community and mentorship</a:t>
            </a:r>
          </a:p>
          <a:p>
            <a:pPr marL="457200" lvl="0" indent="-298450" algn="l" rtl="0">
              <a:spcBef>
                <a:spcPts val="0"/>
              </a:spcBef>
              <a:spcAft>
                <a:spcPts val="0"/>
              </a:spcAft>
              <a:buClr>
                <a:schemeClr val="dk1"/>
              </a:buClr>
              <a:buSzPts val="1100"/>
              <a:buChar char="●"/>
            </a:pPr>
            <a:r>
              <a:rPr lang="en-US" sz="1100" dirty="0">
                <a:solidFill>
                  <a:schemeClr val="bg1"/>
                </a:solidFill>
              </a:rPr>
              <a:t>Using skill-building and self-improvement as a path to career success.</a:t>
            </a:r>
            <a:endParaRPr sz="1100" b="1" dirty="0">
              <a:solidFill>
                <a:schemeClr val="bg1"/>
              </a:solidFill>
            </a:endParaRPr>
          </a:p>
        </p:txBody>
      </p:sp>
      <p:sp>
        <p:nvSpPr>
          <p:cNvPr id="11" name="Google Shape;158;p17">
            <a:extLst>
              <a:ext uri="{FF2B5EF4-FFF2-40B4-BE49-F238E27FC236}">
                <a16:creationId xmlns:a16="http://schemas.microsoft.com/office/drawing/2014/main" id="{0A42C692-D060-27F1-09E2-2FF5C003BCEE}"/>
              </a:ext>
            </a:extLst>
          </p:cNvPr>
          <p:cNvSpPr txBox="1"/>
          <p:nvPr/>
        </p:nvSpPr>
        <p:spPr>
          <a:xfrm>
            <a:off x="8135024" y="3682100"/>
            <a:ext cx="3914945" cy="861744"/>
          </a:xfrm>
          <a:prstGeom prst="rect">
            <a:avLst/>
          </a:prstGeom>
          <a:noFill/>
          <a:ln>
            <a:noFill/>
          </a:ln>
        </p:spPr>
        <p:txBody>
          <a:bodyPr spcFirstLastPara="1" wrap="square" lIns="91425" tIns="91425" rIns="91425" bIns="91425" anchor="t" anchorCtr="0">
            <a:spAutoFit/>
          </a:bodyPr>
          <a:lstStyle/>
          <a:p>
            <a:pPr marL="457200" lvl="0" indent="-298450" algn="l" rtl="0">
              <a:spcBef>
                <a:spcPts val="0"/>
              </a:spcBef>
              <a:spcAft>
                <a:spcPts val="0"/>
              </a:spcAft>
              <a:buClr>
                <a:schemeClr val="dk1"/>
              </a:buClr>
              <a:buSzPts val="1100"/>
              <a:buChar char="●"/>
            </a:pPr>
            <a:r>
              <a:rPr lang="en-US" sz="1100" dirty="0">
                <a:solidFill>
                  <a:schemeClr val="bg1"/>
                </a:solidFill>
              </a:rPr>
              <a:t>Land a marketing job within three months.</a:t>
            </a:r>
          </a:p>
          <a:p>
            <a:pPr marL="457200" lvl="0" indent="-298450" algn="l" rtl="0">
              <a:spcBef>
                <a:spcPts val="0"/>
              </a:spcBef>
              <a:spcAft>
                <a:spcPts val="0"/>
              </a:spcAft>
              <a:buClr>
                <a:schemeClr val="dk1"/>
              </a:buClr>
              <a:buSzPts val="1100"/>
              <a:buChar char="●"/>
            </a:pPr>
            <a:r>
              <a:rPr lang="en-US" sz="1100" dirty="0">
                <a:solidFill>
                  <a:schemeClr val="bg1"/>
                </a:solidFill>
              </a:rPr>
              <a:t>Expand professional network beyond one company.</a:t>
            </a:r>
          </a:p>
          <a:p>
            <a:pPr marL="457200" lvl="0" indent="-298450" algn="l" rtl="0">
              <a:spcBef>
                <a:spcPts val="0"/>
              </a:spcBef>
              <a:spcAft>
                <a:spcPts val="0"/>
              </a:spcAft>
              <a:buClr>
                <a:schemeClr val="dk1"/>
              </a:buClr>
              <a:buSzPts val="1100"/>
              <a:buChar char="●"/>
            </a:pPr>
            <a:r>
              <a:rPr lang="en-US" sz="1100" dirty="0">
                <a:solidFill>
                  <a:schemeClr val="bg1"/>
                </a:solidFill>
              </a:rPr>
              <a:t>Gain new digital marketing skills for employability.</a:t>
            </a:r>
          </a:p>
          <a:p>
            <a:pPr marL="457200" lvl="0" indent="-298450" algn="l" rtl="0">
              <a:spcBef>
                <a:spcPts val="0"/>
              </a:spcBef>
              <a:spcAft>
                <a:spcPts val="0"/>
              </a:spcAft>
              <a:buClr>
                <a:schemeClr val="dk1"/>
              </a:buClr>
              <a:buSzPts val="1100"/>
              <a:buChar char="●"/>
            </a:pPr>
            <a:r>
              <a:rPr lang="en-US" sz="1100" dirty="0">
                <a:solidFill>
                  <a:schemeClr val="bg1"/>
                </a:solidFill>
              </a:rPr>
              <a:t>Reclaim purpose and accomplishment from past role.</a:t>
            </a:r>
            <a:endParaRPr sz="1100" dirty="0">
              <a:solidFill>
                <a:schemeClr val="bg1"/>
              </a:solidFill>
            </a:endParaRPr>
          </a:p>
        </p:txBody>
      </p:sp>
      <p:sp>
        <p:nvSpPr>
          <p:cNvPr id="12" name="Google Shape;159;p17">
            <a:extLst>
              <a:ext uri="{FF2B5EF4-FFF2-40B4-BE49-F238E27FC236}">
                <a16:creationId xmlns:a16="http://schemas.microsoft.com/office/drawing/2014/main" id="{787CD0D3-5DC2-EC2F-9289-A612FB0F109A}"/>
              </a:ext>
            </a:extLst>
          </p:cNvPr>
          <p:cNvSpPr txBox="1"/>
          <p:nvPr/>
        </p:nvSpPr>
        <p:spPr>
          <a:xfrm>
            <a:off x="3067024" y="3682100"/>
            <a:ext cx="4361619" cy="1031021"/>
          </a:xfrm>
          <a:prstGeom prst="rect">
            <a:avLst/>
          </a:prstGeom>
          <a:noFill/>
          <a:ln>
            <a:noFill/>
          </a:ln>
        </p:spPr>
        <p:txBody>
          <a:bodyPr spcFirstLastPara="1" wrap="square" lIns="91425" tIns="91425" rIns="91425" bIns="91425" anchor="t" anchorCtr="0">
            <a:spAutoFit/>
          </a:bodyPr>
          <a:lstStyle/>
          <a:p>
            <a:pPr marL="457200" lvl="0" indent="-298450" algn="l" rtl="0">
              <a:spcBef>
                <a:spcPts val="0"/>
              </a:spcBef>
              <a:spcAft>
                <a:spcPts val="0"/>
              </a:spcAft>
              <a:buClr>
                <a:schemeClr val="dk1"/>
              </a:buClr>
              <a:buSzPts val="1100"/>
              <a:buChar char="●"/>
            </a:pPr>
            <a:r>
              <a:rPr lang="en-US" sz="1100" dirty="0">
                <a:solidFill>
                  <a:schemeClr val="bg1"/>
                </a:solidFill>
              </a:rPr>
              <a:t>Rebuild professional identity after unexpected job loss.</a:t>
            </a:r>
          </a:p>
          <a:p>
            <a:pPr marL="457200" lvl="0" indent="-298450" algn="l" rtl="0">
              <a:spcBef>
                <a:spcPts val="0"/>
              </a:spcBef>
              <a:spcAft>
                <a:spcPts val="0"/>
              </a:spcAft>
              <a:buClr>
                <a:schemeClr val="dk1"/>
              </a:buClr>
              <a:buSzPts val="1100"/>
              <a:buChar char="●"/>
            </a:pPr>
            <a:r>
              <a:rPr lang="en-US" sz="1100" dirty="0">
                <a:solidFill>
                  <a:schemeClr val="bg1"/>
                </a:solidFill>
              </a:rPr>
              <a:t>Connect with supportive professionals.</a:t>
            </a:r>
          </a:p>
          <a:p>
            <a:pPr marL="457200" lvl="0" indent="-298450" algn="l" rtl="0">
              <a:spcBef>
                <a:spcPts val="0"/>
              </a:spcBef>
              <a:spcAft>
                <a:spcPts val="0"/>
              </a:spcAft>
              <a:buClr>
                <a:schemeClr val="dk1"/>
              </a:buClr>
              <a:buSzPts val="1100"/>
              <a:buChar char="●"/>
            </a:pPr>
            <a:r>
              <a:rPr lang="en-US" sz="1100" dirty="0">
                <a:solidFill>
                  <a:schemeClr val="bg1"/>
                </a:solidFill>
              </a:rPr>
              <a:t>Stay skilled and relevant during job search.</a:t>
            </a:r>
          </a:p>
          <a:p>
            <a:pPr marL="457200" lvl="0" indent="-298450" algn="l" rtl="0">
              <a:spcBef>
                <a:spcPts val="0"/>
              </a:spcBef>
              <a:spcAft>
                <a:spcPts val="0"/>
              </a:spcAft>
              <a:buClr>
                <a:schemeClr val="dk1"/>
              </a:buClr>
              <a:buSzPts val="1100"/>
              <a:buChar char="●"/>
            </a:pPr>
            <a:r>
              <a:rPr lang="en-US" sz="1100" dirty="0">
                <a:solidFill>
                  <a:schemeClr val="bg1"/>
                </a:solidFill>
              </a:rPr>
              <a:t>Establish a routine to avoid aimlessness.</a:t>
            </a:r>
          </a:p>
          <a:p>
            <a:pPr marL="457200" lvl="0" indent="-298450" algn="l" rtl="0">
              <a:spcBef>
                <a:spcPts val="0"/>
              </a:spcBef>
              <a:spcAft>
                <a:spcPts val="0"/>
              </a:spcAft>
              <a:buClr>
                <a:schemeClr val="dk1"/>
              </a:buClr>
              <a:buSzPts val="1100"/>
              <a:buChar char="●"/>
            </a:pPr>
            <a:endParaRPr lang="en-US" sz="1100" dirty="0">
              <a:solidFill>
                <a:schemeClr val="bg1"/>
              </a:solidFill>
            </a:endParaRPr>
          </a:p>
        </p:txBody>
      </p:sp>
      <p:sp>
        <p:nvSpPr>
          <p:cNvPr id="14" name="Google Shape;161;p17">
            <a:extLst>
              <a:ext uri="{FF2B5EF4-FFF2-40B4-BE49-F238E27FC236}">
                <a16:creationId xmlns:a16="http://schemas.microsoft.com/office/drawing/2014/main" id="{B158B594-CD8B-EF24-E470-7BA1DFBF653F}"/>
              </a:ext>
            </a:extLst>
          </p:cNvPr>
          <p:cNvSpPr txBox="1"/>
          <p:nvPr/>
        </p:nvSpPr>
        <p:spPr>
          <a:xfrm>
            <a:off x="3115125" y="5578173"/>
            <a:ext cx="14496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100" b="1" dirty="0">
                <a:solidFill>
                  <a:schemeClr val="bg1"/>
                </a:solidFill>
              </a:rPr>
              <a:t>Transform</a:t>
            </a:r>
            <a:r>
              <a:rPr lang="en-US" sz="1100" dirty="0">
                <a:solidFill>
                  <a:schemeClr val="bg1"/>
                </a:solidFill>
              </a:rPr>
              <a:t> - Unlock leadership potential.</a:t>
            </a:r>
            <a:endParaRPr dirty="0">
              <a:solidFill>
                <a:schemeClr val="bg1"/>
              </a:solidFill>
            </a:endParaRPr>
          </a:p>
        </p:txBody>
      </p:sp>
      <p:sp>
        <p:nvSpPr>
          <p:cNvPr id="19" name="Google Shape;164;p17">
            <a:extLst>
              <a:ext uri="{FF2B5EF4-FFF2-40B4-BE49-F238E27FC236}">
                <a16:creationId xmlns:a16="http://schemas.microsoft.com/office/drawing/2014/main" id="{87D2071E-93E2-4113-64BD-498088192D9D}"/>
              </a:ext>
            </a:extLst>
          </p:cNvPr>
          <p:cNvSpPr txBox="1"/>
          <p:nvPr/>
        </p:nvSpPr>
        <p:spPr>
          <a:xfrm>
            <a:off x="5613050" y="5578173"/>
            <a:ext cx="13002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100" b="1">
                <a:solidFill>
                  <a:schemeClr val="bg1"/>
                </a:solidFill>
              </a:rPr>
              <a:t>Empower</a:t>
            </a:r>
            <a:r>
              <a:rPr lang="en-US" sz="1100">
                <a:solidFill>
                  <a:schemeClr val="bg1"/>
                </a:solidFill>
              </a:rPr>
              <a:t> - Drive personal growth.</a:t>
            </a:r>
            <a:endParaRPr>
              <a:solidFill>
                <a:schemeClr val="bg1"/>
              </a:solidFill>
            </a:endParaRPr>
          </a:p>
        </p:txBody>
      </p:sp>
      <p:sp>
        <p:nvSpPr>
          <p:cNvPr id="23" name="Google Shape;167;p17">
            <a:extLst>
              <a:ext uri="{FF2B5EF4-FFF2-40B4-BE49-F238E27FC236}">
                <a16:creationId xmlns:a16="http://schemas.microsoft.com/office/drawing/2014/main" id="{F66A4355-24A6-5240-EE37-98A77DC5FE84}"/>
              </a:ext>
            </a:extLst>
          </p:cNvPr>
          <p:cNvSpPr txBox="1"/>
          <p:nvPr/>
        </p:nvSpPr>
        <p:spPr>
          <a:xfrm>
            <a:off x="7961575" y="5578167"/>
            <a:ext cx="13674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100" b="1">
                <a:solidFill>
                  <a:schemeClr val="bg1"/>
                </a:solidFill>
              </a:rPr>
              <a:t>Inspire</a:t>
            </a:r>
            <a:r>
              <a:rPr lang="en-US" sz="1100">
                <a:solidFill>
                  <a:schemeClr val="bg1"/>
                </a:solidFill>
              </a:rPr>
              <a:t> - Motivate team success.</a:t>
            </a:r>
            <a:endParaRPr>
              <a:solidFill>
                <a:schemeClr val="bg1"/>
              </a:solidFill>
            </a:endParaRPr>
          </a:p>
        </p:txBody>
      </p:sp>
      <p:sp>
        <p:nvSpPr>
          <p:cNvPr id="31" name="Google Shape;170;p17">
            <a:extLst>
              <a:ext uri="{FF2B5EF4-FFF2-40B4-BE49-F238E27FC236}">
                <a16:creationId xmlns:a16="http://schemas.microsoft.com/office/drawing/2014/main" id="{ABA2C702-D5AA-60FA-D50C-ADCF31AAE01F}"/>
              </a:ext>
            </a:extLst>
          </p:cNvPr>
          <p:cNvSpPr txBox="1"/>
          <p:nvPr/>
        </p:nvSpPr>
        <p:spPr>
          <a:xfrm>
            <a:off x="10377299" y="5578173"/>
            <a:ext cx="1482725"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100" b="1" dirty="0">
                <a:solidFill>
                  <a:schemeClr val="bg1"/>
                </a:solidFill>
              </a:rPr>
              <a:t>Achieve</a:t>
            </a:r>
            <a:r>
              <a:rPr lang="en-US" sz="1100" dirty="0">
                <a:solidFill>
                  <a:schemeClr val="bg1"/>
                </a:solidFill>
              </a:rPr>
              <a:t> - Reach measurable goals.</a:t>
            </a:r>
            <a:endParaRPr dirty="0">
              <a:solidFill>
                <a:schemeClr val="bg1"/>
              </a:solidFill>
            </a:endParaRPr>
          </a:p>
        </p:txBody>
      </p:sp>
      <p:sp>
        <p:nvSpPr>
          <p:cNvPr id="35" name="Google Shape;172;p17">
            <a:extLst>
              <a:ext uri="{FF2B5EF4-FFF2-40B4-BE49-F238E27FC236}">
                <a16:creationId xmlns:a16="http://schemas.microsoft.com/office/drawing/2014/main" id="{F2923D60-8ADE-0F61-7396-8AAED22CF009}"/>
              </a:ext>
            </a:extLst>
          </p:cNvPr>
          <p:cNvSpPr txBox="1"/>
          <p:nvPr/>
        </p:nvSpPr>
        <p:spPr>
          <a:xfrm>
            <a:off x="3069225" y="937125"/>
            <a:ext cx="8672700" cy="351000"/>
          </a:xfrm>
          <a:prstGeom prst="rect">
            <a:avLst/>
          </a:prstGeom>
          <a:solidFill>
            <a:schemeClr val="tx1"/>
          </a:solid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n-US" sz="1200" b="1">
                <a:solidFill>
                  <a:schemeClr val="lt1"/>
                </a:solidFill>
                <a:latin typeface="Calibri"/>
                <a:ea typeface="Calibri"/>
                <a:cs typeface="Calibri"/>
                <a:sym typeface="Calibri"/>
              </a:rPr>
              <a:t>Background/ Demographics</a:t>
            </a:r>
            <a:endParaRPr sz="1200" b="1">
              <a:solidFill>
                <a:schemeClr val="lt1"/>
              </a:solidFill>
              <a:latin typeface="Calibri"/>
              <a:ea typeface="Calibri"/>
              <a:cs typeface="Calibri"/>
              <a:sym typeface="Calibri"/>
            </a:endParaRPr>
          </a:p>
        </p:txBody>
      </p:sp>
      <p:sp>
        <p:nvSpPr>
          <p:cNvPr id="37" name="Google Shape;173;p17">
            <a:extLst>
              <a:ext uri="{FF2B5EF4-FFF2-40B4-BE49-F238E27FC236}">
                <a16:creationId xmlns:a16="http://schemas.microsoft.com/office/drawing/2014/main" id="{08D9DC5C-C8C4-30C6-8C90-14A9FB41D54C}"/>
              </a:ext>
            </a:extLst>
          </p:cNvPr>
          <p:cNvSpPr txBox="1"/>
          <p:nvPr/>
        </p:nvSpPr>
        <p:spPr>
          <a:xfrm>
            <a:off x="3069225" y="1941075"/>
            <a:ext cx="2980200" cy="351000"/>
          </a:xfrm>
          <a:prstGeom prst="rect">
            <a:avLst/>
          </a:prstGeom>
          <a:solidFill>
            <a:schemeClr val="tx1"/>
          </a:solid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n-US" sz="1200" b="1">
                <a:solidFill>
                  <a:schemeClr val="lt1"/>
                </a:solidFill>
                <a:latin typeface="Calibri"/>
                <a:ea typeface="Calibri"/>
                <a:cs typeface="Calibri"/>
                <a:sym typeface="Calibri"/>
              </a:rPr>
              <a:t>Interests</a:t>
            </a:r>
            <a:endParaRPr sz="1200" b="1">
              <a:solidFill>
                <a:schemeClr val="lt1"/>
              </a:solidFill>
              <a:latin typeface="Calibri"/>
              <a:ea typeface="Calibri"/>
              <a:cs typeface="Calibri"/>
              <a:sym typeface="Calibri"/>
            </a:endParaRPr>
          </a:p>
        </p:txBody>
      </p:sp>
      <p:sp>
        <p:nvSpPr>
          <p:cNvPr id="41" name="Google Shape;175;p17">
            <a:extLst>
              <a:ext uri="{FF2B5EF4-FFF2-40B4-BE49-F238E27FC236}">
                <a16:creationId xmlns:a16="http://schemas.microsoft.com/office/drawing/2014/main" id="{64F9CD6A-DE6F-D23D-6356-E53F7BC92E24}"/>
              </a:ext>
            </a:extLst>
          </p:cNvPr>
          <p:cNvSpPr txBox="1"/>
          <p:nvPr/>
        </p:nvSpPr>
        <p:spPr>
          <a:xfrm>
            <a:off x="8134850" y="2242825"/>
            <a:ext cx="3922914" cy="861744"/>
          </a:xfrm>
          <a:prstGeom prst="rect">
            <a:avLst/>
          </a:prstGeom>
          <a:noFill/>
          <a:ln>
            <a:noFill/>
          </a:ln>
        </p:spPr>
        <p:txBody>
          <a:bodyPr spcFirstLastPara="1" wrap="square" lIns="91425" tIns="91425" rIns="91425" bIns="91425" anchor="t" anchorCtr="0">
            <a:spAutoFit/>
          </a:bodyPr>
          <a:lstStyle/>
          <a:p>
            <a:pPr marL="457200" lvl="0" indent="-298450" algn="l" rtl="0">
              <a:spcBef>
                <a:spcPts val="0"/>
              </a:spcBef>
              <a:spcAft>
                <a:spcPts val="0"/>
              </a:spcAft>
              <a:buClr>
                <a:schemeClr val="dk1"/>
              </a:buClr>
              <a:buSzPts val="1100"/>
              <a:buChar char="●"/>
            </a:pPr>
            <a:r>
              <a:rPr lang="en-US" sz="1100" dirty="0">
                <a:solidFill>
                  <a:schemeClr val="bg1"/>
                </a:solidFill>
              </a:rPr>
              <a:t>Lost primary social circle after layoff.</a:t>
            </a:r>
          </a:p>
          <a:p>
            <a:pPr marL="457200" lvl="0" indent="-298450" algn="l" rtl="0">
              <a:spcBef>
                <a:spcPts val="0"/>
              </a:spcBef>
              <a:spcAft>
                <a:spcPts val="0"/>
              </a:spcAft>
              <a:buClr>
                <a:schemeClr val="dk1"/>
              </a:buClr>
              <a:buSzPts val="1100"/>
              <a:buChar char="●"/>
            </a:pPr>
            <a:r>
              <a:rPr lang="en-US" sz="1100" dirty="0">
                <a:solidFill>
                  <a:schemeClr val="bg1"/>
                </a:solidFill>
              </a:rPr>
              <a:t>Anxious about finances (mortgage &amp; loans).</a:t>
            </a:r>
          </a:p>
          <a:p>
            <a:pPr marL="457200" lvl="0" indent="-298450" algn="l" rtl="0">
              <a:spcBef>
                <a:spcPts val="0"/>
              </a:spcBef>
              <a:spcAft>
                <a:spcPts val="0"/>
              </a:spcAft>
              <a:buClr>
                <a:schemeClr val="dk1"/>
              </a:buClr>
              <a:buSzPts val="1100"/>
              <a:buChar char="●"/>
            </a:pPr>
            <a:r>
              <a:rPr lang="en-US" sz="1100" dirty="0">
                <a:solidFill>
                  <a:schemeClr val="bg1"/>
                </a:solidFill>
              </a:rPr>
              <a:t>Feels like a failure despite company-related layoff.</a:t>
            </a:r>
          </a:p>
          <a:p>
            <a:pPr marL="457200" lvl="0" indent="-298450" algn="l" rtl="0">
              <a:spcBef>
                <a:spcPts val="0"/>
              </a:spcBef>
              <a:spcAft>
                <a:spcPts val="0"/>
              </a:spcAft>
              <a:buClr>
                <a:schemeClr val="dk1"/>
              </a:buClr>
              <a:buSzPts val="1100"/>
              <a:buChar char="●"/>
            </a:pPr>
            <a:r>
              <a:rPr lang="en-US" sz="1100" dirty="0">
                <a:solidFill>
                  <a:schemeClr val="bg1"/>
                </a:solidFill>
              </a:rPr>
              <a:t>Struggles to explain employment gap in interviews.</a:t>
            </a:r>
            <a:endParaRPr sz="1100" dirty="0">
              <a:solidFill>
                <a:schemeClr val="bg1"/>
              </a:solidFill>
            </a:endParaRPr>
          </a:p>
        </p:txBody>
      </p:sp>
      <p:sp>
        <p:nvSpPr>
          <p:cNvPr id="42" name="Google Shape;176;p17">
            <a:extLst>
              <a:ext uri="{FF2B5EF4-FFF2-40B4-BE49-F238E27FC236}">
                <a16:creationId xmlns:a16="http://schemas.microsoft.com/office/drawing/2014/main" id="{E1BA03FE-FC1F-734F-30A6-BE9B431C0CBA}"/>
              </a:ext>
            </a:extLst>
          </p:cNvPr>
          <p:cNvSpPr txBox="1"/>
          <p:nvPr/>
        </p:nvSpPr>
        <p:spPr>
          <a:xfrm>
            <a:off x="8134875" y="1941075"/>
            <a:ext cx="3606900" cy="351000"/>
          </a:xfrm>
          <a:prstGeom prst="rect">
            <a:avLst/>
          </a:prstGeom>
          <a:solidFill>
            <a:schemeClr val="tx1"/>
          </a:solid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n-US" sz="1200" b="1" dirty="0">
                <a:solidFill>
                  <a:schemeClr val="lt1"/>
                </a:solidFill>
                <a:latin typeface="Calibri"/>
                <a:ea typeface="Calibri"/>
                <a:cs typeface="Calibri"/>
                <a:sym typeface="Calibri"/>
              </a:rPr>
              <a:t>Challenges &amp; Struggles:</a:t>
            </a:r>
          </a:p>
        </p:txBody>
      </p:sp>
      <p:sp>
        <p:nvSpPr>
          <p:cNvPr id="43" name="Google Shape;177;p17">
            <a:extLst>
              <a:ext uri="{FF2B5EF4-FFF2-40B4-BE49-F238E27FC236}">
                <a16:creationId xmlns:a16="http://schemas.microsoft.com/office/drawing/2014/main" id="{4C305A9D-F31D-32DE-559E-0C489F8C557E}"/>
              </a:ext>
            </a:extLst>
          </p:cNvPr>
          <p:cNvSpPr txBox="1"/>
          <p:nvPr/>
        </p:nvSpPr>
        <p:spPr>
          <a:xfrm>
            <a:off x="3069224" y="3351350"/>
            <a:ext cx="3945033" cy="351000"/>
          </a:xfrm>
          <a:prstGeom prst="rect">
            <a:avLst/>
          </a:prstGeom>
          <a:solidFill>
            <a:schemeClr val="tx1"/>
          </a:solid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n-US" sz="1200" b="1" dirty="0">
                <a:solidFill>
                  <a:schemeClr val="lt1"/>
                </a:solidFill>
                <a:latin typeface="Calibri"/>
                <a:ea typeface="Calibri"/>
                <a:cs typeface="Calibri"/>
                <a:sym typeface="Calibri"/>
              </a:rPr>
              <a:t>Motivation</a:t>
            </a:r>
            <a:endParaRPr sz="1200" b="1" dirty="0">
              <a:solidFill>
                <a:schemeClr val="lt1"/>
              </a:solidFill>
              <a:latin typeface="Calibri"/>
              <a:ea typeface="Calibri"/>
              <a:cs typeface="Calibri"/>
              <a:sym typeface="Calibri"/>
            </a:endParaRPr>
          </a:p>
        </p:txBody>
      </p:sp>
      <p:sp>
        <p:nvSpPr>
          <p:cNvPr id="44" name="Google Shape;178;p17">
            <a:extLst>
              <a:ext uri="{FF2B5EF4-FFF2-40B4-BE49-F238E27FC236}">
                <a16:creationId xmlns:a16="http://schemas.microsoft.com/office/drawing/2014/main" id="{2AEFB8BC-A7DF-20B1-CBE0-C3BDC73321C5}"/>
              </a:ext>
            </a:extLst>
          </p:cNvPr>
          <p:cNvSpPr txBox="1"/>
          <p:nvPr/>
        </p:nvSpPr>
        <p:spPr>
          <a:xfrm>
            <a:off x="8135025" y="3351350"/>
            <a:ext cx="3606900" cy="351000"/>
          </a:xfrm>
          <a:prstGeom prst="rect">
            <a:avLst/>
          </a:prstGeom>
          <a:solidFill>
            <a:schemeClr val="tx1"/>
          </a:solid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n-US" sz="1200" b="1" dirty="0">
                <a:solidFill>
                  <a:schemeClr val="lt1"/>
                </a:solidFill>
                <a:latin typeface="Calibri"/>
                <a:ea typeface="Calibri"/>
                <a:cs typeface="Calibri"/>
                <a:sym typeface="Calibri"/>
              </a:rPr>
              <a:t>Goals</a:t>
            </a:r>
            <a:endParaRPr sz="1200" b="1" dirty="0">
              <a:solidFill>
                <a:schemeClr val="lt1"/>
              </a:solidFill>
              <a:latin typeface="Calibri"/>
              <a:ea typeface="Calibri"/>
              <a:cs typeface="Calibri"/>
              <a:sym typeface="Calibri"/>
            </a:endParaRPr>
          </a:p>
        </p:txBody>
      </p:sp>
      <p:sp>
        <p:nvSpPr>
          <p:cNvPr id="46" name="Google Shape;180;p17">
            <a:extLst>
              <a:ext uri="{FF2B5EF4-FFF2-40B4-BE49-F238E27FC236}">
                <a16:creationId xmlns:a16="http://schemas.microsoft.com/office/drawing/2014/main" id="{FD4B8794-49BB-B68E-3615-32B928062E05}"/>
              </a:ext>
            </a:extLst>
          </p:cNvPr>
          <p:cNvSpPr txBox="1"/>
          <p:nvPr/>
        </p:nvSpPr>
        <p:spPr>
          <a:xfrm>
            <a:off x="3282264" y="1388900"/>
            <a:ext cx="1282621"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100" b="1" dirty="0">
                <a:solidFill>
                  <a:schemeClr val="bg1"/>
                </a:solidFill>
              </a:rPr>
              <a:t>Age:</a:t>
            </a:r>
            <a:r>
              <a:rPr lang="en-US" sz="1100" dirty="0">
                <a:solidFill>
                  <a:schemeClr val="bg1"/>
                </a:solidFill>
              </a:rPr>
              <a:t> 34 years   </a:t>
            </a:r>
            <a:endParaRPr sz="1100" dirty="0">
              <a:solidFill>
                <a:schemeClr val="bg1"/>
              </a:solidFill>
            </a:endParaRPr>
          </a:p>
        </p:txBody>
      </p:sp>
      <p:sp>
        <p:nvSpPr>
          <p:cNvPr id="50" name="Google Shape;184;p17">
            <a:extLst>
              <a:ext uri="{FF2B5EF4-FFF2-40B4-BE49-F238E27FC236}">
                <a16:creationId xmlns:a16="http://schemas.microsoft.com/office/drawing/2014/main" id="{BCED6959-DD31-F8A6-319B-87C3E419E1CD}"/>
              </a:ext>
            </a:extLst>
          </p:cNvPr>
          <p:cNvSpPr txBox="1"/>
          <p:nvPr/>
        </p:nvSpPr>
        <p:spPr>
          <a:xfrm>
            <a:off x="5262951" y="1388900"/>
            <a:ext cx="1836063"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100" b="1">
                <a:solidFill>
                  <a:schemeClr val="bg1"/>
                </a:solidFill>
              </a:rPr>
              <a:t>Location:</a:t>
            </a:r>
            <a:r>
              <a:rPr lang="en-US" sz="1100">
                <a:solidFill>
                  <a:schemeClr val="bg1"/>
                </a:solidFill>
              </a:rPr>
              <a:t> Cincinnati, OH</a:t>
            </a:r>
            <a:endParaRPr>
              <a:solidFill>
                <a:schemeClr val="bg1"/>
              </a:solidFill>
            </a:endParaRPr>
          </a:p>
        </p:txBody>
      </p:sp>
      <p:sp>
        <p:nvSpPr>
          <p:cNvPr id="53" name="Google Shape;187;p17">
            <a:extLst>
              <a:ext uri="{FF2B5EF4-FFF2-40B4-BE49-F238E27FC236}">
                <a16:creationId xmlns:a16="http://schemas.microsoft.com/office/drawing/2014/main" id="{4E5E29C7-3B8A-4DB8-14A1-76FB1E8D6F27}"/>
              </a:ext>
            </a:extLst>
          </p:cNvPr>
          <p:cNvSpPr txBox="1"/>
          <p:nvPr/>
        </p:nvSpPr>
        <p:spPr>
          <a:xfrm>
            <a:off x="7683529" y="1365800"/>
            <a:ext cx="2144700"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dirty="0">
                <a:solidFill>
                  <a:schemeClr val="bg1"/>
                </a:solidFill>
              </a:rPr>
              <a:t> </a:t>
            </a:r>
            <a:r>
              <a:rPr lang="en-US" sz="1100" b="1" dirty="0">
                <a:solidFill>
                  <a:schemeClr val="bg1"/>
                </a:solidFill>
              </a:rPr>
              <a:t>Occupation: </a:t>
            </a:r>
            <a:r>
              <a:rPr lang="en-US" sz="1100" dirty="0">
                <a:solidFill>
                  <a:schemeClr val="bg1"/>
                </a:solidFill>
              </a:rPr>
              <a:t>Ex- Project manager </a:t>
            </a:r>
            <a:endParaRPr dirty="0">
              <a:solidFill>
                <a:schemeClr val="bg1"/>
              </a:solidFill>
            </a:endParaRPr>
          </a:p>
        </p:txBody>
      </p:sp>
      <p:grpSp>
        <p:nvGrpSpPr>
          <p:cNvPr id="54" name="Google Shape;188;p17">
            <a:extLst>
              <a:ext uri="{FF2B5EF4-FFF2-40B4-BE49-F238E27FC236}">
                <a16:creationId xmlns:a16="http://schemas.microsoft.com/office/drawing/2014/main" id="{4A993621-078D-B659-6438-140D2A095835}"/>
              </a:ext>
            </a:extLst>
          </p:cNvPr>
          <p:cNvGrpSpPr/>
          <p:nvPr/>
        </p:nvGrpSpPr>
        <p:grpSpPr>
          <a:xfrm>
            <a:off x="10260500" y="1388900"/>
            <a:ext cx="1481250" cy="354000"/>
            <a:chOff x="10260500" y="1312713"/>
            <a:chExt cx="1481250" cy="354000"/>
          </a:xfrm>
        </p:grpSpPr>
        <p:pic>
          <p:nvPicPr>
            <p:cNvPr id="55" name="Google Shape;189;p17">
              <a:extLst>
                <a:ext uri="{FF2B5EF4-FFF2-40B4-BE49-F238E27FC236}">
                  <a16:creationId xmlns:a16="http://schemas.microsoft.com/office/drawing/2014/main" id="{BE9033B6-A722-F8F4-FF2E-52EAD49562E2}"/>
                </a:ext>
              </a:extLst>
            </p:cNvPr>
            <p:cNvPicPr preferRelativeResize="0"/>
            <p:nvPr/>
          </p:nvPicPr>
          <p:blipFill>
            <a:blip r:embed="rId6">
              <a:alphaModFix/>
            </a:blip>
            <a:stretch>
              <a:fillRect/>
            </a:stretch>
          </p:blipFill>
          <p:spPr>
            <a:xfrm>
              <a:off x="10260500" y="1363736"/>
              <a:ext cx="299250" cy="251953"/>
            </a:xfrm>
            <a:prstGeom prst="rect">
              <a:avLst/>
            </a:prstGeom>
            <a:noFill/>
            <a:ln>
              <a:noFill/>
            </a:ln>
          </p:spPr>
        </p:pic>
        <p:sp>
          <p:nvSpPr>
            <p:cNvPr id="56" name="Google Shape;190;p17">
              <a:extLst>
                <a:ext uri="{FF2B5EF4-FFF2-40B4-BE49-F238E27FC236}">
                  <a16:creationId xmlns:a16="http://schemas.microsoft.com/office/drawing/2014/main" id="{8DA15605-EA4F-68AB-2DDE-5382EA638A10}"/>
                </a:ext>
              </a:extLst>
            </p:cNvPr>
            <p:cNvSpPr txBox="1"/>
            <p:nvPr/>
          </p:nvSpPr>
          <p:spPr>
            <a:xfrm>
              <a:off x="10559750" y="1312713"/>
              <a:ext cx="11820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100" b="1" dirty="0">
                  <a:solidFill>
                    <a:schemeClr val="bg1"/>
                  </a:solidFill>
                </a:rPr>
                <a:t>Income: --</a:t>
              </a:r>
              <a:endParaRPr sz="1100" dirty="0">
                <a:solidFill>
                  <a:schemeClr val="bg1"/>
                </a:solidFill>
              </a:endParaRPr>
            </a:p>
          </p:txBody>
        </p:sp>
      </p:grpSp>
      <p:pic>
        <p:nvPicPr>
          <p:cNvPr id="57" name="Google Shape;191;p17">
            <a:extLst>
              <a:ext uri="{FF2B5EF4-FFF2-40B4-BE49-F238E27FC236}">
                <a16:creationId xmlns:a16="http://schemas.microsoft.com/office/drawing/2014/main" id="{D353A578-88EB-B112-829B-0B4A3849BBA9}"/>
              </a:ext>
            </a:extLst>
          </p:cNvPr>
          <p:cNvPicPr preferRelativeResize="0"/>
          <p:nvPr/>
        </p:nvPicPr>
        <p:blipFill>
          <a:blip r:embed="rId7">
            <a:alphaModFix/>
          </a:blip>
          <a:stretch>
            <a:fillRect/>
          </a:stretch>
        </p:blipFill>
        <p:spPr>
          <a:xfrm>
            <a:off x="0" y="1727269"/>
            <a:ext cx="3067024" cy="4762680"/>
          </a:xfrm>
          <a:prstGeom prst="rect">
            <a:avLst/>
          </a:prstGeom>
          <a:noFill/>
          <a:ln>
            <a:noFill/>
          </a:ln>
        </p:spPr>
      </p:pic>
    </p:spTree>
    <p:extLst>
      <p:ext uri="{BB962C8B-B14F-4D97-AF65-F5344CB8AC3E}">
        <p14:creationId xmlns:p14="http://schemas.microsoft.com/office/powerpoint/2010/main" val="58900912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500" fill="hold"/>
                                        <p:tgtEl>
                                          <p:spTgt spid="40"/>
                                        </p:tgtEl>
                                        <p:attrNameLst>
                                          <p:attrName>ppt_x</p:attrName>
                                        </p:attrNameLst>
                                      </p:cBhvr>
                                      <p:tavLst>
                                        <p:tav tm="0">
                                          <p:val>
                                            <p:strVal val="#ppt_x"/>
                                          </p:val>
                                        </p:tav>
                                        <p:tav tm="100000">
                                          <p:val>
                                            <p:strVal val="#ppt_x"/>
                                          </p:val>
                                        </p:tav>
                                      </p:tavLst>
                                    </p:anim>
                                    <p:anim calcmode="lin" valueType="num">
                                      <p:cBhvr additive="base">
                                        <p:cTn id="8" dur="500" fill="hold"/>
                                        <p:tgtEl>
                                          <p:spTgt spid="40"/>
                                        </p:tgtEl>
                                        <p:attrNameLst>
                                          <p:attrName>ppt_y</p:attrName>
                                        </p:attrNameLst>
                                      </p:cBhvr>
                                      <p:tavLst>
                                        <p:tav tm="0">
                                          <p:val>
                                            <p:strVal val="0-#ppt_h/2"/>
                                          </p:val>
                                        </p:tav>
                                        <p:tav tm="100000">
                                          <p:val>
                                            <p:strVal val="#ppt_y"/>
                                          </p:val>
                                        </p:tav>
                                      </p:tavLst>
                                    </p:anim>
                                  </p:childTnLst>
                                </p:cTn>
                              </p:par>
                              <p:par>
                                <p:cTn id="9" presetID="9" presetClass="entr" presetSubtype="0" fill="hold" nodeType="with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dissolve">
                                      <p:cBhvr>
                                        <p:cTn id="11" dur="500"/>
                                        <p:tgtEl>
                                          <p:spTgt spid="40"/>
                                        </p:tgtEl>
                                      </p:cBhvr>
                                    </p:animEffect>
                                  </p:childTnLst>
                                </p:cTn>
                              </p:par>
                              <p:par>
                                <p:cTn id="12" presetID="2" presetClass="entr" presetSubtype="4" fill="hold" nodeType="withEffect">
                                  <p:stCondLst>
                                    <p:cond delay="0"/>
                                  </p:stCondLst>
                                  <p:childTnLst>
                                    <p:set>
                                      <p:cBhvr>
                                        <p:cTn id="13" dur="1" fill="hold">
                                          <p:stCondLst>
                                            <p:cond delay="0"/>
                                          </p:stCondLst>
                                        </p:cTn>
                                        <p:tgtEl>
                                          <p:spTgt spid="40"/>
                                        </p:tgtEl>
                                        <p:attrNameLst>
                                          <p:attrName>style.visibility</p:attrName>
                                        </p:attrNameLst>
                                      </p:cBhvr>
                                      <p:to>
                                        <p:strVal val="visible"/>
                                      </p:to>
                                    </p:set>
                                    <p:anim calcmode="lin" valueType="num">
                                      <p:cBhvr additive="base">
                                        <p:cTn id="14" dur="500" fill="hold"/>
                                        <p:tgtEl>
                                          <p:spTgt spid="40"/>
                                        </p:tgtEl>
                                        <p:attrNameLst>
                                          <p:attrName>ppt_x</p:attrName>
                                        </p:attrNameLst>
                                      </p:cBhvr>
                                      <p:tavLst>
                                        <p:tav tm="0">
                                          <p:val>
                                            <p:strVal val="#ppt_x"/>
                                          </p:val>
                                        </p:tav>
                                        <p:tav tm="100000">
                                          <p:val>
                                            <p:strVal val="#ppt_x"/>
                                          </p:val>
                                        </p:tav>
                                      </p:tavLst>
                                    </p:anim>
                                    <p:anim calcmode="lin" valueType="num">
                                      <p:cBhvr additive="base">
                                        <p:cTn id="15"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1C56D4-6002-E420-A227-B49CA7DB3AE7}"/>
              </a:ext>
            </a:extLst>
          </p:cNvPr>
          <p:cNvSpPr txBox="1"/>
          <p:nvPr/>
        </p:nvSpPr>
        <p:spPr>
          <a:xfrm>
            <a:off x="1336854" y="2383173"/>
            <a:ext cx="9544827" cy="2553007"/>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9500" b="0" i="0" u="none" strike="noStrike" kern="0" cap="none" spc="0" normalizeH="0" baseline="0" noProof="0" dirty="0">
                <a:ln>
                  <a:noFill/>
                </a:ln>
                <a:solidFill>
                  <a:prstClr val="white"/>
                </a:solidFill>
                <a:effectLst/>
                <a:uLnTx/>
                <a:uFillTx/>
                <a:latin typeface="Darker Grotesque" pitchFamily="2" charset="0"/>
              </a:rPr>
              <a:t>Solution</a:t>
            </a:r>
          </a:p>
        </p:txBody>
      </p:sp>
      <p:pic>
        <p:nvPicPr>
          <p:cNvPr id="27" name="Picture 26" descr="A close-up of a logo&#10;&#10;AI-generated content may be incorrect.">
            <a:extLst>
              <a:ext uri="{FF2B5EF4-FFF2-40B4-BE49-F238E27FC236}">
                <a16:creationId xmlns:a16="http://schemas.microsoft.com/office/drawing/2014/main" id="{57D9D1AD-5749-6FC5-A4A8-BCF51872DD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23782" y="5974268"/>
            <a:ext cx="505929" cy="632979"/>
          </a:xfrm>
          <a:prstGeom prst="rect">
            <a:avLst/>
          </a:prstGeom>
        </p:spPr>
      </p:pic>
      <p:pic>
        <p:nvPicPr>
          <p:cNvPr id="3" name="Picture 2" descr="A screenshot of a phone&#10;&#10;AI-generated content may be incorrect.">
            <a:extLst>
              <a:ext uri="{FF2B5EF4-FFF2-40B4-BE49-F238E27FC236}">
                <a16:creationId xmlns:a16="http://schemas.microsoft.com/office/drawing/2014/main" id="{46AF44C9-5DD5-AED2-F45A-D6DE350DA7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5576" y="8443967"/>
            <a:ext cx="2096580" cy="446229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nvGrpSpPr>
          <p:cNvPr id="6" name="Group 5">
            <a:extLst>
              <a:ext uri="{FF2B5EF4-FFF2-40B4-BE49-F238E27FC236}">
                <a16:creationId xmlns:a16="http://schemas.microsoft.com/office/drawing/2014/main" id="{DBA74C6E-D92F-C0A0-9F93-239982B09DDD}"/>
              </a:ext>
            </a:extLst>
          </p:cNvPr>
          <p:cNvGrpSpPr/>
          <p:nvPr/>
        </p:nvGrpSpPr>
        <p:grpSpPr>
          <a:xfrm>
            <a:off x="273788" y="7465730"/>
            <a:ext cx="11644423" cy="5495690"/>
            <a:chOff x="299484" y="369986"/>
            <a:chExt cx="11644423" cy="5495690"/>
          </a:xfrm>
        </p:grpSpPr>
        <p:grpSp>
          <p:nvGrpSpPr>
            <p:cNvPr id="8" name="Group 7">
              <a:extLst>
                <a:ext uri="{FF2B5EF4-FFF2-40B4-BE49-F238E27FC236}">
                  <a16:creationId xmlns:a16="http://schemas.microsoft.com/office/drawing/2014/main" id="{C2BDAFDA-E73A-E2FD-1D7E-E13EE11393A8}"/>
                </a:ext>
              </a:extLst>
            </p:cNvPr>
            <p:cNvGrpSpPr/>
            <p:nvPr/>
          </p:nvGrpSpPr>
          <p:grpSpPr>
            <a:xfrm>
              <a:off x="4959423" y="1293680"/>
              <a:ext cx="2273156" cy="4571996"/>
              <a:chOff x="6607174" y="689128"/>
              <a:chExt cx="2937140" cy="5907464"/>
            </a:xfrm>
          </p:grpSpPr>
          <p:sp>
            <p:nvSpPr>
              <p:cNvPr id="37" name="outside">
                <a:extLst>
                  <a:ext uri="{FF2B5EF4-FFF2-40B4-BE49-F238E27FC236}">
                    <a16:creationId xmlns:a16="http://schemas.microsoft.com/office/drawing/2014/main" id="{F74503C7-939E-287F-4EC1-8D2E488F8DA5}"/>
                  </a:ext>
                </a:extLst>
              </p:cNvPr>
              <p:cNvSpPr/>
              <p:nvPr/>
            </p:nvSpPr>
            <p:spPr>
              <a:xfrm>
                <a:off x="6607174" y="689128"/>
                <a:ext cx="2937140" cy="5907464"/>
              </a:xfrm>
              <a:custGeom>
                <a:avLst/>
                <a:gdLst>
                  <a:gd name="connsiteX0" fmla="*/ 22333 w 2832905"/>
                  <a:gd name="connsiteY0" fmla="*/ 2054538 h 5697817"/>
                  <a:gd name="connsiteX1" fmla="*/ 28432 w 2832905"/>
                  <a:gd name="connsiteY1" fmla="*/ 2054538 h 5697817"/>
                  <a:gd name="connsiteX2" fmla="*/ 28432 w 2832905"/>
                  <a:gd name="connsiteY2" fmla="*/ 2486797 h 5697817"/>
                  <a:gd name="connsiteX3" fmla="*/ 22333 w 2832905"/>
                  <a:gd name="connsiteY3" fmla="*/ 2486797 h 5697817"/>
                  <a:gd name="connsiteX4" fmla="*/ 10153 w 2832905"/>
                  <a:gd name="connsiteY4" fmla="*/ 2474737 h 5697817"/>
                  <a:gd name="connsiteX5" fmla="*/ 10153 w 2832905"/>
                  <a:gd name="connsiteY5" fmla="*/ 2066599 h 5697817"/>
                  <a:gd name="connsiteX6" fmla="*/ 22333 w 2832905"/>
                  <a:gd name="connsiteY6" fmla="*/ 2054538 h 5697817"/>
                  <a:gd name="connsiteX7" fmla="*/ 2814626 w 2832905"/>
                  <a:gd name="connsiteY7" fmla="*/ 1805240 h 5697817"/>
                  <a:gd name="connsiteX8" fmla="*/ 2820725 w 2832905"/>
                  <a:gd name="connsiteY8" fmla="*/ 1805240 h 5697817"/>
                  <a:gd name="connsiteX9" fmla="*/ 2832905 w 2832905"/>
                  <a:gd name="connsiteY9" fmla="*/ 1817300 h 5697817"/>
                  <a:gd name="connsiteX10" fmla="*/ 2832905 w 2832905"/>
                  <a:gd name="connsiteY10" fmla="*/ 2474737 h 5697817"/>
                  <a:gd name="connsiteX11" fmla="*/ 2820725 w 2832905"/>
                  <a:gd name="connsiteY11" fmla="*/ 2486812 h 5697817"/>
                  <a:gd name="connsiteX12" fmla="*/ 2814626 w 2832905"/>
                  <a:gd name="connsiteY12" fmla="*/ 2486812 h 5697817"/>
                  <a:gd name="connsiteX13" fmla="*/ 22333 w 2832905"/>
                  <a:gd name="connsiteY13" fmla="*/ 1505638 h 5697817"/>
                  <a:gd name="connsiteX14" fmla="*/ 28432 w 2832905"/>
                  <a:gd name="connsiteY14" fmla="*/ 1505638 h 5697817"/>
                  <a:gd name="connsiteX15" fmla="*/ 28432 w 2832905"/>
                  <a:gd name="connsiteY15" fmla="*/ 1937896 h 5697817"/>
                  <a:gd name="connsiteX16" fmla="*/ 22333 w 2832905"/>
                  <a:gd name="connsiteY16" fmla="*/ 1937896 h 5697817"/>
                  <a:gd name="connsiteX17" fmla="*/ 20797 w 2832905"/>
                  <a:gd name="connsiteY17" fmla="*/ 1937266 h 5697817"/>
                  <a:gd name="connsiteX18" fmla="*/ 13724 w 2832905"/>
                  <a:gd name="connsiteY18" fmla="*/ 1934366 h 5697817"/>
                  <a:gd name="connsiteX19" fmla="*/ 10153 w 2832905"/>
                  <a:gd name="connsiteY19" fmla="*/ 1925836 h 5697817"/>
                  <a:gd name="connsiteX20" fmla="*/ 10153 w 2832905"/>
                  <a:gd name="connsiteY20" fmla="*/ 1517698 h 5697817"/>
                  <a:gd name="connsiteX21" fmla="*/ 22333 w 2832905"/>
                  <a:gd name="connsiteY21" fmla="*/ 1505638 h 5697817"/>
                  <a:gd name="connsiteX22" fmla="*/ 12180 w 2832905"/>
                  <a:gd name="connsiteY22" fmla="*/ 1095446 h 5697817"/>
                  <a:gd name="connsiteX23" fmla="*/ 28426 w 2832905"/>
                  <a:gd name="connsiteY23" fmla="*/ 1095446 h 5697817"/>
                  <a:gd name="connsiteX24" fmla="*/ 28426 w 2832905"/>
                  <a:gd name="connsiteY24" fmla="*/ 1308564 h 5697817"/>
                  <a:gd name="connsiteX25" fmla="*/ 20757 w 2832905"/>
                  <a:gd name="connsiteY25" fmla="*/ 1308564 h 5697817"/>
                  <a:gd name="connsiteX26" fmla="*/ 12180 w 2832905"/>
                  <a:gd name="connsiteY26" fmla="*/ 1308564 h 5697817"/>
                  <a:gd name="connsiteX27" fmla="*/ 0 w 2832905"/>
                  <a:gd name="connsiteY27" fmla="*/ 1296488 h 5697817"/>
                  <a:gd name="connsiteX28" fmla="*/ 0 w 2832905"/>
                  <a:gd name="connsiteY28" fmla="*/ 1107506 h 5697817"/>
                  <a:gd name="connsiteX29" fmla="*/ 12180 w 2832905"/>
                  <a:gd name="connsiteY29" fmla="*/ 1095446 h 5697817"/>
                  <a:gd name="connsiteX30" fmla="*/ 569962 w 2832905"/>
                  <a:gd name="connsiteY30" fmla="*/ 68347 h 5697817"/>
                  <a:gd name="connsiteX31" fmla="*/ 105533 w 2832905"/>
                  <a:gd name="connsiteY31" fmla="*/ 532776 h 5697817"/>
                  <a:gd name="connsiteX32" fmla="*/ 105533 w 2832905"/>
                  <a:gd name="connsiteY32" fmla="*/ 5165018 h 5697817"/>
                  <a:gd name="connsiteX33" fmla="*/ 569962 w 2832905"/>
                  <a:gd name="connsiteY33" fmla="*/ 5629447 h 5697817"/>
                  <a:gd name="connsiteX34" fmla="*/ 2262816 w 2832905"/>
                  <a:gd name="connsiteY34" fmla="*/ 5629447 h 5697817"/>
                  <a:gd name="connsiteX35" fmla="*/ 2727260 w 2832905"/>
                  <a:gd name="connsiteY35" fmla="*/ 5165018 h 5697817"/>
                  <a:gd name="connsiteX36" fmla="*/ 2727260 w 2832905"/>
                  <a:gd name="connsiteY36" fmla="*/ 532776 h 5697817"/>
                  <a:gd name="connsiteX37" fmla="*/ 2262816 w 2832905"/>
                  <a:gd name="connsiteY37" fmla="*/ 68347 h 5697817"/>
                  <a:gd name="connsiteX38" fmla="*/ 538151 w 2832905"/>
                  <a:gd name="connsiteY38" fmla="*/ 0 h 5697817"/>
                  <a:gd name="connsiteX39" fmla="*/ 2304803 w 2832905"/>
                  <a:gd name="connsiteY39" fmla="*/ 0 h 5697817"/>
                  <a:gd name="connsiteX40" fmla="*/ 2814484 w 2832905"/>
                  <a:gd name="connsiteY40" fmla="*/ 504650 h 5697817"/>
                  <a:gd name="connsiteX41" fmla="*/ 2814484 w 2832905"/>
                  <a:gd name="connsiteY41" fmla="*/ 5193183 h 5697817"/>
                  <a:gd name="connsiteX42" fmla="*/ 2304803 w 2832905"/>
                  <a:gd name="connsiteY42" fmla="*/ 5697817 h 5697817"/>
                  <a:gd name="connsiteX43" fmla="*/ 538151 w 2832905"/>
                  <a:gd name="connsiteY43" fmla="*/ 5697817 h 5697817"/>
                  <a:gd name="connsiteX44" fmla="*/ 28455 w 2832905"/>
                  <a:gd name="connsiteY44" fmla="*/ 5193183 h 5697817"/>
                  <a:gd name="connsiteX45" fmla="*/ 28455 w 2832905"/>
                  <a:gd name="connsiteY45" fmla="*/ 504650 h 5697817"/>
                  <a:gd name="connsiteX46" fmla="*/ 538151 w 2832905"/>
                  <a:gd name="connsiteY46" fmla="*/ 0 h 5697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2832905" h="5697817">
                    <a:moveTo>
                      <a:pt x="22333" y="2054538"/>
                    </a:moveTo>
                    <a:lnTo>
                      <a:pt x="28432" y="2054538"/>
                    </a:lnTo>
                    <a:lnTo>
                      <a:pt x="28432" y="2486797"/>
                    </a:lnTo>
                    <a:lnTo>
                      <a:pt x="22333" y="2486797"/>
                    </a:lnTo>
                    <a:cubicBezTo>
                      <a:pt x="15615" y="2486797"/>
                      <a:pt x="10153" y="2481389"/>
                      <a:pt x="10153" y="2474737"/>
                    </a:cubicBezTo>
                    <a:lnTo>
                      <a:pt x="10153" y="2066599"/>
                    </a:lnTo>
                    <a:cubicBezTo>
                      <a:pt x="10153" y="2059946"/>
                      <a:pt x="15615" y="2054538"/>
                      <a:pt x="22333" y="2054538"/>
                    </a:cubicBezTo>
                    <a:close/>
                    <a:moveTo>
                      <a:pt x="2814626" y="1805240"/>
                    </a:moveTo>
                    <a:lnTo>
                      <a:pt x="2820725" y="1805240"/>
                    </a:lnTo>
                    <a:cubicBezTo>
                      <a:pt x="2827443" y="1805240"/>
                      <a:pt x="2832905" y="1810648"/>
                      <a:pt x="2832905" y="1817300"/>
                    </a:cubicBezTo>
                    <a:lnTo>
                      <a:pt x="2832905" y="2474737"/>
                    </a:lnTo>
                    <a:cubicBezTo>
                      <a:pt x="2832905" y="2481404"/>
                      <a:pt x="2827443" y="2486812"/>
                      <a:pt x="2820725" y="2486812"/>
                    </a:cubicBezTo>
                    <a:lnTo>
                      <a:pt x="2814626" y="2486812"/>
                    </a:lnTo>
                    <a:close/>
                    <a:moveTo>
                      <a:pt x="22333" y="1505638"/>
                    </a:moveTo>
                    <a:lnTo>
                      <a:pt x="28432" y="1505638"/>
                    </a:lnTo>
                    <a:lnTo>
                      <a:pt x="28432" y="1937896"/>
                    </a:lnTo>
                    <a:lnTo>
                      <a:pt x="22333" y="1937896"/>
                    </a:lnTo>
                    <a:lnTo>
                      <a:pt x="20797" y="1937266"/>
                    </a:lnTo>
                    <a:lnTo>
                      <a:pt x="13724" y="1934366"/>
                    </a:lnTo>
                    <a:cubicBezTo>
                      <a:pt x="11518" y="1932185"/>
                      <a:pt x="10153" y="1929170"/>
                      <a:pt x="10153" y="1925836"/>
                    </a:cubicBezTo>
                    <a:lnTo>
                      <a:pt x="10153" y="1517698"/>
                    </a:lnTo>
                    <a:cubicBezTo>
                      <a:pt x="10153" y="1511030"/>
                      <a:pt x="15615" y="1505638"/>
                      <a:pt x="22333" y="1505638"/>
                    </a:cubicBezTo>
                    <a:close/>
                    <a:moveTo>
                      <a:pt x="12180" y="1095446"/>
                    </a:moveTo>
                    <a:lnTo>
                      <a:pt x="28426" y="1095446"/>
                    </a:lnTo>
                    <a:lnTo>
                      <a:pt x="28426" y="1308564"/>
                    </a:lnTo>
                    <a:lnTo>
                      <a:pt x="20757" y="1308564"/>
                    </a:lnTo>
                    <a:lnTo>
                      <a:pt x="12180" y="1308564"/>
                    </a:lnTo>
                    <a:cubicBezTo>
                      <a:pt x="5461" y="1308564"/>
                      <a:pt x="0" y="1303156"/>
                      <a:pt x="0" y="1296488"/>
                    </a:cubicBezTo>
                    <a:lnTo>
                      <a:pt x="0" y="1107506"/>
                    </a:lnTo>
                    <a:cubicBezTo>
                      <a:pt x="0" y="1100838"/>
                      <a:pt x="5461" y="1095446"/>
                      <a:pt x="12180" y="1095446"/>
                    </a:cubicBezTo>
                    <a:close/>
                    <a:moveTo>
                      <a:pt x="569962" y="68347"/>
                    </a:moveTo>
                    <a:cubicBezTo>
                      <a:pt x="313458" y="68347"/>
                      <a:pt x="105533" y="276272"/>
                      <a:pt x="105533" y="532776"/>
                    </a:cubicBezTo>
                    <a:lnTo>
                      <a:pt x="105533" y="5165018"/>
                    </a:lnTo>
                    <a:cubicBezTo>
                      <a:pt x="105533" y="5421522"/>
                      <a:pt x="313458" y="5629447"/>
                      <a:pt x="569962" y="5629447"/>
                    </a:cubicBezTo>
                    <a:lnTo>
                      <a:pt x="2262816" y="5629447"/>
                    </a:lnTo>
                    <a:cubicBezTo>
                      <a:pt x="2519319" y="5629447"/>
                      <a:pt x="2727260" y="5421522"/>
                      <a:pt x="2727260" y="5165018"/>
                    </a:cubicBezTo>
                    <a:lnTo>
                      <a:pt x="2727260" y="532776"/>
                    </a:lnTo>
                    <a:cubicBezTo>
                      <a:pt x="2727260" y="276272"/>
                      <a:pt x="2519319" y="68347"/>
                      <a:pt x="2262816" y="68347"/>
                    </a:cubicBezTo>
                    <a:close/>
                    <a:moveTo>
                      <a:pt x="538151" y="0"/>
                    </a:moveTo>
                    <a:lnTo>
                      <a:pt x="2304803" y="0"/>
                    </a:lnTo>
                    <a:cubicBezTo>
                      <a:pt x="2586293" y="0"/>
                      <a:pt x="2814484" y="225931"/>
                      <a:pt x="2814484" y="504650"/>
                    </a:cubicBezTo>
                    <a:lnTo>
                      <a:pt x="2814484" y="5193183"/>
                    </a:lnTo>
                    <a:cubicBezTo>
                      <a:pt x="2814484" y="5471886"/>
                      <a:pt x="2586293" y="5697817"/>
                      <a:pt x="2304803" y="5697817"/>
                    </a:cubicBezTo>
                    <a:lnTo>
                      <a:pt x="538151" y="5697817"/>
                    </a:lnTo>
                    <a:cubicBezTo>
                      <a:pt x="256660" y="5697817"/>
                      <a:pt x="28455" y="5471886"/>
                      <a:pt x="28455" y="5193183"/>
                    </a:cubicBezTo>
                    <a:lnTo>
                      <a:pt x="28455" y="504650"/>
                    </a:lnTo>
                    <a:cubicBezTo>
                      <a:pt x="28455" y="225931"/>
                      <a:pt x="256660" y="0"/>
                      <a:pt x="538151" y="0"/>
                    </a:cubicBezTo>
                    <a:close/>
                  </a:path>
                </a:pathLst>
              </a:custGeom>
              <a:noFill/>
              <a:ln w="3991" cap="flat">
                <a:solidFill>
                  <a:schemeClr val="bg1"/>
                </a:solid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Poppins Light"/>
                  <a:ea typeface="+mn-ea"/>
                  <a:cs typeface="+mn-cs"/>
                </a:endParaRPr>
              </a:p>
            </p:txBody>
          </p:sp>
          <p:sp>
            <p:nvSpPr>
              <p:cNvPr id="38" name="inside black outline">
                <a:extLst>
                  <a:ext uri="{FF2B5EF4-FFF2-40B4-BE49-F238E27FC236}">
                    <a16:creationId xmlns:a16="http://schemas.microsoft.com/office/drawing/2014/main" id="{ED60F180-E5AC-6310-AD33-58C63E26B7DB}"/>
                  </a:ext>
                </a:extLst>
              </p:cNvPr>
              <p:cNvSpPr/>
              <p:nvPr/>
            </p:nvSpPr>
            <p:spPr>
              <a:xfrm>
                <a:off x="6716647" y="759603"/>
                <a:ext cx="2718191" cy="5765715"/>
              </a:xfrm>
              <a:custGeom>
                <a:avLst/>
                <a:gdLst>
                  <a:gd name="connsiteX0" fmla="*/ 464470 w 2621726"/>
                  <a:gd name="connsiteY0" fmla="*/ 373 h 5561099"/>
                  <a:gd name="connsiteX1" fmla="*/ 2157324 w 2621726"/>
                  <a:gd name="connsiteY1" fmla="*/ 373 h 5561099"/>
                  <a:gd name="connsiteX2" fmla="*/ 2621768 w 2621726"/>
                  <a:gd name="connsiteY2" fmla="*/ 464802 h 5561099"/>
                  <a:gd name="connsiteX3" fmla="*/ 2621768 w 2621726"/>
                  <a:gd name="connsiteY3" fmla="*/ 5097044 h 5561099"/>
                  <a:gd name="connsiteX4" fmla="*/ 2157324 w 2621726"/>
                  <a:gd name="connsiteY4" fmla="*/ 5561473 h 5561099"/>
                  <a:gd name="connsiteX5" fmla="*/ 464470 w 2621726"/>
                  <a:gd name="connsiteY5" fmla="*/ 5561473 h 5561099"/>
                  <a:gd name="connsiteX6" fmla="*/ 41 w 2621726"/>
                  <a:gd name="connsiteY6" fmla="*/ 5097044 h 5561099"/>
                  <a:gd name="connsiteX7" fmla="*/ 41 w 2621726"/>
                  <a:gd name="connsiteY7" fmla="*/ 464802 h 5561099"/>
                  <a:gd name="connsiteX8" fmla="*/ 464470 w 2621726"/>
                  <a:gd name="connsiteY8" fmla="*/ 373 h 5561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21726" h="5561099">
                    <a:moveTo>
                      <a:pt x="464470" y="373"/>
                    </a:moveTo>
                    <a:lnTo>
                      <a:pt x="2157324" y="373"/>
                    </a:lnTo>
                    <a:cubicBezTo>
                      <a:pt x="2413827" y="373"/>
                      <a:pt x="2621768" y="208298"/>
                      <a:pt x="2621768" y="464802"/>
                    </a:cubicBezTo>
                    <a:lnTo>
                      <a:pt x="2621768" y="5097044"/>
                    </a:lnTo>
                    <a:cubicBezTo>
                      <a:pt x="2621768" y="5353548"/>
                      <a:pt x="2413827" y="5561473"/>
                      <a:pt x="2157324" y="5561473"/>
                    </a:cubicBezTo>
                    <a:lnTo>
                      <a:pt x="464470" y="5561473"/>
                    </a:lnTo>
                    <a:cubicBezTo>
                      <a:pt x="207966" y="5561473"/>
                      <a:pt x="41" y="5353548"/>
                      <a:pt x="41" y="5097044"/>
                    </a:cubicBezTo>
                    <a:lnTo>
                      <a:pt x="41" y="464802"/>
                    </a:lnTo>
                    <a:cubicBezTo>
                      <a:pt x="41" y="208298"/>
                      <a:pt x="207966" y="373"/>
                      <a:pt x="464470" y="373"/>
                    </a:cubicBezTo>
                    <a:close/>
                  </a:path>
                </a:pathLst>
              </a:custGeom>
              <a:noFill/>
              <a:ln w="80427" cap="flat">
                <a:solidFill>
                  <a:schemeClr val="bg1"/>
                </a:solid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Poppins Light"/>
                  <a:ea typeface="+mn-ea"/>
                  <a:cs typeface="+mn-cs"/>
                </a:endParaRPr>
              </a:p>
            </p:txBody>
          </p:sp>
        </p:grpSp>
        <p:grpSp>
          <p:nvGrpSpPr>
            <p:cNvPr id="9" name="Group 8">
              <a:extLst>
                <a:ext uri="{FF2B5EF4-FFF2-40B4-BE49-F238E27FC236}">
                  <a16:creationId xmlns:a16="http://schemas.microsoft.com/office/drawing/2014/main" id="{3B249DD0-1D5C-8D56-3ADB-47C6B4B6F7FD}"/>
                </a:ext>
              </a:extLst>
            </p:cNvPr>
            <p:cNvGrpSpPr/>
            <p:nvPr/>
          </p:nvGrpSpPr>
          <p:grpSpPr>
            <a:xfrm>
              <a:off x="1104844" y="1632218"/>
              <a:ext cx="3226525" cy="3416279"/>
              <a:chOff x="1405993" y="1632218"/>
              <a:chExt cx="3226525" cy="3416279"/>
            </a:xfrm>
          </p:grpSpPr>
          <p:sp>
            <p:nvSpPr>
              <p:cNvPr id="34" name="TextBox 33">
                <a:extLst>
                  <a:ext uri="{FF2B5EF4-FFF2-40B4-BE49-F238E27FC236}">
                    <a16:creationId xmlns:a16="http://schemas.microsoft.com/office/drawing/2014/main" id="{E5270288-FAFF-31C3-9E3C-BC90EF617671}"/>
                  </a:ext>
                </a:extLst>
              </p:cNvPr>
              <p:cNvSpPr txBox="1"/>
              <p:nvPr/>
            </p:nvSpPr>
            <p:spPr>
              <a:xfrm>
                <a:off x="1405993" y="1632218"/>
                <a:ext cx="2667718" cy="1655838"/>
              </a:xfrm>
              <a:prstGeom prst="rect">
                <a:avLst/>
              </a:prstGeom>
              <a:noFill/>
            </p:spPr>
            <p:txBody>
              <a:bodyPr wrap="none"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pPr algn="l"/>
                <a:r>
                  <a:rPr lang="en-US" dirty="0"/>
                  <a:t>Life</a:t>
                </a:r>
              </a:p>
              <a:p>
                <a:pPr algn="l"/>
                <a:r>
                  <a:rPr lang="en-US" dirty="0"/>
                  <a:t>Quest</a:t>
                </a:r>
              </a:p>
            </p:txBody>
          </p:sp>
          <p:sp>
            <p:nvSpPr>
              <p:cNvPr id="35" name="TextBox 34">
                <a:extLst>
                  <a:ext uri="{FF2B5EF4-FFF2-40B4-BE49-F238E27FC236}">
                    <a16:creationId xmlns:a16="http://schemas.microsoft.com/office/drawing/2014/main" id="{76058E8F-FB5A-894B-4132-BFE4F17D1981}"/>
                  </a:ext>
                </a:extLst>
              </p:cNvPr>
              <p:cNvSpPr txBox="1"/>
              <p:nvPr/>
            </p:nvSpPr>
            <p:spPr>
              <a:xfrm>
                <a:off x="1522371" y="3429000"/>
                <a:ext cx="3110147" cy="984885"/>
              </a:xfrm>
              <a:prstGeom prst="rect">
                <a:avLst/>
              </a:prstGeom>
              <a:noFill/>
            </p:spPr>
            <p:txBody>
              <a:bodyPr wrap="square" lIns="0" tIns="0" rIns="0" bIns="0" rtlCol="0">
                <a:spAutoFit/>
              </a:bodyP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pPr algn="l"/>
                <a:r>
                  <a:rPr lang="en-US" dirty="0" err="1"/>
                  <a:t>LifeQuest</a:t>
                </a:r>
                <a:r>
                  <a:rPr lang="en-US" dirty="0"/>
                  <a:t>" is a mobile game that gamifies healthy behaviors to combat isolation and foster social connections.</a:t>
                </a:r>
              </a:p>
            </p:txBody>
          </p:sp>
          <p:sp>
            <p:nvSpPr>
              <p:cNvPr id="36" name="Rectangle: Rounded Corners 15">
                <a:extLst>
                  <a:ext uri="{FF2B5EF4-FFF2-40B4-BE49-F238E27FC236}">
                    <a16:creationId xmlns:a16="http://schemas.microsoft.com/office/drawing/2014/main" id="{843BE151-9BF1-934A-C1D7-587BB7958231}"/>
                  </a:ext>
                </a:extLst>
              </p:cNvPr>
              <p:cNvSpPr/>
              <p:nvPr/>
            </p:nvSpPr>
            <p:spPr>
              <a:xfrm>
                <a:off x="1526860" y="4667497"/>
                <a:ext cx="1198884" cy="381000"/>
              </a:xfrm>
              <a:prstGeom prst="roundRect">
                <a:avLst>
                  <a:gd name="adj" fmla="val 23333"/>
                </a:avLst>
              </a:prstGeom>
              <a:solidFill>
                <a:schemeClr val="bg1">
                  <a:alpha val="10000"/>
                </a:schemeClr>
              </a:solid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200" b="0" i="0" u="none" strike="noStrike" kern="1200" cap="none" spc="30" normalizeH="0" baseline="0" noProof="0" dirty="0">
                    <a:ln>
                      <a:noFill/>
                    </a:ln>
                    <a:solidFill>
                      <a:srgbClr val="FFFFFF"/>
                    </a:solidFill>
                    <a:effectLst/>
                    <a:uLnTx/>
                    <a:uFillTx/>
                    <a:latin typeface="+mj-lt"/>
                    <a:ea typeface="+mn-ea"/>
                    <a:cs typeface="Poppins SemiBold" panose="00000700000000000000" pitchFamily="2" charset="0"/>
                    <a:hlinkClick r:id="rId4"/>
                  </a:rPr>
                  <a:t>Click Here</a:t>
                </a:r>
                <a:endParaRPr kumimoji="0" lang="en-GB" sz="1200" b="0" i="0" u="none" strike="noStrike" kern="1200" cap="none" spc="30" normalizeH="0" baseline="0" noProof="0" dirty="0">
                  <a:ln>
                    <a:noFill/>
                  </a:ln>
                  <a:solidFill>
                    <a:srgbClr val="FFFFFF"/>
                  </a:solidFill>
                  <a:effectLst/>
                  <a:uLnTx/>
                  <a:uFillTx/>
                  <a:latin typeface="+mj-lt"/>
                  <a:ea typeface="+mn-ea"/>
                  <a:cs typeface="Poppins SemiBold" panose="00000700000000000000" pitchFamily="2" charset="0"/>
                </a:endParaRPr>
              </a:p>
            </p:txBody>
          </p:sp>
        </p:grpSp>
        <p:grpSp>
          <p:nvGrpSpPr>
            <p:cNvPr id="10" name="Group 9">
              <a:extLst>
                <a:ext uri="{FF2B5EF4-FFF2-40B4-BE49-F238E27FC236}">
                  <a16:creationId xmlns:a16="http://schemas.microsoft.com/office/drawing/2014/main" id="{BEBA8592-5C45-8909-2024-7E390434A72A}"/>
                </a:ext>
              </a:extLst>
            </p:cNvPr>
            <p:cNvGrpSpPr/>
            <p:nvPr/>
          </p:nvGrpSpPr>
          <p:grpSpPr>
            <a:xfrm>
              <a:off x="8256077" y="2877439"/>
              <a:ext cx="3035300" cy="1103122"/>
              <a:chOff x="8458994" y="2108200"/>
              <a:chExt cx="3035300" cy="1092200"/>
            </a:xfrm>
          </p:grpSpPr>
          <p:sp>
            <p:nvSpPr>
              <p:cNvPr id="32" name="Rounded Rectangle 95">
                <a:extLst>
                  <a:ext uri="{FF2B5EF4-FFF2-40B4-BE49-F238E27FC236}">
                    <a16:creationId xmlns:a16="http://schemas.microsoft.com/office/drawing/2014/main" id="{255ED19F-84A2-7542-62ED-BA4B5880CA08}"/>
                  </a:ext>
                </a:extLst>
              </p:cNvPr>
              <p:cNvSpPr/>
              <p:nvPr/>
            </p:nvSpPr>
            <p:spPr>
              <a:xfrm>
                <a:off x="8458994" y="2108200"/>
                <a:ext cx="3035300" cy="1092200"/>
              </a:xfrm>
              <a:prstGeom prst="roundRect">
                <a:avLst>
                  <a:gd name="adj" fmla="val 10323"/>
                </a:avLst>
              </a:prstGeom>
              <a:solidFill>
                <a:schemeClr val="bg1">
                  <a:alpha val="10000"/>
                </a:schemeClr>
              </a:solid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LT" sz="1000" b="0" i="0" u="none" strike="noStrike" kern="1200" cap="none" spc="30" normalizeH="0" baseline="0" noProof="0" dirty="0">
                  <a:ln>
                    <a:noFill/>
                  </a:ln>
                  <a:solidFill>
                    <a:srgbClr val="FFFFFF"/>
                  </a:solidFill>
                  <a:effectLst/>
                  <a:uLnTx/>
                  <a:uFillTx/>
                  <a:latin typeface="Poppins Light"/>
                  <a:ea typeface="+mn-ea"/>
                  <a:cs typeface="Poppins SemiBold" panose="00000700000000000000" pitchFamily="2" charset="0"/>
                </a:endParaRPr>
              </a:p>
            </p:txBody>
          </p:sp>
          <p:sp>
            <p:nvSpPr>
              <p:cNvPr id="33" name="TextBox 32">
                <a:extLst>
                  <a:ext uri="{FF2B5EF4-FFF2-40B4-BE49-F238E27FC236}">
                    <a16:creationId xmlns:a16="http://schemas.microsoft.com/office/drawing/2014/main" id="{22109FAE-C9FE-01D9-3E0A-C0B40FC5C298}"/>
                  </a:ext>
                </a:extLst>
              </p:cNvPr>
              <p:cNvSpPr txBox="1"/>
              <p:nvPr/>
            </p:nvSpPr>
            <p:spPr>
              <a:xfrm>
                <a:off x="8632825" y="2313186"/>
                <a:ext cx="993862" cy="199851"/>
              </a:xfrm>
              <a:prstGeom prst="rect">
                <a:avLst/>
              </a:prstGeom>
              <a:noFill/>
            </p:spPr>
            <p:txBody>
              <a:bodyPr wrap="none" lIns="0" tIns="0" rIns="0" bIns="0" anchor="t">
                <a:spAutoFit/>
              </a:bodyPr>
              <a:lstStyle>
                <a:defPPr>
                  <a:defRPr lang="en-US"/>
                </a:defPPr>
                <a:lvl1pPr marR="0" lvl="0" indent="0" fontAlgn="auto">
                  <a:lnSpc>
                    <a:spcPct val="8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mj-lt"/>
                    <a:cs typeface="Poppins SemiBold" panose="00000700000000000000" pitchFamily="2" charset="0"/>
                  </a:defRPr>
                </a:lvl1pPr>
              </a:lstStyle>
              <a:p>
                <a:r>
                  <a:rPr kumimoji="0" lang="en-US" sz="1600" b="0" i="0" u="none" strike="noStrike" kern="1200" cap="none" spc="0" normalizeH="0" baseline="0" noProof="0" dirty="0">
                    <a:ln>
                      <a:noFill/>
                    </a:ln>
                    <a:solidFill>
                      <a:prstClr val="white"/>
                    </a:solidFill>
                    <a:effectLst/>
                    <a:uLnTx/>
                    <a:uFillTx/>
                    <a:latin typeface="+mj-lt"/>
                    <a:ea typeface="+mn-ea"/>
                    <a:cs typeface="Poppins SemiBold" panose="00000700000000000000" pitchFamily="2" charset="0"/>
                  </a:rPr>
                  <a:t>Job Support</a:t>
                </a:r>
                <a:endParaRPr lang="en-US" dirty="0"/>
              </a:p>
            </p:txBody>
          </p:sp>
        </p:grpSp>
        <p:grpSp>
          <p:nvGrpSpPr>
            <p:cNvPr id="11" name="Group 10">
              <a:extLst>
                <a:ext uri="{FF2B5EF4-FFF2-40B4-BE49-F238E27FC236}">
                  <a16:creationId xmlns:a16="http://schemas.microsoft.com/office/drawing/2014/main" id="{E87A6881-444E-1EE6-6FF7-43471B9AE09C}"/>
                </a:ext>
              </a:extLst>
            </p:cNvPr>
            <p:cNvGrpSpPr/>
            <p:nvPr/>
          </p:nvGrpSpPr>
          <p:grpSpPr>
            <a:xfrm>
              <a:off x="8256077" y="4306436"/>
              <a:ext cx="3035300" cy="1103122"/>
              <a:chOff x="8458994" y="2108200"/>
              <a:chExt cx="3035300" cy="1092200"/>
            </a:xfrm>
          </p:grpSpPr>
          <p:sp>
            <p:nvSpPr>
              <p:cNvPr id="30" name="Rounded Rectangle 95">
                <a:extLst>
                  <a:ext uri="{FF2B5EF4-FFF2-40B4-BE49-F238E27FC236}">
                    <a16:creationId xmlns:a16="http://schemas.microsoft.com/office/drawing/2014/main" id="{43AE26AA-6CF9-8FB5-390D-0253F31FD00E}"/>
                  </a:ext>
                </a:extLst>
              </p:cNvPr>
              <p:cNvSpPr/>
              <p:nvPr/>
            </p:nvSpPr>
            <p:spPr>
              <a:xfrm>
                <a:off x="8458994" y="2108200"/>
                <a:ext cx="3035300" cy="1092200"/>
              </a:xfrm>
              <a:prstGeom prst="roundRect">
                <a:avLst>
                  <a:gd name="adj" fmla="val 10323"/>
                </a:avLst>
              </a:prstGeom>
              <a:solidFill>
                <a:schemeClr val="bg1">
                  <a:alpha val="10000"/>
                </a:schemeClr>
              </a:solid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LT" sz="1000" b="0" i="0" u="none" strike="noStrike" kern="1200" cap="none" spc="30" normalizeH="0" baseline="0" noProof="0" dirty="0">
                  <a:ln>
                    <a:noFill/>
                  </a:ln>
                  <a:solidFill>
                    <a:srgbClr val="FFFFFF"/>
                  </a:solidFill>
                  <a:effectLst/>
                  <a:uLnTx/>
                  <a:uFillTx/>
                  <a:latin typeface="Poppins Light"/>
                  <a:ea typeface="+mn-ea"/>
                  <a:cs typeface="Poppins SemiBold" panose="00000700000000000000" pitchFamily="2" charset="0"/>
                </a:endParaRPr>
              </a:p>
            </p:txBody>
          </p:sp>
          <p:sp>
            <p:nvSpPr>
              <p:cNvPr id="31" name="TextBox 30">
                <a:extLst>
                  <a:ext uri="{FF2B5EF4-FFF2-40B4-BE49-F238E27FC236}">
                    <a16:creationId xmlns:a16="http://schemas.microsoft.com/office/drawing/2014/main" id="{71BE87CF-2846-061F-DBB3-FF6319F07B51}"/>
                  </a:ext>
                </a:extLst>
              </p:cNvPr>
              <p:cNvSpPr txBox="1"/>
              <p:nvPr/>
            </p:nvSpPr>
            <p:spPr>
              <a:xfrm>
                <a:off x="8632825" y="2313186"/>
                <a:ext cx="1974900" cy="199851"/>
              </a:xfrm>
              <a:prstGeom prst="rect">
                <a:avLst/>
              </a:prstGeom>
              <a:noFill/>
            </p:spPr>
            <p:txBody>
              <a:bodyPr wrap="none" lIns="0" tIns="0" rIns="0" bIns="0" anchor="t">
                <a:spAutoFit/>
              </a:bodyPr>
              <a:lstStyle>
                <a:defPPr>
                  <a:defRPr lang="en-US"/>
                </a:defPPr>
                <a:lvl1pPr marR="0" lvl="0" indent="0" fontAlgn="auto">
                  <a:lnSpc>
                    <a:spcPct val="8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mj-lt"/>
                    <a:cs typeface="Poppins SemiBold" panose="00000700000000000000" pitchFamily="2" charset="0"/>
                  </a:defRPr>
                </a:lvl1pPr>
              </a:lstStyle>
              <a:p>
                <a:r>
                  <a:rPr kumimoji="0" lang="en-US" sz="1600" b="0" i="0" u="none" strike="noStrike" kern="1200" cap="none" spc="0" normalizeH="0" baseline="0" noProof="0" dirty="0">
                    <a:ln>
                      <a:noFill/>
                    </a:ln>
                    <a:solidFill>
                      <a:prstClr val="white"/>
                    </a:solidFill>
                    <a:effectLst/>
                    <a:uLnTx/>
                    <a:uFillTx/>
                    <a:latin typeface="+mj-lt"/>
                    <a:ea typeface="+mn-ea"/>
                    <a:cs typeface="Poppins SemiBold" panose="00000700000000000000" pitchFamily="2" charset="0"/>
                  </a:rPr>
                  <a:t>Rewards &amp; Engagement</a:t>
                </a:r>
                <a:endParaRPr lang="en-US" dirty="0"/>
              </a:p>
            </p:txBody>
          </p:sp>
        </p:grpSp>
        <p:grpSp>
          <p:nvGrpSpPr>
            <p:cNvPr id="12" name="Group 11">
              <a:extLst>
                <a:ext uri="{FF2B5EF4-FFF2-40B4-BE49-F238E27FC236}">
                  <a16:creationId xmlns:a16="http://schemas.microsoft.com/office/drawing/2014/main" id="{829157D4-3482-75EA-E9E6-D1F483182D56}"/>
                </a:ext>
              </a:extLst>
            </p:cNvPr>
            <p:cNvGrpSpPr/>
            <p:nvPr/>
          </p:nvGrpSpPr>
          <p:grpSpPr>
            <a:xfrm>
              <a:off x="8256077" y="1448441"/>
              <a:ext cx="3035300" cy="1103122"/>
              <a:chOff x="8458994" y="2108200"/>
              <a:chExt cx="3035300" cy="1092200"/>
            </a:xfrm>
          </p:grpSpPr>
          <p:sp>
            <p:nvSpPr>
              <p:cNvPr id="17" name="Rounded Rectangle 95">
                <a:extLst>
                  <a:ext uri="{FF2B5EF4-FFF2-40B4-BE49-F238E27FC236}">
                    <a16:creationId xmlns:a16="http://schemas.microsoft.com/office/drawing/2014/main" id="{CA39A1CC-289B-85C2-6DE0-7D33D651B37A}"/>
                  </a:ext>
                </a:extLst>
              </p:cNvPr>
              <p:cNvSpPr/>
              <p:nvPr/>
            </p:nvSpPr>
            <p:spPr>
              <a:xfrm>
                <a:off x="8458994" y="2108200"/>
                <a:ext cx="3035300" cy="1092200"/>
              </a:xfrm>
              <a:prstGeom prst="roundRect">
                <a:avLst>
                  <a:gd name="adj" fmla="val 10323"/>
                </a:avLst>
              </a:prstGeom>
              <a:solidFill>
                <a:schemeClr val="bg1">
                  <a:alpha val="10000"/>
                </a:schemeClr>
              </a:solid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LT" sz="1000" b="0" i="0" u="none" strike="noStrike" kern="1200" cap="none" spc="30" normalizeH="0" baseline="0" noProof="0" dirty="0">
                  <a:ln>
                    <a:noFill/>
                  </a:ln>
                  <a:solidFill>
                    <a:srgbClr val="FFFFFF"/>
                  </a:solidFill>
                  <a:effectLst/>
                  <a:uLnTx/>
                  <a:uFillTx/>
                  <a:latin typeface="Poppins Light"/>
                  <a:ea typeface="+mn-ea"/>
                  <a:cs typeface="Poppins SemiBold" panose="00000700000000000000" pitchFamily="2" charset="0"/>
                </a:endParaRPr>
              </a:p>
            </p:txBody>
          </p:sp>
          <p:sp>
            <p:nvSpPr>
              <p:cNvPr id="28" name="TextBox 27">
                <a:extLst>
                  <a:ext uri="{FF2B5EF4-FFF2-40B4-BE49-F238E27FC236}">
                    <a16:creationId xmlns:a16="http://schemas.microsoft.com/office/drawing/2014/main" id="{EB495C19-2462-7AA0-FDDF-2BD5B3E9D052}"/>
                  </a:ext>
                </a:extLst>
              </p:cNvPr>
              <p:cNvSpPr txBox="1"/>
              <p:nvPr/>
            </p:nvSpPr>
            <p:spPr>
              <a:xfrm>
                <a:off x="8632825" y="2571884"/>
                <a:ext cx="2756941" cy="502803"/>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GB" sz="1100" dirty="0">
                    <a:solidFill>
                      <a:prstClr val="white">
                        <a:alpha val="50000"/>
                      </a:prstClr>
                    </a:solidFill>
                  </a:rPr>
                  <a:t>Connects users to in-person and virtual events, helping them network beyond their previous job and reduce isolation.</a:t>
                </a:r>
                <a:endParaRPr lang="en-US" sz="1100" dirty="0">
                  <a:solidFill>
                    <a:prstClr val="white">
                      <a:alpha val="50000"/>
                    </a:prstClr>
                  </a:solidFill>
                </a:endParaRPr>
              </a:p>
            </p:txBody>
          </p:sp>
          <p:sp>
            <p:nvSpPr>
              <p:cNvPr id="29" name="TextBox 28">
                <a:extLst>
                  <a:ext uri="{FF2B5EF4-FFF2-40B4-BE49-F238E27FC236}">
                    <a16:creationId xmlns:a16="http://schemas.microsoft.com/office/drawing/2014/main" id="{C6624FB3-9739-829B-8147-33EBF144D7C1}"/>
                  </a:ext>
                </a:extLst>
              </p:cNvPr>
              <p:cNvSpPr txBox="1"/>
              <p:nvPr/>
            </p:nvSpPr>
            <p:spPr>
              <a:xfrm>
                <a:off x="8632825" y="2313186"/>
                <a:ext cx="65" cy="199851"/>
              </a:xfrm>
              <a:prstGeom prst="rect">
                <a:avLst/>
              </a:prstGeom>
              <a:noFill/>
            </p:spPr>
            <p:txBody>
              <a:bodyPr wrap="none" lIns="0" tIns="0" rIns="0" bIns="0" anchor="t">
                <a:spAutoFit/>
              </a:bodyPr>
              <a:lstStyle>
                <a:defPPr>
                  <a:defRPr lang="en-US"/>
                </a:defPPr>
                <a:lvl1pPr marR="0" lvl="0" indent="0" fontAlgn="auto">
                  <a:lnSpc>
                    <a:spcPct val="90000"/>
                  </a:lnSpc>
                  <a:spcBef>
                    <a:spcPts val="0"/>
                  </a:spcBef>
                  <a:spcAft>
                    <a:spcPts val="0"/>
                  </a:spcAft>
                  <a:buClrTx/>
                  <a:buSzTx/>
                  <a:buFontTx/>
                  <a:buNone/>
                  <a:tabLst/>
                  <a:defRPr kumimoji="0" sz="3000" i="0" u="none" strike="noStrike" cap="none" normalizeH="0">
                    <a:ln>
                      <a:noFill/>
                    </a:ln>
                    <a:solidFill>
                      <a:prstClr val="white"/>
                    </a:solidFill>
                    <a:effectLst/>
                    <a:uLnTx/>
                    <a:uFillTx/>
                    <a:latin typeface="Poppins SemiBold" panose="00000700000000000000" pitchFamily="2" charset="0"/>
                    <a:cs typeface="Poppins SemiBold" panose="00000700000000000000" pitchFamily="2" charset="0"/>
                  </a:defRPr>
                </a:lvl1pPr>
              </a:lstStyle>
              <a:p>
                <a:pPr marL="0" marR="0" lvl="0" indent="0" algn="l" defTabSz="914400" rtl="0" eaLnBrk="1" fontAlgn="auto" latinLnBrk="0" hangingPunct="1">
                  <a:lnSpc>
                    <a:spcPct val="8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mj-lt"/>
                  <a:ea typeface="+mn-ea"/>
                  <a:cs typeface="Poppins SemiBold" panose="00000700000000000000" pitchFamily="2" charset="0"/>
                </a:endParaRPr>
              </a:p>
            </p:txBody>
          </p:sp>
        </p:grpSp>
        <p:cxnSp>
          <p:nvCxnSpPr>
            <p:cNvPr id="13" name="Straight Connector 12">
              <a:extLst>
                <a:ext uri="{FF2B5EF4-FFF2-40B4-BE49-F238E27FC236}">
                  <a16:creationId xmlns:a16="http://schemas.microsoft.com/office/drawing/2014/main" id="{A97EEBB1-4768-6D3A-9D03-EC9E811CFF4F}"/>
                </a:ext>
              </a:extLst>
            </p:cNvPr>
            <p:cNvCxnSpPr/>
            <p:nvPr/>
          </p:nvCxnSpPr>
          <p:spPr>
            <a:xfrm>
              <a:off x="299484" y="62377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nvGrpSpPr>
            <p:cNvPr id="14" name="Group 13">
              <a:extLst>
                <a:ext uri="{FF2B5EF4-FFF2-40B4-BE49-F238E27FC236}">
                  <a16:creationId xmlns:a16="http://schemas.microsoft.com/office/drawing/2014/main" id="{0FE74620-80D3-4DDF-455A-A35FA1F025F1}"/>
                </a:ext>
              </a:extLst>
            </p:cNvPr>
            <p:cNvGrpSpPr/>
            <p:nvPr/>
          </p:nvGrpSpPr>
          <p:grpSpPr>
            <a:xfrm>
              <a:off x="5842207" y="369986"/>
              <a:ext cx="507586" cy="507586"/>
              <a:chOff x="5867902" y="316578"/>
              <a:chExt cx="507586" cy="507586"/>
            </a:xfrm>
          </p:grpSpPr>
          <p:sp useBgFill="1">
            <p:nvSpPr>
              <p:cNvPr id="15" name="Oval 14">
                <a:extLst>
                  <a:ext uri="{FF2B5EF4-FFF2-40B4-BE49-F238E27FC236}">
                    <a16:creationId xmlns:a16="http://schemas.microsoft.com/office/drawing/2014/main" id="{B32AB1E1-6591-6F74-E855-2BBA785A0F90}"/>
                  </a:ext>
                </a:extLst>
              </p:cNvPr>
              <p:cNvSpPr/>
              <p:nvPr/>
            </p:nvSpPr>
            <p:spPr>
              <a:xfrm>
                <a:off x="5867902" y="316578"/>
                <a:ext cx="507586" cy="507586"/>
              </a:xfrm>
              <a:prstGeom prst="ellipse">
                <a:avLst/>
              </a:prstGeom>
              <a:blipFill dpi="0" rotWithShape="0">
                <a:blip r:embed="rId5">
                  <a:lum/>
                </a:blip>
                <a:srcRect/>
                <a:stretch>
                  <a:fillRect l="-765603" t="-367961" r="-1536354" b="-883140"/>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16" name="Graphic 15">
                <a:extLst>
                  <a:ext uri="{FF2B5EF4-FFF2-40B4-BE49-F238E27FC236}">
                    <a16:creationId xmlns:a16="http://schemas.microsoft.com/office/drawing/2014/main" id="{DCA24484-7999-9D61-1D83-DFF1EAD1ED1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95695" y="444371"/>
                <a:ext cx="252000" cy="252000"/>
              </a:xfrm>
              <a:prstGeom prst="rect">
                <a:avLst/>
              </a:prstGeom>
            </p:spPr>
          </p:pic>
        </p:grpSp>
      </p:grpSp>
      <p:pic>
        <p:nvPicPr>
          <p:cNvPr id="39" name="Picture 38" descr="A close-up of a logo&#10;&#10;AI-generated content may be incorrect.">
            <a:extLst>
              <a:ext uri="{FF2B5EF4-FFF2-40B4-BE49-F238E27FC236}">
                <a16:creationId xmlns:a16="http://schemas.microsoft.com/office/drawing/2014/main" id="{C82400AA-E821-96D3-1F7D-7559B65267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98086" y="13070012"/>
            <a:ext cx="505929" cy="632979"/>
          </a:xfrm>
          <a:prstGeom prst="rect">
            <a:avLst/>
          </a:prstGeom>
        </p:spPr>
      </p:pic>
      <p:sp>
        <p:nvSpPr>
          <p:cNvPr id="40" name="TextBox 39">
            <a:extLst>
              <a:ext uri="{FF2B5EF4-FFF2-40B4-BE49-F238E27FC236}">
                <a16:creationId xmlns:a16="http://schemas.microsoft.com/office/drawing/2014/main" id="{896D0160-F7B8-07C4-C1C9-1CC12A4AEE0A}"/>
              </a:ext>
            </a:extLst>
          </p:cNvPr>
          <p:cNvSpPr txBox="1"/>
          <p:nvPr/>
        </p:nvSpPr>
        <p:spPr>
          <a:xfrm>
            <a:off x="8404211" y="8781131"/>
            <a:ext cx="2166245" cy="201850"/>
          </a:xfrm>
          <a:prstGeom prst="rect">
            <a:avLst/>
          </a:prstGeom>
          <a:noFill/>
        </p:spPr>
        <p:txBody>
          <a:bodyPr wrap="square" lIns="0" tIns="0" rIns="0" bIns="0" anchor="t">
            <a:spAutoFit/>
          </a:bodyPr>
          <a:lstStyle>
            <a:defPPr>
              <a:defRPr lang="en-US"/>
            </a:defPPr>
            <a:lvl1pPr marR="0" lvl="0" indent="0" fontAlgn="auto">
              <a:lnSpc>
                <a:spcPct val="8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mj-lt"/>
                <a:cs typeface="Poppins SemiBold" panose="00000700000000000000" pitchFamily="2" charset="0"/>
              </a:defRPr>
            </a:lvl1pPr>
          </a:lstStyle>
          <a:p>
            <a:r>
              <a:rPr lang="en-US" dirty="0"/>
              <a:t>Social Connection</a:t>
            </a:r>
          </a:p>
        </p:txBody>
      </p:sp>
      <p:sp>
        <p:nvSpPr>
          <p:cNvPr id="41" name="TextBox 40">
            <a:extLst>
              <a:ext uri="{FF2B5EF4-FFF2-40B4-BE49-F238E27FC236}">
                <a16:creationId xmlns:a16="http://schemas.microsoft.com/office/drawing/2014/main" id="{8470A741-910A-9698-D56F-B8C6C84C503E}"/>
              </a:ext>
            </a:extLst>
          </p:cNvPr>
          <p:cNvSpPr txBox="1"/>
          <p:nvPr/>
        </p:nvSpPr>
        <p:spPr>
          <a:xfrm>
            <a:off x="8404212" y="10390977"/>
            <a:ext cx="2756941" cy="507831"/>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GB" sz="1100" dirty="0">
                <a:solidFill>
                  <a:prstClr val="white">
                    <a:alpha val="50000"/>
                  </a:prstClr>
                </a:solidFill>
              </a:rPr>
              <a:t>Offers in-built resume support and proven healthy </a:t>
            </a:r>
            <a:r>
              <a:rPr lang="en-GB" sz="1100" dirty="0" err="1">
                <a:solidFill>
                  <a:prstClr val="white">
                    <a:alpha val="50000"/>
                  </a:prstClr>
                </a:solidFill>
              </a:rPr>
              <a:t>behaviors</a:t>
            </a:r>
            <a:r>
              <a:rPr lang="en-GB" sz="1100" dirty="0">
                <a:solidFill>
                  <a:prstClr val="white">
                    <a:alpha val="50000"/>
                  </a:prstClr>
                </a:solidFill>
              </a:rPr>
              <a:t> to combat loneliness while preparing users for job re-entry.</a:t>
            </a:r>
            <a:endParaRPr lang="en-US" sz="1100" dirty="0">
              <a:solidFill>
                <a:prstClr val="white">
                  <a:alpha val="50000"/>
                </a:prstClr>
              </a:solidFill>
            </a:endParaRPr>
          </a:p>
        </p:txBody>
      </p:sp>
      <p:sp>
        <p:nvSpPr>
          <p:cNvPr id="42" name="TextBox 41">
            <a:extLst>
              <a:ext uri="{FF2B5EF4-FFF2-40B4-BE49-F238E27FC236}">
                <a16:creationId xmlns:a16="http://schemas.microsoft.com/office/drawing/2014/main" id="{0C7DA564-7072-9FC5-0AFA-505A6CF07928}"/>
              </a:ext>
            </a:extLst>
          </p:cNvPr>
          <p:cNvSpPr txBox="1"/>
          <p:nvPr/>
        </p:nvSpPr>
        <p:spPr>
          <a:xfrm>
            <a:off x="8404212" y="11811066"/>
            <a:ext cx="2756941" cy="507831"/>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GB" sz="1100" dirty="0">
                <a:solidFill>
                  <a:prstClr val="white">
                    <a:alpha val="50000"/>
                  </a:prstClr>
                </a:solidFill>
              </a:rPr>
              <a:t>Awards points for completing tasks, which can be redeemed for real-life rewards, keeping users motivated.</a:t>
            </a:r>
            <a:endParaRPr lang="en-US" sz="1100" dirty="0">
              <a:solidFill>
                <a:prstClr val="white">
                  <a:alpha val="50000"/>
                </a:prstClr>
              </a:solidFill>
            </a:endParaRPr>
          </a:p>
        </p:txBody>
      </p:sp>
    </p:spTree>
    <p:extLst>
      <p:ext uri="{BB962C8B-B14F-4D97-AF65-F5344CB8AC3E}">
        <p14:creationId xmlns:p14="http://schemas.microsoft.com/office/powerpoint/2010/main" val="3576960306"/>
      </p:ext>
    </p:extLst>
  </p:cSld>
  <p:clrMapOvr>
    <a:masterClrMapping/>
  </p:clrMapOvr>
  <mc:AlternateContent xmlns:mc="http://schemas.openxmlformats.org/markup-compatibility/2006" xmlns:p159="http://schemas.microsoft.com/office/powerpoint/2015/09/main">
    <mc:Choice Requires="p159">
      <p:transition spd="slow" advTm="0">
        <p159:morph option="byObjec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0-#ppt_h/2"/>
                                          </p:val>
                                        </p:tav>
                                        <p:tav tm="100000">
                                          <p:val>
                                            <p:strVal val="#ppt_y"/>
                                          </p:val>
                                        </p:tav>
                                      </p:tavLst>
                                    </p:anim>
                                  </p:childTnLst>
                                </p:cTn>
                              </p:par>
                              <p:par>
                                <p:cTn id="9" presetID="9" presetClass="entr" presetSubtype="0"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dissolve">
                                      <p:cBhvr>
                                        <p:cTn id="11" dur="500"/>
                                        <p:tgtEl>
                                          <p:spTgt spid="27"/>
                                        </p:tgtEl>
                                      </p:cBhvr>
                                    </p:animEffect>
                                  </p:childTnLst>
                                </p:cTn>
                              </p:par>
                              <p:par>
                                <p:cTn id="12" presetID="2" presetClass="entr" presetSubtype="4" fill="hold" nodeType="withEffect">
                                  <p:stCondLst>
                                    <p:cond delay="0"/>
                                  </p:stCondLst>
                                  <p:childTnLst>
                                    <p:set>
                                      <p:cBhvr>
                                        <p:cTn id="13" dur="1" fill="hold">
                                          <p:stCondLst>
                                            <p:cond delay="0"/>
                                          </p:stCondLst>
                                        </p:cTn>
                                        <p:tgtEl>
                                          <p:spTgt spid="27"/>
                                        </p:tgtEl>
                                        <p:attrNameLst>
                                          <p:attrName>style.visibility</p:attrName>
                                        </p:attrNameLst>
                                      </p:cBhvr>
                                      <p:to>
                                        <p:strVal val="visible"/>
                                      </p:to>
                                    </p:set>
                                    <p:anim calcmode="lin" valueType="num">
                                      <p:cBhvr additive="base">
                                        <p:cTn id="14" dur="500" fill="hold"/>
                                        <p:tgtEl>
                                          <p:spTgt spid="27"/>
                                        </p:tgtEl>
                                        <p:attrNameLst>
                                          <p:attrName>ppt_x</p:attrName>
                                        </p:attrNameLst>
                                      </p:cBhvr>
                                      <p:tavLst>
                                        <p:tav tm="0">
                                          <p:val>
                                            <p:strVal val="#ppt_x"/>
                                          </p:val>
                                        </p:tav>
                                        <p:tav tm="100000">
                                          <p:val>
                                            <p:strVal val="#ppt_x"/>
                                          </p:val>
                                        </p:tav>
                                      </p:tavLst>
                                    </p:anim>
                                    <p:anim calcmode="lin" valueType="num">
                                      <p:cBhvr additive="base">
                                        <p:cTn id="15" dur="500" fill="hold"/>
                                        <p:tgtEl>
                                          <p:spTgt spid="27"/>
                                        </p:tgtEl>
                                        <p:attrNameLst>
                                          <p:attrName>ppt_y</p:attrName>
                                        </p:attrNameLst>
                                      </p:cBhvr>
                                      <p:tavLst>
                                        <p:tav tm="0">
                                          <p:val>
                                            <p:strVal val="1+#ppt_h/2"/>
                                          </p:val>
                                        </p:tav>
                                        <p:tav tm="100000">
                                          <p:val>
                                            <p:strVal val="#ppt_y"/>
                                          </p:val>
                                        </p:tav>
                                      </p:tavLst>
                                    </p:anim>
                                  </p:childTnLst>
                                </p:cTn>
                              </p:par>
                              <p:par>
                                <p:cTn id="16" presetID="2" presetClass="entr" presetSubtype="1" fill="hold" nodeType="withEffect">
                                  <p:stCondLst>
                                    <p:cond delay="0"/>
                                  </p:stCondLst>
                                  <p:childTnLst>
                                    <p:set>
                                      <p:cBhvr>
                                        <p:cTn id="17" dur="1" fill="hold">
                                          <p:stCondLst>
                                            <p:cond delay="0"/>
                                          </p:stCondLst>
                                        </p:cTn>
                                        <p:tgtEl>
                                          <p:spTgt spid="39"/>
                                        </p:tgtEl>
                                        <p:attrNameLst>
                                          <p:attrName>style.visibility</p:attrName>
                                        </p:attrNameLst>
                                      </p:cBhvr>
                                      <p:to>
                                        <p:strVal val="visible"/>
                                      </p:to>
                                    </p:set>
                                    <p:anim calcmode="lin" valueType="num">
                                      <p:cBhvr additive="base">
                                        <p:cTn id="18" dur="500" fill="hold"/>
                                        <p:tgtEl>
                                          <p:spTgt spid="39"/>
                                        </p:tgtEl>
                                        <p:attrNameLst>
                                          <p:attrName>ppt_x</p:attrName>
                                        </p:attrNameLst>
                                      </p:cBhvr>
                                      <p:tavLst>
                                        <p:tav tm="0">
                                          <p:val>
                                            <p:strVal val="#ppt_x"/>
                                          </p:val>
                                        </p:tav>
                                        <p:tav tm="100000">
                                          <p:val>
                                            <p:strVal val="#ppt_x"/>
                                          </p:val>
                                        </p:tav>
                                      </p:tavLst>
                                    </p:anim>
                                    <p:anim calcmode="lin" valueType="num">
                                      <p:cBhvr additive="base">
                                        <p:cTn id="19" dur="500" fill="hold"/>
                                        <p:tgtEl>
                                          <p:spTgt spid="39"/>
                                        </p:tgtEl>
                                        <p:attrNameLst>
                                          <p:attrName>ppt_y</p:attrName>
                                        </p:attrNameLst>
                                      </p:cBhvr>
                                      <p:tavLst>
                                        <p:tav tm="0">
                                          <p:val>
                                            <p:strVal val="0-#ppt_h/2"/>
                                          </p:val>
                                        </p:tav>
                                        <p:tav tm="100000">
                                          <p:val>
                                            <p:strVal val="#ppt_y"/>
                                          </p:val>
                                        </p:tav>
                                      </p:tavLst>
                                    </p:anim>
                                  </p:childTnLst>
                                </p:cTn>
                              </p:par>
                              <p:par>
                                <p:cTn id="20" presetID="9" presetClass="entr" presetSubtype="0" fill="hold" nodeType="with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dissolve">
                                      <p:cBhvr>
                                        <p:cTn id="22" dur="500"/>
                                        <p:tgtEl>
                                          <p:spTgt spid="39"/>
                                        </p:tgtEl>
                                      </p:cBhvr>
                                    </p:animEffect>
                                  </p:childTnLst>
                                </p:cTn>
                              </p:par>
                              <p:par>
                                <p:cTn id="23" presetID="2" presetClass="entr" presetSubtype="4" fill="hold" nodeType="withEffect">
                                  <p:stCondLst>
                                    <p:cond delay="0"/>
                                  </p:stCondLst>
                                  <p:childTnLst>
                                    <p:set>
                                      <p:cBhvr>
                                        <p:cTn id="24" dur="1" fill="hold">
                                          <p:stCondLst>
                                            <p:cond delay="0"/>
                                          </p:stCondLst>
                                        </p:cTn>
                                        <p:tgtEl>
                                          <p:spTgt spid="39"/>
                                        </p:tgtEl>
                                        <p:attrNameLst>
                                          <p:attrName>style.visibility</p:attrName>
                                        </p:attrNameLst>
                                      </p:cBhvr>
                                      <p:to>
                                        <p:strVal val="visible"/>
                                      </p:to>
                                    </p:set>
                                    <p:anim calcmode="lin" valueType="num">
                                      <p:cBhvr additive="base">
                                        <p:cTn id="25" dur="500" fill="hold"/>
                                        <p:tgtEl>
                                          <p:spTgt spid="39"/>
                                        </p:tgtEl>
                                        <p:attrNameLst>
                                          <p:attrName>ppt_x</p:attrName>
                                        </p:attrNameLst>
                                      </p:cBhvr>
                                      <p:tavLst>
                                        <p:tav tm="0">
                                          <p:val>
                                            <p:strVal val="#ppt_x"/>
                                          </p:val>
                                        </p:tav>
                                        <p:tav tm="100000">
                                          <p:val>
                                            <p:strVal val="#ppt_x"/>
                                          </p:val>
                                        </p:tav>
                                      </p:tavLst>
                                    </p:anim>
                                    <p:anim calcmode="lin" valueType="num">
                                      <p:cBhvr additive="base">
                                        <p:cTn id="26"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5" descr="A screenshot of a phone&#10;&#10;AI-generated content may be incorrect.">
            <a:extLst>
              <a:ext uri="{FF2B5EF4-FFF2-40B4-BE49-F238E27FC236}">
                <a16:creationId xmlns:a16="http://schemas.microsoft.com/office/drawing/2014/main" id="{41670C24-1CA7-1508-78FD-E9CF58653A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1272" y="1348223"/>
            <a:ext cx="2096580" cy="446229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TextBox 5">
            <a:extLst>
              <a:ext uri="{FF2B5EF4-FFF2-40B4-BE49-F238E27FC236}">
                <a16:creationId xmlns:a16="http://schemas.microsoft.com/office/drawing/2014/main" id="{F014A07D-31BA-001C-A788-5866068D710D}"/>
              </a:ext>
            </a:extLst>
          </p:cNvPr>
          <p:cNvSpPr txBox="1"/>
          <p:nvPr/>
        </p:nvSpPr>
        <p:spPr>
          <a:xfrm>
            <a:off x="299484" y="407551"/>
            <a:ext cx="660437" cy="185115"/>
          </a:xfrm>
          <a:prstGeom prst="rect">
            <a:avLst/>
          </a:prstGeom>
          <a:noFill/>
        </p:spPr>
        <p:txBody>
          <a:bodyPr wrap="none" lIns="0" tIns="0" rIns="0" bIns="0" rtlCol="0">
            <a:spAutoFit/>
          </a:bodyPr>
          <a:lstStyle/>
          <a:p>
            <a:pPr marL="0" marR="0" lvl="0" indent="0" defTabSz="914400" rtl="0" eaLnBrk="1" fontAlgn="auto" latinLnBrk="0" hangingPunct="1">
              <a:lnSpc>
                <a:spcPct val="6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Darker Grotesque" pitchFamily="2" charset="0"/>
              </a:rPr>
              <a:t>Solution</a:t>
            </a:r>
          </a:p>
        </p:txBody>
      </p:sp>
      <p:grpSp>
        <p:nvGrpSpPr>
          <p:cNvPr id="7" name="Group 6">
            <a:extLst>
              <a:ext uri="{FF2B5EF4-FFF2-40B4-BE49-F238E27FC236}">
                <a16:creationId xmlns:a16="http://schemas.microsoft.com/office/drawing/2014/main" id="{7D7518C3-8836-EFB7-5E37-80EBE6668FC2}"/>
              </a:ext>
            </a:extLst>
          </p:cNvPr>
          <p:cNvGrpSpPr/>
          <p:nvPr/>
        </p:nvGrpSpPr>
        <p:grpSpPr>
          <a:xfrm>
            <a:off x="299484" y="369986"/>
            <a:ext cx="11644423" cy="5495690"/>
            <a:chOff x="299484" y="369986"/>
            <a:chExt cx="11644423" cy="5495690"/>
          </a:xfrm>
        </p:grpSpPr>
        <p:grpSp>
          <p:nvGrpSpPr>
            <p:cNvPr id="11" name="Group 10">
              <a:extLst>
                <a:ext uri="{FF2B5EF4-FFF2-40B4-BE49-F238E27FC236}">
                  <a16:creationId xmlns:a16="http://schemas.microsoft.com/office/drawing/2014/main" id="{BF65C1F8-2125-09B1-6D86-6F9D6764E225}"/>
                </a:ext>
              </a:extLst>
            </p:cNvPr>
            <p:cNvGrpSpPr/>
            <p:nvPr/>
          </p:nvGrpSpPr>
          <p:grpSpPr>
            <a:xfrm>
              <a:off x="4959423" y="1293680"/>
              <a:ext cx="2273156" cy="4571996"/>
              <a:chOff x="6607174" y="689128"/>
              <a:chExt cx="2937140" cy="5907464"/>
            </a:xfrm>
          </p:grpSpPr>
          <p:sp>
            <p:nvSpPr>
              <p:cNvPr id="58" name="outside">
                <a:extLst>
                  <a:ext uri="{FF2B5EF4-FFF2-40B4-BE49-F238E27FC236}">
                    <a16:creationId xmlns:a16="http://schemas.microsoft.com/office/drawing/2014/main" id="{05AE6249-104D-0E52-5AF6-892A8C386259}"/>
                  </a:ext>
                </a:extLst>
              </p:cNvPr>
              <p:cNvSpPr/>
              <p:nvPr/>
            </p:nvSpPr>
            <p:spPr>
              <a:xfrm>
                <a:off x="6607174" y="689128"/>
                <a:ext cx="2937140" cy="5907464"/>
              </a:xfrm>
              <a:custGeom>
                <a:avLst/>
                <a:gdLst>
                  <a:gd name="connsiteX0" fmla="*/ 22333 w 2832905"/>
                  <a:gd name="connsiteY0" fmla="*/ 2054538 h 5697817"/>
                  <a:gd name="connsiteX1" fmla="*/ 28432 w 2832905"/>
                  <a:gd name="connsiteY1" fmla="*/ 2054538 h 5697817"/>
                  <a:gd name="connsiteX2" fmla="*/ 28432 w 2832905"/>
                  <a:gd name="connsiteY2" fmla="*/ 2486797 h 5697817"/>
                  <a:gd name="connsiteX3" fmla="*/ 22333 w 2832905"/>
                  <a:gd name="connsiteY3" fmla="*/ 2486797 h 5697817"/>
                  <a:gd name="connsiteX4" fmla="*/ 10153 w 2832905"/>
                  <a:gd name="connsiteY4" fmla="*/ 2474737 h 5697817"/>
                  <a:gd name="connsiteX5" fmla="*/ 10153 w 2832905"/>
                  <a:gd name="connsiteY5" fmla="*/ 2066599 h 5697817"/>
                  <a:gd name="connsiteX6" fmla="*/ 22333 w 2832905"/>
                  <a:gd name="connsiteY6" fmla="*/ 2054538 h 5697817"/>
                  <a:gd name="connsiteX7" fmla="*/ 2814626 w 2832905"/>
                  <a:gd name="connsiteY7" fmla="*/ 1805240 h 5697817"/>
                  <a:gd name="connsiteX8" fmla="*/ 2820725 w 2832905"/>
                  <a:gd name="connsiteY8" fmla="*/ 1805240 h 5697817"/>
                  <a:gd name="connsiteX9" fmla="*/ 2832905 w 2832905"/>
                  <a:gd name="connsiteY9" fmla="*/ 1817300 h 5697817"/>
                  <a:gd name="connsiteX10" fmla="*/ 2832905 w 2832905"/>
                  <a:gd name="connsiteY10" fmla="*/ 2474737 h 5697817"/>
                  <a:gd name="connsiteX11" fmla="*/ 2820725 w 2832905"/>
                  <a:gd name="connsiteY11" fmla="*/ 2486812 h 5697817"/>
                  <a:gd name="connsiteX12" fmla="*/ 2814626 w 2832905"/>
                  <a:gd name="connsiteY12" fmla="*/ 2486812 h 5697817"/>
                  <a:gd name="connsiteX13" fmla="*/ 22333 w 2832905"/>
                  <a:gd name="connsiteY13" fmla="*/ 1505638 h 5697817"/>
                  <a:gd name="connsiteX14" fmla="*/ 28432 w 2832905"/>
                  <a:gd name="connsiteY14" fmla="*/ 1505638 h 5697817"/>
                  <a:gd name="connsiteX15" fmla="*/ 28432 w 2832905"/>
                  <a:gd name="connsiteY15" fmla="*/ 1937896 h 5697817"/>
                  <a:gd name="connsiteX16" fmla="*/ 22333 w 2832905"/>
                  <a:gd name="connsiteY16" fmla="*/ 1937896 h 5697817"/>
                  <a:gd name="connsiteX17" fmla="*/ 20797 w 2832905"/>
                  <a:gd name="connsiteY17" fmla="*/ 1937266 h 5697817"/>
                  <a:gd name="connsiteX18" fmla="*/ 13724 w 2832905"/>
                  <a:gd name="connsiteY18" fmla="*/ 1934366 h 5697817"/>
                  <a:gd name="connsiteX19" fmla="*/ 10153 w 2832905"/>
                  <a:gd name="connsiteY19" fmla="*/ 1925836 h 5697817"/>
                  <a:gd name="connsiteX20" fmla="*/ 10153 w 2832905"/>
                  <a:gd name="connsiteY20" fmla="*/ 1517698 h 5697817"/>
                  <a:gd name="connsiteX21" fmla="*/ 22333 w 2832905"/>
                  <a:gd name="connsiteY21" fmla="*/ 1505638 h 5697817"/>
                  <a:gd name="connsiteX22" fmla="*/ 12180 w 2832905"/>
                  <a:gd name="connsiteY22" fmla="*/ 1095446 h 5697817"/>
                  <a:gd name="connsiteX23" fmla="*/ 28426 w 2832905"/>
                  <a:gd name="connsiteY23" fmla="*/ 1095446 h 5697817"/>
                  <a:gd name="connsiteX24" fmla="*/ 28426 w 2832905"/>
                  <a:gd name="connsiteY24" fmla="*/ 1308564 h 5697817"/>
                  <a:gd name="connsiteX25" fmla="*/ 20757 w 2832905"/>
                  <a:gd name="connsiteY25" fmla="*/ 1308564 h 5697817"/>
                  <a:gd name="connsiteX26" fmla="*/ 12180 w 2832905"/>
                  <a:gd name="connsiteY26" fmla="*/ 1308564 h 5697817"/>
                  <a:gd name="connsiteX27" fmla="*/ 0 w 2832905"/>
                  <a:gd name="connsiteY27" fmla="*/ 1296488 h 5697817"/>
                  <a:gd name="connsiteX28" fmla="*/ 0 w 2832905"/>
                  <a:gd name="connsiteY28" fmla="*/ 1107506 h 5697817"/>
                  <a:gd name="connsiteX29" fmla="*/ 12180 w 2832905"/>
                  <a:gd name="connsiteY29" fmla="*/ 1095446 h 5697817"/>
                  <a:gd name="connsiteX30" fmla="*/ 569962 w 2832905"/>
                  <a:gd name="connsiteY30" fmla="*/ 68347 h 5697817"/>
                  <a:gd name="connsiteX31" fmla="*/ 105533 w 2832905"/>
                  <a:gd name="connsiteY31" fmla="*/ 532776 h 5697817"/>
                  <a:gd name="connsiteX32" fmla="*/ 105533 w 2832905"/>
                  <a:gd name="connsiteY32" fmla="*/ 5165018 h 5697817"/>
                  <a:gd name="connsiteX33" fmla="*/ 569962 w 2832905"/>
                  <a:gd name="connsiteY33" fmla="*/ 5629447 h 5697817"/>
                  <a:gd name="connsiteX34" fmla="*/ 2262816 w 2832905"/>
                  <a:gd name="connsiteY34" fmla="*/ 5629447 h 5697817"/>
                  <a:gd name="connsiteX35" fmla="*/ 2727260 w 2832905"/>
                  <a:gd name="connsiteY35" fmla="*/ 5165018 h 5697817"/>
                  <a:gd name="connsiteX36" fmla="*/ 2727260 w 2832905"/>
                  <a:gd name="connsiteY36" fmla="*/ 532776 h 5697817"/>
                  <a:gd name="connsiteX37" fmla="*/ 2262816 w 2832905"/>
                  <a:gd name="connsiteY37" fmla="*/ 68347 h 5697817"/>
                  <a:gd name="connsiteX38" fmla="*/ 538151 w 2832905"/>
                  <a:gd name="connsiteY38" fmla="*/ 0 h 5697817"/>
                  <a:gd name="connsiteX39" fmla="*/ 2304803 w 2832905"/>
                  <a:gd name="connsiteY39" fmla="*/ 0 h 5697817"/>
                  <a:gd name="connsiteX40" fmla="*/ 2814484 w 2832905"/>
                  <a:gd name="connsiteY40" fmla="*/ 504650 h 5697817"/>
                  <a:gd name="connsiteX41" fmla="*/ 2814484 w 2832905"/>
                  <a:gd name="connsiteY41" fmla="*/ 5193183 h 5697817"/>
                  <a:gd name="connsiteX42" fmla="*/ 2304803 w 2832905"/>
                  <a:gd name="connsiteY42" fmla="*/ 5697817 h 5697817"/>
                  <a:gd name="connsiteX43" fmla="*/ 538151 w 2832905"/>
                  <a:gd name="connsiteY43" fmla="*/ 5697817 h 5697817"/>
                  <a:gd name="connsiteX44" fmla="*/ 28455 w 2832905"/>
                  <a:gd name="connsiteY44" fmla="*/ 5193183 h 5697817"/>
                  <a:gd name="connsiteX45" fmla="*/ 28455 w 2832905"/>
                  <a:gd name="connsiteY45" fmla="*/ 504650 h 5697817"/>
                  <a:gd name="connsiteX46" fmla="*/ 538151 w 2832905"/>
                  <a:gd name="connsiteY46" fmla="*/ 0 h 5697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2832905" h="5697817">
                    <a:moveTo>
                      <a:pt x="22333" y="2054538"/>
                    </a:moveTo>
                    <a:lnTo>
                      <a:pt x="28432" y="2054538"/>
                    </a:lnTo>
                    <a:lnTo>
                      <a:pt x="28432" y="2486797"/>
                    </a:lnTo>
                    <a:lnTo>
                      <a:pt x="22333" y="2486797"/>
                    </a:lnTo>
                    <a:cubicBezTo>
                      <a:pt x="15615" y="2486797"/>
                      <a:pt x="10153" y="2481389"/>
                      <a:pt x="10153" y="2474737"/>
                    </a:cubicBezTo>
                    <a:lnTo>
                      <a:pt x="10153" y="2066599"/>
                    </a:lnTo>
                    <a:cubicBezTo>
                      <a:pt x="10153" y="2059946"/>
                      <a:pt x="15615" y="2054538"/>
                      <a:pt x="22333" y="2054538"/>
                    </a:cubicBezTo>
                    <a:close/>
                    <a:moveTo>
                      <a:pt x="2814626" y="1805240"/>
                    </a:moveTo>
                    <a:lnTo>
                      <a:pt x="2820725" y="1805240"/>
                    </a:lnTo>
                    <a:cubicBezTo>
                      <a:pt x="2827443" y="1805240"/>
                      <a:pt x="2832905" y="1810648"/>
                      <a:pt x="2832905" y="1817300"/>
                    </a:cubicBezTo>
                    <a:lnTo>
                      <a:pt x="2832905" y="2474737"/>
                    </a:lnTo>
                    <a:cubicBezTo>
                      <a:pt x="2832905" y="2481404"/>
                      <a:pt x="2827443" y="2486812"/>
                      <a:pt x="2820725" y="2486812"/>
                    </a:cubicBezTo>
                    <a:lnTo>
                      <a:pt x="2814626" y="2486812"/>
                    </a:lnTo>
                    <a:close/>
                    <a:moveTo>
                      <a:pt x="22333" y="1505638"/>
                    </a:moveTo>
                    <a:lnTo>
                      <a:pt x="28432" y="1505638"/>
                    </a:lnTo>
                    <a:lnTo>
                      <a:pt x="28432" y="1937896"/>
                    </a:lnTo>
                    <a:lnTo>
                      <a:pt x="22333" y="1937896"/>
                    </a:lnTo>
                    <a:lnTo>
                      <a:pt x="20797" y="1937266"/>
                    </a:lnTo>
                    <a:lnTo>
                      <a:pt x="13724" y="1934366"/>
                    </a:lnTo>
                    <a:cubicBezTo>
                      <a:pt x="11518" y="1932185"/>
                      <a:pt x="10153" y="1929170"/>
                      <a:pt x="10153" y="1925836"/>
                    </a:cubicBezTo>
                    <a:lnTo>
                      <a:pt x="10153" y="1517698"/>
                    </a:lnTo>
                    <a:cubicBezTo>
                      <a:pt x="10153" y="1511030"/>
                      <a:pt x="15615" y="1505638"/>
                      <a:pt x="22333" y="1505638"/>
                    </a:cubicBezTo>
                    <a:close/>
                    <a:moveTo>
                      <a:pt x="12180" y="1095446"/>
                    </a:moveTo>
                    <a:lnTo>
                      <a:pt x="28426" y="1095446"/>
                    </a:lnTo>
                    <a:lnTo>
                      <a:pt x="28426" y="1308564"/>
                    </a:lnTo>
                    <a:lnTo>
                      <a:pt x="20757" y="1308564"/>
                    </a:lnTo>
                    <a:lnTo>
                      <a:pt x="12180" y="1308564"/>
                    </a:lnTo>
                    <a:cubicBezTo>
                      <a:pt x="5461" y="1308564"/>
                      <a:pt x="0" y="1303156"/>
                      <a:pt x="0" y="1296488"/>
                    </a:cubicBezTo>
                    <a:lnTo>
                      <a:pt x="0" y="1107506"/>
                    </a:lnTo>
                    <a:cubicBezTo>
                      <a:pt x="0" y="1100838"/>
                      <a:pt x="5461" y="1095446"/>
                      <a:pt x="12180" y="1095446"/>
                    </a:cubicBezTo>
                    <a:close/>
                    <a:moveTo>
                      <a:pt x="569962" y="68347"/>
                    </a:moveTo>
                    <a:cubicBezTo>
                      <a:pt x="313458" y="68347"/>
                      <a:pt x="105533" y="276272"/>
                      <a:pt x="105533" y="532776"/>
                    </a:cubicBezTo>
                    <a:lnTo>
                      <a:pt x="105533" y="5165018"/>
                    </a:lnTo>
                    <a:cubicBezTo>
                      <a:pt x="105533" y="5421522"/>
                      <a:pt x="313458" y="5629447"/>
                      <a:pt x="569962" y="5629447"/>
                    </a:cubicBezTo>
                    <a:lnTo>
                      <a:pt x="2262816" y="5629447"/>
                    </a:lnTo>
                    <a:cubicBezTo>
                      <a:pt x="2519319" y="5629447"/>
                      <a:pt x="2727260" y="5421522"/>
                      <a:pt x="2727260" y="5165018"/>
                    </a:cubicBezTo>
                    <a:lnTo>
                      <a:pt x="2727260" y="532776"/>
                    </a:lnTo>
                    <a:cubicBezTo>
                      <a:pt x="2727260" y="276272"/>
                      <a:pt x="2519319" y="68347"/>
                      <a:pt x="2262816" y="68347"/>
                    </a:cubicBezTo>
                    <a:close/>
                    <a:moveTo>
                      <a:pt x="538151" y="0"/>
                    </a:moveTo>
                    <a:lnTo>
                      <a:pt x="2304803" y="0"/>
                    </a:lnTo>
                    <a:cubicBezTo>
                      <a:pt x="2586293" y="0"/>
                      <a:pt x="2814484" y="225931"/>
                      <a:pt x="2814484" y="504650"/>
                    </a:cubicBezTo>
                    <a:lnTo>
                      <a:pt x="2814484" y="5193183"/>
                    </a:lnTo>
                    <a:cubicBezTo>
                      <a:pt x="2814484" y="5471886"/>
                      <a:pt x="2586293" y="5697817"/>
                      <a:pt x="2304803" y="5697817"/>
                    </a:cubicBezTo>
                    <a:lnTo>
                      <a:pt x="538151" y="5697817"/>
                    </a:lnTo>
                    <a:cubicBezTo>
                      <a:pt x="256660" y="5697817"/>
                      <a:pt x="28455" y="5471886"/>
                      <a:pt x="28455" y="5193183"/>
                    </a:cubicBezTo>
                    <a:lnTo>
                      <a:pt x="28455" y="504650"/>
                    </a:lnTo>
                    <a:cubicBezTo>
                      <a:pt x="28455" y="225931"/>
                      <a:pt x="256660" y="0"/>
                      <a:pt x="538151" y="0"/>
                    </a:cubicBezTo>
                    <a:close/>
                  </a:path>
                </a:pathLst>
              </a:custGeom>
              <a:noFill/>
              <a:ln w="3991" cap="flat">
                <a:solidFill>
                  <a:schemeClr val="bg1"/>
                </a:solid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Poppins Light"/>
                  <a:ea typeface="+mn-ea"/>
                  <a:cs typeface="+mn-cs"/>
                </a:endParaRPr>
              </a:p>
            </p:txBody>
          </p:sp>
          <p:sp>
            <p:nvSpPr>
              <p:cNvPr id="59" name="inside black outline">
                <a:extLst>
                  <a:ext uri="{FF2B5EF4-FFF2-40B4-BE49-F238E27FC236}">
                    <a16:creationId xmlns:a16="http://schemas.microsoft.com/office/drawing/2014/main" id="{6871D440-74D3-E3A8-C000-31CBEAE940B1}"/>
                  </a:ext>
                </a:extLst>
              </p:cNvPr>
              <p:cNvSpPr/>
              <p:nvPr/>
            </p:nvSpPr>
            <p:spPr>
              <a:xfrm>
                <a:off x="6716647" y="759603"/>
                <a:ext cx="2718191" cy="5765715"/>
              </a:xfrm>
              <a:custGeom>
                <a:avLst/>
                <a:gdLst>
                  <a:gd name="connsiteX0" fmla="*/ 464470 w 2621726"/>
                  <a:gd name="connsiteY0" fmla="*/ 373 h 5561099"/>
                  <a:gd name="connsiteX1" fmla="*/ 2157324 w 2621726"/>
                  <a:gd name="connsiteY1" fmla="*/ 373 h 5561099"/>
                  <a:gd name="connsiteX2" fmla="*/ 2621768 w 2621726"/>
                  <a:gd name="connsiteY2" fmla="*/ 464802 h 5561099"/>
                  <a:gd name="connsiteX3" fmla="*/ 2621768 w 2621726"/>
                  <a:gd name="connsiteY3" fmla="*/ 5097044 h 5561099"/>
                  <a:gd name="connsiteX4" fmla="*/ 2157324 w 2621726"/>
                  <a:gd name="connsiteY4" fmla="*/ 5561473 h 5561099"/>
                  <a:gd name="connsiteX5" fmla="*/ 464470 w 2621726"/>
                  <a:gd name="connsiteY5" fmla="*/ 5561473 h 5561099"/>
                  <a:gd name="connsiteX6" fmla="*/ 41 w 2621726"/>
                  <a:gd name="connsiteY6" fmla="*/ 5097044 h 5561099"/>
                  <a:gd name="connsiteX7" fmla="*/ 41 w 2621726"/>
                  <a:gd name="connsiteY7" fmla="*/ 464802 h 5561099"/>
                  <a:gd name="connsiteX8" fmla="*/ 464470 w 2621726"/>
                  <a:gd name="connsiteY8" fmla="*/ 373 h 5561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21726" h="5561099">
                    <a:moveTo>
                      <a:pt x="464470" y="373"/>
                    </a:moveTo>
                    <a:lnTo>
                      <a:pt x="2157324" y="373"/>
                    </a:lnTo>
                    <a:cubicBezTo>
                      <a:pt x="2413827" y="373"/>
                      <a:pt x="2621768" y="208298"/>
                      <a:pt x="2621768" y="464802"/>
                    </a:cubicBezTo>
                    <a:lnTo>
                      <a:pt x="2621768" y="5097044"/>
                    </a:lnTo>
                    <a:cubicBezTo>
                      <a:pt x="2621768" y="5353548"/>
                      <a:pt x="2413827" y="5561473"/>
                      <a:pt x="2157324" y="5561473"/>
                    </a:cubicBezTo>
                    <a:lnTo>
                      <a:pt x="464470" y="5561473"/>
                    </a:lnTo>
                    <a:cubicBezTo>
                      <a:pt x="207966" y="5561473"/>
                      <a:pt x="41" y="5353548"/>
                      <a:pt x="41" y="5097044"/>
                    </a:cubicBezTo>
                    <a:lnTo>
                      <a:pt x="41" y="464802"/>
                    </a:lnTo>
                    <a:cubicBezTo>
                      <a:pt x="41" y="208298"/>
                      <a:pt x="207966" y="373"/>
                      <a:pt x="464470" y="373"/>
                    </a:cubicBezTo>
                    <a:close/>
                  </a:path>
                </a:pathLst>
              </a:custGeom>
              <a:noFill/>
              <a:ln w="80427" cap="flat">
                <a:solidFill>
                  <a:schemeClr val="bg1"/>
                </a:solid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Poppins Light"/>
                  <a:ea typeface="+mn-ea"/>
                  <a:cs typeface="+mn-cs"/>
                </a:endParaRPr>
              </a:p>
            </p:txBody>
          </p:sp>
        </p:grpSp>
        <p:grpSp>
          <p:nvGrpSpPr>
            <p:cNvPr id="12" name="Group 11">
              <a:extLst>
                <a:ext uri="{FF2B5EF4-FFF2-40B4-BE49-F238E27FC236}">
                  <a16:creationId xmlns:a16="http://schemas.microsoft.com/office/drawing/2014/main" id="{7A5B9A37-6F1A-ACB1-12C8-E78B0FBBC935}"/>
                </a:ext>
              </a:extLst>
            </p:cNvPr>
            <p:cNvGrpSpPr/>
            <p:nvPr/>
          </p:nvGrpSpPr>
          <p:grpSpPr>
            <a:xfrm>
              <a:off x="1104844" y="1632218"/>
              <a:ext cx="3226525" cy="3416279"/>
              <a:chOff x="1405993" y="1632218"/>
              <a:chExt cx="3226525" cy="3416279"/>
            </a:xfrm>
          </p:grpSpPr>
          <p:sp>
            <p:nvSpPr>
              <p:cNvPr id="54" name="TextBox 53">
                <a:extLst>
                  <a:ext uri="{FF2B5EF4-FFF2-40B4-BE49-F238E27FC236}">
                    <a16:creationId xmlns:a16="http://schemas.microsoft.com/office/drawing/2014/main" id="{1BF25DE2-4A53-3B56-4A8B-B48365FB6CCF}"/>
                  </a:ext>
                </a:extLst>
              </p:cNvPr>
              <p:cNvSpPr txBox="1"/>
              <p:nvPr/>
            </p:nvSpPr>
            <p:spPr>
              <a:xfrm>
                <a:off x="1405993" y="1632218"/>
                <a:ext cx="2667718" cy="1655838"/>
              </a:xfrm>
              <a:prstGeom prst="rect">
                <a:avLst/>
              </a:prstGeom>
              <a:noFill/>
            </p:spPr>
            <p:txBody>
              <a:bodyPr wrap="none"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pPr algn="l"/>
                <a:r>
                  <a:rPr lang="en-US" dirty="0"/>
                  <a:t>Life</a:t>
                </a:r>
              </a:p>
              <a:p>
                <a:pPr algn="l"/>
                <a:r>
                  <a:rPr lang="en-US" dirty="0"/>
                  <a:t>Quest</a:t>
                </a:r>
              </a:p>
            </p:txBody>
          </p:sp>
          <p:sp>
            <p:nvSpPr>
              <p:cNvPr id="55" name="TextBox 54">
                <a:extLst>
                  <a:ext uri="{FF2B5EF4-FFF2-40B4-BE49-F238E27FC236}">
                    <a16:creationId xmlns:a16="http://schemas.microsoft.com/office/drawing/2014/main" id="{C82F8994-DD35-FABE-A2A1-65D0F35F2630}"/>
                  </a:ext>
                </a:extLst>
              </p:cNvPr>
              <p:cNvSpPr txBox="1"/>
              <p:nvPr/>
            </p:nvSpPr>
            <p:spPr>
              <a:xfrm>
                <a:off x="1522371" y="3429000"/>
                <a:ext cx="3110147" cy="984885"/>
              </a:xfrm>
              <a:prstGeom prst="rect">
                <a:avLst/>
              </a:prstGeom>
              <a:noFill/>
            </p:spPr>
            <p:txBody>
              <a:bodyPr wrap="square" lIns="0" tIns="0" rIns="0" bIns="0" rtlCol="0">
                <a:spAutoFit/>
              </a:bodyP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pPr algn="l"/>
                <a:r>
                  <a:rPr lang="en-US" dirty="0" err="1"/>
                  <a:t>LifeQuest</a:t>
                </a:r>
                <a:r>
                  <a:rPr lang="en-US" dirty="0"/>
                  <a:t>" is a mobile game that gamifies healthy behaviors to combat isolation and foster social connections.</a:t>
                </a:r>
              </a:p>
            </p:txBody>
          </p:sp>
          <p:sp>
            <p:nvSpPr>
              <p:cNvPr id="56" name="Rectangle: Rounded Corners 15">
                <a:extLst>
                  <a:ext uri="{FF2B5EF4-FFF2-40B4-BE49-F238E27FC236}">
                    <a16:creationId xmlns:a16="http://schemas.microsoft.com/office/drawing/2014/main" id="{BA3C568E-0F81-F327-4CFD-C6F02908DE91}"/>
                  </a:ext>
                </a:extLst>
              </p:cNvPr>
              <p:cNvSpPr/>
              <p:nvPr/>
            </p:nvSpPr>
            <p:spPr>
              <a:xfrm>
                <a:off x="1526860" y="4667497"/>
                <a:ext cx="1198884" cy="381000"/>
              </a:xfrm>
              <a:prstGeom prst="roundRect">
                <a:avLst>
                  <a:gd name="adj" fmla="val 23333"/>
                </a:avLst>
              </a:prstGeom>
              <a:solidFill>
                <a:schemeClr val="bg1">
                  <a:alpha val="10000"/>
                </a:schemeClr>
              </a:solid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200" b="0" i="0" u="none" strike="noStrike" kern="1200" cap="none" spc="30" normalizeH="0" baseline="0" noProof="0" dirty="0">
                    <a:ln>
                      <a:noFill/>
                    </a:ln>
                    <a:solidFill>
                      <a:srgbClr val="FFFFFF"/>
                    </a:solidFill>
                    <a:effectLst/>
                    <a:uLnTx/>
                    <a:uFillTx/>
                    <a:latin typeface="+mj-lt"/>
                    <a:ea typeface="+mn-ea"/>
                    <a:cs typeface="Poppins SemiBold" panose="00000700000000000000" pitchFamily="2" charset="0"/>
                    <a:hlinkClick r:id="rId4"/>
                  </a:rPr>
                  <a:t>Click Here</a:t>
                </a:r>
                <a:endParaRPr kumimoji="0" lang="en-GB" sz="1200" b="0" i="0" u="none" strike="noStrike" kern="1200" cap="none" spc="30" normalizeH="0" baseline="0" noProof="0" dirty="0">
                  <a:ln>
                    <a:noFill/>
                  </a:ln>
                  <a:solidFill>
                    <a:srgbClr val="FFFFFF"/>
                  </a:solidFill>
                  <a:effectLst/>
                  <a:uLnTx/>
                  <a:uFillTx/>
                  <a:latin typeface="+mj-lt"/>
                  <a:ea typeface="+mn-ea"/>
                  <a:cs typeface="Poppins SemiBold" panose="00000700000000000000" pitchFamily="2" charset="0"/>
                </a:endParaRPr>
              </a:p>
            </p:txBody>
          </p:sp>
        </p:grpSp>
        <p:grpSp>
          <p:nvGrpSpPr>
            <p:cNvPr id="14" name="Group 13">
              <a:extLst>
                <a:ext uri="{FF2B5EF4-FFF2-40B4-BE49-F238E27FC236}">
                  <a16:creationId xmlns:a16="http://schemas.microsoft.com/office/drawing/2014/main" id="{C6B7686C-AE86-4DF6-6CBD-0B678F438900}"/>
                </a:ext>
              </a:extLst>
            </p:cNvPr>
            <p:cNvGrpSpPr/>
            <p:nvPr/>
          </p:nvGrpSpPr>
          <p:grpSpPr>
            <a:xfrm>
              <a:off x="8256077" y="2877439"/>
              <a:ext cx="3035300" cy="1103122"/>
              <a:chOff x="8458994" y="2108200"/>
              <a:chExt cx="3035300" cy="1092200"/>
            </a:xfrm>
          </p:grpSpPr>
          <p:sp>
            <p:nvSpPr>
              <p:cNvPr id="51" name="Rounded Rectangle 95">
                <a:extLst>
                  <a:ext uri="{FF2B5EF4-FFF2-40B4-BE49-F238E27FC236}">
                    <a16:creationId xmlns:a16="http://schemas.microsoft.com/office/drawing/2014/main" id="{A4AFD5ED-590A-79F9-F1D4-3FDFBD753E0E}"/>
                  </a:ext>
                </a:extLst>
              </p:cNvPr>
              <p:cNvSpPr/>
              <p:nvPr/>
            </p:nvSpPr>
            <p:spPr>
              <a:xfrm>
                <a:off x="8458994" y="2108200"/>
                <a:ext cx="3035300" cy="1092200"/>
              </a:xfrm>
              <a:prstGeom prst="roundRect">
                <a:avLst>
                  <a:gd name="adj" fmla="val 10323"/>
                </a:avLst>
              </a:prstGeom>
              <a:solidFill>
                <a:schemeClr val="bg1">
                  <a:alpha val="10000"/>
                </a:schemeClr>
              </a:solid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LT" sz="1000" b="0" i="0" u="none" strike="noStrike" kern="1200" cap="none" spc="30" normalizeH="0" baseline="0" noProof="0" dirty="0">
                  <a:ln>
                    <a:noFill/>
                  </a:ln>
                  <a:solidFill>
                    <a:srgbClr val="FFFFFF"/>
                  </a:solidFill>
                  <a:effectLst/>
                  <a:uLnTx/>
                  <a:uFillTx/>
                  <a:latin typeface="Poppins Light"/>
                  <a:ea typeface="+mn-ea"/>
                  <a:cs typeface="Poppins SemiBold" panose="00000700000000000000" pitchFamily="2" charset="0"/>
                </a:endParaRPr>
              </a:p>
            </p:txBody>
          </p:sp>
          <p:sp>
            <p:nvSpPr>
              <p:cNvPr id="53" name="TextBox 52">
                <a:extLst>
                  <a:ext uri="{FF2B5EF4-FFF2-40B4-BE49-F238E27FC236}">
                    <a16:creationId xmlns:a16="http://schemas.microsoft.com/office/drawing/2014/main" id="{24884E34-A186-6631-208F-8485685A4E7E}"/>
                  </a:ext>
                </a:extLst>
              </p:cNvPr>
              <p:cNvSpPr txBox="1"/>
              <p:nvPr/>
            </p:nvSpPr>
            <p:spPr>
              <a:xfrm>
                <a:off x="8632825" y="2313186"/>
                <a:ext cx="993862" cy="199851"/>
              </a:xfrm>
              <a:prstGeom prst="rect">
                <a:avLst/>
              </a:prstGeom>
              <a:noFill/>
            </p:spPr>
            <p:txBody>
              <a:bodyPr wrap="none" lIns="0" tIns="0" rIns="0" bIns="0" anchor="t">
                <a:spAutoFit/>
              </a:bodyPr>
              <a:lstStyle>
                <a:defPPr>
                  <a:defRPr lang="en-US"/>
                </a:defPPr>
                <a:lvl1pPr marR="0" lvl="0" indent="0" fontAlgn="auto">
                  <a:lnSpc>
                    <a:spcPct val="8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mj-lt"/>
                    <a:cs typeface="Poppins SemiBold" panose="00000700000000000000" pitchFamily="2" charset="0"/>
                  </a:defRPr>
                </a:lvl1pPr>
              </a:lstStyle>
              <a:p>
                <a:r>
                  <a:rPr kumimoji="0" lang="en-US" sz="1600" b="0" i="0" u="none" strike="noStrike" kern="1200" cap="none" spc="0" normalizeH="0" baseline="0" noProof="0" dirty="0">
                    <a:ln>
                      <a:noFill/>
                    </a:ln>
                    <a:solidFill>
                      <a:prstClr val="white"/>
                    </a:solidFill>
                    <a:effectLst/>
                    <a:uLnTx/>
                    <a:uFillTx/>
                    <a:latin typeface="+mj-lt"/>
                    <a:ea typeface="+mn-ea"/>
                    <a:cs typeface="Poppins SemiBold" panose="00000700000000000000" pitchFamily="2" charset="0"/>
                  </a:rPr>
                  <a:t>Job Support</a:t>
                </a:r>
                <a:endParaRPr lang="en-US" dirty="0"/>
              </a:p>
            </p:txBody>
          </p:sp>
        </p:grpSp>
        <p:grpSp>
          <p:nvGrpSpPr>
            <p:cNvPr id="25" name="Group 24">
              <a:extLst>
                <a:ext uri="{FF2B5EF4-FFF2-40B4-BE49-F238E27FC236}">
                  <a16:creationId xmlns:a16="http://schemas.microsoft.com/office/drawing/2014/main" id="{55067E27-C1B8-8BD8-D9DF-A43CCF35F86B}"/>
                </a:ext>
              </a:extLst>
            </p:cNvPr>
            <p:cNvGrpSpPr/>
            <p:nvPr/>
          </p:nvGrpSpPr>
          <p:grpSpPr>
            <a:xfrm>
              <a:off x="8256077" y="4306436"/>
              <a:ext cx="3035300" cy="1103122"/>
              <a:chOff x="8458994" y="2108200"/>
              <a:chExt cx="3035300" cy="1092200"/>
            </a:xfrm>
          </p:grpSpPr>
          <p:sp>
            <p:nvSpPr>
              <p:cNvPr id="48" name="Rounded Rectangle 95">
                <a:extLst>
                  <a:ext uri="{FF2B5EF4-FFF2-40B4-BE49-F238E27FC236}">
                    <a16:creationId xmlns:a16="http://schemas.microsoft.com/office/drawing/2014/main" id="{37110961-D0C1-F92A-FBB2-5D8084DD35C8}"/>
                  </a:ext>
                </a:extLst>
              </p:cNvPr>
              <p:cNvSpPr/>
              <p:nvPr/>
            </p:nvSpPr>
            <p:spPr>
              <a:xfrm>
                <a:off x="8458994" y="2108200"/>
                <a:ext cx="3035300" cy="1092200"/>
              </a:xfrm>
              <a:prstGeom prst="roundRect">
                <a:avLst>
                  <a:gd name="adj" fmla="val 10323"/>
                </a:avLst>
              </a:prstGeom>
              <a:solidFill>
                <a:schemeClr val="bg1">
                  <a:alpha val="10000"/>
                </a:schemeClr>
              </a:solid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LT" sz="1000" b="0" i="0" u="none" strike="noStrike" kern="1200" cap="none" spc="30" normalizeH="0" baseline="0" noProof="0" dirty="0">
                  <a:ln>
                    <a:noFill/>
                  </a:ln>
                  <a:solidFill>
                    <a:srgbClr val="FFFFFF"/>
                  </a:solidFill>
                  <a:effectLst/>
                  <a:uLnTx/>
                  <a:uFillTx/>
                  <a:latin typeface="Poppins Light"/>
                  <a:ea typeface="+mn-ea"/>
                  <a:cs typeface="Poppins SemiBold" panose="00000700000000000000" pitchFamily="2" charset="0"/>
                </a:endParaRPr>
              </a:p>
            </p:txBody>
          </p:sp>
          <p:sp>
            <p:nvSpPr>
              <p:cNvPr id="50" name="TextBox 49">
                <a:extLst>
                  <a:ext uri="{FF2B5EF4-FFF2-40B4-BE49-F238E27FC236}">
                    <a16:creationId xmlns:a16="http://schemas.microsoft.com/office/drawing/2014/main" id="{E40ADD8C-4A75-26D8-ABE4-296467F01ABF}"/>
                  </a:ext>
                </a:extLst>
              </p:cNvPr>
              <p:cNvSpPr txBox="1"/>
              <p:nvPr/>
            </p:nvSpPr>
            <p:spPr>
              <a:xfrm>
                <a:off x="8632825" y="2313186"/>
                <a:ext cx="1974900" cy="199851"/>
              </a:xfrm>
              <a:prstGeom prst="rect">
                <a:avLst/>
              </a:prstGeom>
              <a:noFill/>
            </p:spPr>
            <p:txBody>
              <a:bodyPr wrap="none" lIns="0" tIns="0" rIns="0" bIns="0" anchor="t">
                <a:spAutoFit/>
              </a:bodyPr>
              <a:lstStyle>
                <a:defPPr>
                  <a:defRPr lang="en-US"/>
                </a:defPPr>
                <a:lvl1pPr marR="0" lvl="0" indent="0" fontAlgn="auto">
                  <a:lnSpc>
                    <a:spcPct val="8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mj-lt"/>
                    <a:cs typeface="Poppins SemiBold" panose="00000700000000000000" pitchFamily="2" charset="0"/>
                  </a:defRPr>
                </a:lvl1pPr>
              </a:lstStyle>
              <a:p>
                <a:r>
                  <a:rPr kumimoji="0" lang="en-US" sz="1600" b="0" i="0" u="none" strike="noStrike" kern="1200" cap="none" spc="0" normalizeH="0" baseline="0" noProof="0" dirty="0">
                    <a:ln>
                      <a:noFill/>
                    </a:ln>
                    <a:solidFill>
                      <a:prstClr val="white"/>
                    </a:solidFill>
                    <a:effectLst/>
                    <a:uLnTx/>
                    <a:uFillTx/>
                    <a:latin typeface="+mj-lt"/>
                    <a:ea typeface="+mn-ea"/>
                    <a:cs typeface="Poppins SemiBold" panose="00000700000000000000" pitchFamily="2" charset="0"/>
                  </a:rPr>
                  <a:t>Rewards &amp; Engagement</a:t>
                </a:r>
                <a:endParaRPr lang="en-US" dirty="0"/>
              </a:p>
            </p:txBody>
          </p:sp>
        </p:grpSp>
        <p:grpSp>
          <p:nvGrpSpPr>
            <p:cNvPr id="26" name="Group 25">
              <a:extLst>
                <a:ext uri="{FF2B5EF4-FFF2-40B4-BE49-F238E27FC236}">
                  <a16:creationId xmlns:a16="http://schemas.microsoft.com/office/drawing/2014/main" id="{FA1B1640-21E9-B2FF-F8E7-1C4A8CE821FB}"/>
                </a:ext>
              </a:extLst>
            </p:cNvPr>
            <p:cNvGrpSpPr/>
            <p:nvPr/>
          </p:nvGrpSpPr>
          <p:grpSpPr>
            <a:xfrm>
              <a:off x="8256077" y="1448441"/>
              <a:ext cx="3035300" cy="1103122"/>
              <a:chOff x="8458994" y="2108200"/>
              <a:chExt cx="3035300" cy="1092200"/>
            </a:xfrm>
          </p:grpSpPr>
          <p:sp>
            <p:nvSpPr>
              <p:cNvPr id="45" name="Rounded Rectangle 95">
                <a:extLst>
                  <a:ext uri="{FF2B5EF4-FFF2-40B4-BE49-F238E27FC236}">
                    <a16:creationId xmlns:a16="http://schemas.microsoft.com/office/drawing/2014/main" id="{DFFB48B9-20C0-938B-53BC-E5267D5216AB}"/>
                  </a:ext>
                </a:extLst>
              </p:cNvPr>
              <p:cNvSpPr/>
              <p:nvPr/>
            </p:nvSpPr>
            <p:spPr>
              <a:xfrm>
                <a:off x="8458994" y="2108200"/>
                <a:ext cx="3035300" cy="1092200"/>
              </a:xfrm>
              <a:prstGeom prst="roundRect">
                <a:avLst>
                  <a:gd name="adj" fmla="val 10323"/>
                </a:avLst>
              </a:prstGeom>
              <a:solidFill>
                <a:schemeClr val="bg1">
                  <a:alpha val="10000"/>
                </a:schemeClr>
              </a:solid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LT" sz="1000" b="0" i="0" u="none" strike="noStrike" kern="1200" cap="none" spc="30" normalizeH="0" baseline="0" noProof="0" dirty="0">
                  <a:ln>
                    <a:noFill/>
                  </a:ln>
                  <a:solidFill>
                    <a:srgbClr val="FFFFFF"/>
                  </a:solidFill>
                  <a:effectLst/>
                  <a:uLnTx/>
                  <a:uFillTx/>
                  <a:latin typeface="Poppins Light"/>
                  <a:ea typeface="+mn-ea"/>
                  <a:cs typeface="Poppins SemiBold" panose="00000700000000000000" pitchFamily="2" charset="0"/>
                </a:endParaRPr>
              </a:p>
            </p:txBody>
          </p:sp>
          <p:sp>
            <p:nvSpPr>
              <p:cNvPr id="46" name="TextBox 45">
                <a:extLst>
                  <a:ext uri="{FF2B5EF4-FFF2-40B4-BE49-F238E27FC236}">
                    <a16:creationId xmlns:a16="http://schemas.microsoft.com/office/drawing/2014/main" id="{52A19C43-71C0-DAB3-5E5F-F338EFE1ADAE}"/>
                  </a:ext>
                </a:extLst>
              </p:cNvPr>
              <p:cNvSpPr txBox="1"/>
              <p:nvPr/>
            </p:nvSpPr>
            <p:spPr>
              <a:xfrm>
                <a:off x="8632825" y="2571884"/>
                <a:ext cx="2756941" cy="502803"/>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GB" sz="1100" dirty="0">
                    <a:solidFill>
                      <a:prstClr val="white">
                        <a:alpha val="50000"/>
                      </a:prstClr>
                    </a:solidFill>
                  </a:rPr>
                  <a:t>Connects users to in-person and virtual events, helping them network beyond their previous job and reduce isolation.</a:t>
                </a:r>
                <a:endParaRPr lang="en-US" sz="1100" dirty="0">
                  <a:solidFill>
                    <a:prstClr val="white">
                      <a:alpha val="50000"/>
                    </a:prstClr>
                  </a:solidFill>
                </a:endParaRPr>
              </a:p>
            </p:txBody>
          </p:sp>
          <p:sp>
            <p:nvSpPr>
              <p:cNvPr id="47" name="TextBox 46">
                <a:extLst>
                  <a:ext uri="{FF2B5EF4-FFF2-40B4-BE49-F238E27FC236}">
                    <a16:creationId xmlns:a16="http://schemas.microsoft.com/office/drawing/2014/main" id="{B9B36054-496A-F407-E5B7-5EFB5988C9F3}"/>
                  </a:ext>
                </a:extLst>
              </p:cNvPr>
              <p:cNvSpPr txBox="1"/>
              <p:nvPr/>
            </p:nvSpPr>
            <p:spPr>
              <a:xfrm>
                <a:off x="8632825" y="2313186"/>
                <a:ext cx="65" cy="199851"/>
              </a:xfrm>
              <a:prstGeom prst="rect">
                <a:avLst/>
              </a:prstGeom>
              <a:noFill/>
            </p:spPr>
            <p:txBody>
              <a:bodyPr wrap="none" lIns="0" tIns="0" rIns="0" bIns="0" anchor="t">
                <a:spAutoFit/>
              </a:bodyPr>
              <a:lstStyle>
                <a:defPPr>
                  <a:defRPr lang="en-US"/>
                </a:defPPr>
                <a:lvl1pPr marR="0" lvl="0" indent="0" fontAlgn="auto">
                  <a:lnSpc>
                    <a:spcPct val="90000"/>
                  </a:lnSpc>
                  <a:spcBef>
                    <a:spcPts val="0"/>
                  </a:spcBef>
                  <a:spcAft>
                    <a:spcPts val="0"/>
                  </a:spcAft>
                  <a:buClrTx/>
                  <a:buSzTx/>
                  <a:buFontTx/>
                  <a:buNone/>
                  <a:tabLst/>
                  <a:defRPr kumimoji="0" sz="3000" i="0" u="none" strike="noStrike" cap="none" normalizeH="0">
                    <a:ln>
                      <a:noFill/>
                    </a:ln>
                    <a:solidFill>
                      <a:prstClr val="white"/>
                    </a:solidFill>
                    <a:effectLst/>
                    <a:uLnTx/>
                    <a:uFillTx/>
                    <a:latin typeface="Poppins SemiBold" panose="00000700000000000000" pitchFamily="2" charset="0"/>
                    <a:cs typeface="Poppins SemiBold" panose="00000700000000000000" pitchFamily="2" charset="0"/>
                  </a:defRPr>
                </a:lvl1pPr>
              </a:lstStyle>
              <a:p>
                <a:pPr marL="0" marR="0" lvl="0" indent="0" algn="l" defTabSz="914400" rtl="0" eaLnBrk="1" fontAlgn="auto" latinLnBrk="0" hangingPunct="1">
                  <a:lnSpc>
                    <a:spcPct val="8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mj-lt"/>
                  <a:ea typeface="+mn-ea"/>
                  <a:cs typeface="Poppins SemiBold" panose="00000700000000000000" pitchFamily="2" charset="0"/>
                </a:endParaRPr>
              </a:p>
            </p:txBody>
          </p:sp>
        </p:grpSp>
        <p:cxnSp>
          <p:nvCxnSpPr>
            <p:cNvPr id="27" name="Straight Connector 26">
              <a:extLst>
                <a:ext uri="{FF2B5EF4-FFF2-40B4-BE49-F238E27FC236}">
                  <a16:creationId xmlns:a16="http://schemas.microsoft.com/office/drawing/2014/main" id="{4F6732B0-61D6-AE27-4330-2B229905EDA7}"/>
                </a:ext>
              </a:extLst>
            </p:cNvPr>
            <p:cNvCxnSpPr/>
            <p:nvPr/>
          </p:nvCxnSpPr>
          <p:spPr>
            <a:xfrm>
              <a:off x="299484" y="62377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nvGrpSpPr>
            <p:cNvPr id="28" name="Group 27">
              <a:extLst>
                <a:ext uri="{FF2B5EF4-FFF2-40B4-BE49-F238E27FC236}">
                  <a16:creationId xmlns:a16="http://schemas.microsoft.com/office/drawing/2014/main" id="{10514872-526E-7E54-4554-16156BA7F994}"/>
                </a:ext>
              </a:extLst>
            </p:cNvPr>
            <p:cNvGrpSpPr/>
            <p:nvPr/>
          </p:nvGrpSpPr>
          <p:grpSpPr>
            <a:xfrm>
              <a:off x="5842207" y="369986"/>
              <a:ext cx="507586" cy="507586"/>
              <a:chOff x="5867902" y="316578"/>
              <a:chExt cx="507586" cy="507586"/>
            </a:xfrm>
          </p:grpSpPr>
          <p:sp useBgFill="1">
            <p:nvSpPr>
              <p:cNvPr id="43" name="Oval 42">
                <a:extLst>
                  <a:ext uri="{FF2B5EF4-FFF2-40B4-BE49-F238E27FC236}">
                    <a16:creationId xmlns:a16="http://schemas.microsoft.com/office/drawing/2014/main" id="{867BB0B3-66FB-61F5-C391-18FD30E5E17D}"/>
                  </a:ext>
                </a:extLst>
              </p:cNvPr>
              <p:cNvSpPr/>
              <p:nvPr/>
            </p:nvSpPr>
            <p:spPr>
              <a:xfrm>
                <a:off x="5867902" y="316578"/>
                <a:ext cx="507586" cy="507586"/>
              </a:xfrm>
              <a:prstGeom prst="ellipse">
                <a:avLst/>
              </a:prstGeom>
              <a:blipFill dpi="0" rotWithShape="0">
                <a:blip r:embed="rId5">
                  <a:lum/>
                </a:blip>
                <a:srcRect/>
                <a:stretch>
                  <a:fillRect l="-765603" t="-367961" r="-1536354" b="-883140"/>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44" name="Graphic 43">
                <a:extLst>
                  <a:ext uri="{FF2B5EF4-FFF2-40B4-BE49-F238E27FC236}">
                    <a16:creationId xmlns:a16="http://schemas.microsoft.com/office/drawing/2014/main" id="{76569F9A-0D87-80B5-C5CA-EA83D873C15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95695" y="444371"/>
                <a:ext cx="252000" cy="252000"/>
              </a:xfrm>
              <a:prstGeom prst="rect">
                <a:avLst/>
              </a:prstGeom>
            </p:spPr>
          </p:pic>
        </p:grpSp>
      </p:grpSp>
      <p:pic>
        <p:nvPicPr>
          <p:cNvPr id="60" name="Picture 59" descr="A close-up of a logo&#10;&#10;AI-generated content may be incorrect.">
            <a:extLst>
              <a:ext uri="{FF2B5EF4-FFF2-40B4-BE49-F238E27FC236}">
                <a16:creationId xmlns:a16="http://schemas.microsoft.com/office/drawing/2014/main" id="{A725194C-76B1-84CF-EE4D-FF8D4B8C1BD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523782" y="5974268"/>
            <a:ext cx="505929" cy="632979"/>
          </a:xfrm>
          <a:prstGeom prst="rect">
            <a:avLst/>
          </a:prstGeom>
        </p:spPr>
      </p:pic>
      <p:sp>
        <p:nvSpPr>
          <p:cNvPr id="67" name="TextBox 66">
            <a:extLst>
              <a:ext uri="{FF2B5EF4-FFF2-40B4-BE49-F238E27FC236}">
                <a16:creationId xmlns:a16="http://schemas.microsoft.com/office/drawing/2014/main" id="{9BC30C6E-C083-1B85-1F6A-B8BA35EAB618}"/>
              </a:ext>
            </a:extLst>
          </p:cNvPr>
          <p:cNvSpPr txBox="1"/>
          <p:nvPr/>
        </p:nvSpPr>
        <p:spPr>
          <a:xfrm>
            <a:off x="8429907" y="1685387"/>
            <a:ext cx="2166245" cy="201850"/>
          </a:xfrm>
          <a:prstGeom prst="rect">
            <a:avLst/>
          </a:prstGeom>
          <a:noFill/>
        </p:spPr>
        <p:txBody>
          <a:bodyPr wrap="square" lIns="0" tIns="0" rIns="0" bIns="0" anchor="t">
            <a:spAutoFit/>
          </a:bodyPr>
          <a:lstStyle>
            <a:defPPr>
              <a:defRPr lang="en-US"/>
            </a:defPPr>
            <a:lvl1pPr marR="0" lvl="0" indent="0" fontAlgn="auto">
              <a:lnSpc>
                <a:spcPct val="8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mj-lt"/>
                <a:cs typeface="Poppins SemiBold" panose="00000700000000000000" pitchFamily="2" charset="0"/>
              </a:defRPr>
            </a:lvl1pPr>
          </a:lstStyle>
          <a:p>
            <a:r>
              <a:rPr lang="en-US" dirty="0"/>
              <a:t>Social Connection</a:t>
            </a:r>
          </a:p>
        </p:txBody>
      </p:sp>
      <p:sp>
        <p:nvSpPr>
          <p:cNvPr id="68" name="TextBox 67">
            <a:extLst>
              <a:ext uri="{FF2B5EF4-FFF2-40B4-BE49-F238E27FC236}">
                <a16:creationId xmlns:a16="http://schemas.microsoft.com/office/drawing/2014/main" id="{4EA23936-BB3B-26AF-46E7-AA5DD7D57688}"/>
              </a:ext>
            </a:extLst>
          </p:cNvPr>
          <p:cNvSpPr txBox="1"/>
          <p:nvPr/>
        </p:nvSpPr>
        <p:spPr>
          <a:xfrm>
            <a:off x="8429908" y="3295233"/>
            <a:ext cx="2756941" cy="507831"/>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GB" sz="1100" dirty="0">
                <a:solidFill>
                  <a:prstClr val="white">
                    <a:alpha val="50000"/>
                  </a:prstClr>
                </a:solidFill>
              </a:rPr>
              <a:t>Offers in-built resume support and proven healthy </a:t>
            </a:r>
            <a:r>
              <a:rPr lang="en-GB" sz="1100" dirty="0" err="1">
                <a:solidFill>
                  <a:prstClr val="white">
                    <a:alpha val="50000"/>
                  </a:prstClr>
                </a:solidFill>
              </a:rPr>
              <a:t>behaviors</a:t>
            </a:r>
            <a:r>
              <a:rPr lang="en-GB" sz="1100" dirty="0">
                <a:solidFill>
                  <a:prstClr val="white">
                    <a:alpha val="50000"/>
                  </a:prstClr>
                </a:solidFill>
              </a:rPr>
              <a:t> to combat loneliness while preparing users for job re-entry.</a:t>
            </a:r>
            <a:endParaRPr lang="en-US" sz="1100" dirty="0">
              <a:solidFill>
                <a:prstClr val="white">
                  <a:alpha val="50000"/>
                </a:prstClr>
              </a:solidFill>
            </a:endParaRPr>
          </a:p>
        </p:txBody>
      </p:sp>
      <p:sp>
        <p:nvSpPr>
          <p:cNvPr id="70" name="TextBox 69">
            <a:extLst>
              <a:ext uri="{FF2B5EF4-FFF2-40B4-BE49-F238E27FC236}">
                <a16:creationId xmlns:a16="http://schemas.microsoft.com/office/drawing/2014/main" id="{E8B8A466-5233-026E-698D-2F50B96DB4FC}"/>
              </a:ext>
            </a:extLst>
          </p:cNvPr>
          <p:cNvSpPr txBox="1"/>
          <p:nvPr/>
        </p:nvSpPr>
        <p:spPr>
          <a:xfrm>
            <a:off x="8429908" y="4715322"/>
            <a:ext cx="2756941" cy="507831"/>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GB" sz="1100" dirty="0">
                <a:solidFill>
                  <a:prstClr val="white">
                    <a:alpha val="50000"/>
                  </a:prstClr>
                </a:solidFill>
              </a:rPr>
              <a:t>Awards points for completing tasks, which can be redeemed for real-life rewards, keeping users motivated.</a:t>
            </a:r>
            <a:endParaRPr lang="en-US" sz="1100" dirty="0">
              <a:solidFill>
                <a:prstClr val="white">
                  <a:alpha val="50000"/>
                </a:prstClr>
              </a:solidFill>
            </a:endParaRPr>
          </a:p>
        </p:txBody>
      </p:sp>
    </p:spTree>
    <p:extLst>
      <p:ext uri="{BB962C8B-B14F-4D97-AF65-F5344CB8AC3E}">
        <p14:creationId xmlns:p14="http://schemas.microsoft.com/office/powerpoint/2010/main" val="421063341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ppt_x"/>
                                          </p:val>
                                        </p:tav>
                                        <p:tav tm="100000">
                                          <p:val>
                                            <p:strVal val="#ppt_x"/>
                                          </p:val>
                                        </p:tav>
                                      </p:tavLst>
                                    </p:anim>
                                    <p:anim calcmode="lin" valueType="num">
                                      <p:cBhvr additive="base">
                                        <p:cTn id="8" dur="500" fill="hold"/>
                                        <p:tgtEl>
                                          <p:spTgt spid="60"/>
                                        </p:tgtEl>
                                        <p:attrNameLst>
                                          <p:attrName>ppt_y</p:attrName>
                                        </p:attrNameLst>
                                      </p:cBhvr>
                                      <p:tavLst>
                                        <p:tav tm="0">
                                          <p:val>
                                            <p:strVal val="0-#ppt_h/2"/>
                                          </p:val>
                                        </p:tav>
                                        <p:tav tm="100000">
                                          <p:val>
                                            <p:strVal val="#ppt_y"/>
                                          </p:val>
                                        </p:tav>
                                      </p:tavLst>
                                    </p:anim>
                                  </p:childTnLst>
                                </p:cTn>
                              </p:par>
                              <p:par>
                                <p:cTn id="9" presetID="9" presetClass="entr" presetSubtype="0" fill="hold" nodeType="withEffect">
                                  <p:stCondLst>
                                    <p:cond delay="0"/>
                                  </p:stCondLst>
                                  <p:childTnLst>
                                    <p:set>
                                      <p:cBhvr>
                                        <p:cTn id="10" dur="1" fill="hold">
                                          <p:stCondLst>
                                            <p:cond delay="0"/>
                                          </p:stCondLst>
                                        </p:cTn>
                                        <p:tgtEl>
                                          <p:spTgt spid="60"/>
                                        </p:tgtEl>
                                        <p:attrNameLst>
                                          <p:attrName>style.visibility</p:attrName>
                                        </p:attrNameLst>
                                      </p:cBhvr>
                                      <p:to>
                                        <p:strVal val="visible"/>
                                      </p:to>
                                    </p:set>
                                    <p:animEffect transition="in" filter="dissolve">
                                      <p:cBhvr>
                                        <p:cTn id="11" dur="500"/>
                                        <p:tgtEl>
                                          <p:spTgt spid="60"/>
                                        </p:tgtEl>
                                      </p:cBhvr>
                                    </p:animEffect>
                                  </p:childTnLst>
                                </p:cTn>
                              </p:par>
                              <p:par>
                                <p:cTn id="12" presetID="2" presetClass="entr" presetSubtype="4" fill="hold" nodeType="withEffect">
                                  <p:stCondLst>
                                    <p:cond delay="0"/>
                                  </p:stCondLst>
                                  <p:childTnLst>
                                    <p:set>
                                      <p:cBhvr>
                                        <p:cTn id="13" dur="1" fill="hold">
                                          <p:stCondLst>
                                            <p:cond delay="0"/>
                                          </p:stCondLst>
                                        </p:cTn>
                                        <p:tgtEl>
                                          <p:spTgt spid="60"/>
                                        </p:tgtEl>
                                        <p:attrNameLst>
                                          <p:attrName>style.visibility</p:attrName>
                                        </p:attrNameLst>
                                      </p:cBhvr>
                                      <p:to>
                                        <p:strVal val="visible"/>
                                      </p:to>
                                    </p:set>
                                    <p:anim calcmode="lin" valueType="num">
                                      <p:cBhvr additive="base">
                                        <p:cTn id="14" dur="500" fill="hold"/>
                                        <p:tgtEl>
                                          <p:spTgt spid="60"/>
                                        </p:tgtEl>
                                        <p:attrNameLst>
                                          <p:attrName>ppt_x</p:attrName>
                                        </p:attrNameLst>
                                      </p:cBhvr>
                                      <p:tavLst>
                                        <p:tav tm="0">
                                          <p:val>
                                            <p:strVal val="#ppt_x"/>
                                          </p:val>
                                        </p:tav>
                                        <p:tav tm="100000">
                                          <p:val>
                                            <p:strVal val="#ppt_x"/>
                                          </p:val>
                                        </p:tav>
                                      </p:tavLst>
                                    </p:anim>
                                    <p:anim calcmode="lin" valueType="num">
                                      <p:cBhvr additive="base">
                                        <p:cTn id="15"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4BD21AB4-0B99-8212-4C32-0B1F9CF86644}"/>
              </a:ext>
            </a:extLst>
          </p:cNvPr>
          <p:cNvSpPr txBox="1"/>
          <p:nvPr/>
        </p:nvSpPr>
        <p:spPr>
          <a:xfrm>
            <a:off x="1659467" y="1173671"/>
            <a:ext cx="8873066" cy="2553007"/>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9500" b="0" i="0" u="none" strike="noStrike" kern="0" cap="none" spc="0" normalizeH="0" baseline="0" noProof="0" dirty="0">
                <a:ln>
                  <a:noFill/>
                </a:ln>
                <a:solidFill>
                  <a:prstClr val="white"/>
                </a:solidFill>
                <a:effectLst/>
                <a:uLnTx/>
                <a:uFillTx/>
                <a:latin typeface="Darker Grotesque" pitchFamily="2" charset="0"/>
              </a:rPr>
              <a:t>Detailed</a:t>
            </a:r>
          </a:p>
        </p:txBody>
      </p:sp>
      <p:pic>
        <p:nvPicPr>
          <p:cNvPr id="29" name="Picture 28" descr="A close-up of a logo&#10;&#10;AI-generated content may be incorrect.">
            <a:extLst>
              <a:ext uri="{FF2B5EF4-FFF2-40B4-BE49-F238E27FC236}">
                <a16:creationId xmlns:a16="http://schemas.microsoft.com/office/drawing/2014/main" id="{DAD9BA0C-267B-FFC6-D5B2-5BB2A460F2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23782" y="5974268"/>
            <a:ext cx="505929" cy="632979"/>
          </a:xfrm>
          <a:prstGeom prst="rect">
            <a:avLst/>
          </a:prstGeom>
        </p:spPr>
      </p:pic>
      <p:sp>
        <p:nvSpPr>
          <p:cNvPr id="30" name="TextBox 29">
            <a:extLst>
              <a:ext uri="{FF2B5EF4-FFF2-40B4-BE49-F238E27FC236}">
                <a16:creationId xmlns:a16="http://schemas.microsoft.com/office/drawing/2014/main" id="{D99202C9-59F3-3B45-E9A6-38B135286953}"/>
              </a:ext>
            </a:extLst>
          </p:cNvPr>
          <p:cNvSpPr txBox="1"/>
          <p:nvPr/>
        </p:nvSpPr>
        <p:spPr>
          <a:xfrm>
            <a:off x="-47891" y="3204658"/>
            <a:ext cx="12539782" cy="2553007"/>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9500" b="0" i="0" u="none" strike="noStrike" kern="0" cap="none" spc="0" normalizeH="0" baseline="0" noProof="0" dirty="0">
                <a:ln>
                  <a:noFill/>
                </a:ln>
                <a:solidFill>
                  <a:prstClr val="white"/>
                </a:solidFill>
                <a:effectLst/>
                <a:uLnTx/>
                <a:uFillTx/>
                <a:latin typeface="Darker Grotesque" pitchFamily="2" charset="0"/>
              </a:rPr>
              <a:t>Explanation</a:t>
            </a:r>
          </a:p>
        </p:txBody>
      </p:sp>
      <p:cxnSp>
        <p:nvCxnSpPr>
          <p:cNvPr id="33" name="Straight Connector 32">
            <a:extLst>
              <a:ext uri="{FF2B5EF4-FFF2-40B4-BE49-F238E27FC236}">
                <a16:creationId xmlns:a16="http://schemas.microsoft.com/office/drawing/2014/main" id="{487FE0B0-8EB3-4203-F867-4A84A358484C}"/>
              </a:ext>
            </a:extLst>
          </p:cNvPr>
          <p:cNvCxnSpPr/>
          <p:nvPr/>
        </p:nvCxnSpPr>
        <p:spPr>
          <a:xfrm>
            <a:off x="461773" y="7819316"/>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nvGrpSpPr>
          <p:cNvPr id="34" name="!!model">
            <a:extLst>
              <a:ext uri="{FF2B5EF4-FFF2-40B4-BE49-F238E27FC236}">
                <a16:creationId xmlns:a16="http://schemas.microsoft.com/office/drawing/2014/main" id="{BA104538-EADF-60D6-8B17-60093763D091}"/>
              </a:ext>
            </a:extLst>
          </p:cNvPr>
          <p:cNvGrpSpPr/>
          <p:nvPr/>
        </p:nvGrpSpPr>
        <p:grpSpPr>
          <a:xfrm>
            <a:off x="6004496" y="7565523"/>
            <a:ext cx="507586" cy="507586"/>
            <a:chOff x="5832785" y="1868829"/>
            <a:chExt cx="507586" cy="507586"/>
          </a:xfrm>
        </p:grpSpPr>
        <p:sp useBgFill="1">
          <p:nvSpPr>
            <p:cNvPr id="37" name="Oval 36">
              <a:extLst>
                <a:ext uri="{FF2B5EF4-FFF2-40B4-BE49-F238E27FC236}">
                  <a16:creationId xmlns:a16="http://schemas.microsoft.com/office/drawing/2014/main" id="{257A0069-89DF-8E68-A8B9-041735F1EBFF}"/>
                </a:ext>
              </a:extLst>
            </p:cNvPr>
            <p:cNvSpPr/>
            <p:nvPr/>
          </p:nvSpPr>
          <p:spPr>
            <a:xfrm>
              <a:off x="5832785" y="1868829"/>
              <a:ext cx="507586" cy="507586"/>
            </a:xfrm>
            <a:prstGeom prst="ellipse">
              <a:avLst/>
            </a:prstGeom>
            <a:blipFill dpi="0" rotWithShape="0">
              <a:blip r:embed="rId3">
                <a:lum/>
              </a:blip>
              <a:srcRect/>
              <a:stretch>
                <a:fillRect l="-1150979" t="-367961" r="-1150979" b="-883140"/>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38" name="Graphic 37">
              <a:extLst>
                <a:ext uri="{FF2B5EF4-FFF2-40B4-BE49-F238E27FC236}">
                  <a16:creationId xmlns:a16="http://schemas.microsoft.com/office/drawing/2014/main" id="{D8DF0DDC-0CEC-2A78-CBC6-DEFBE92161E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60578" y="1996622"/>
              <a:ext cx="252000" cy="252000"/>
            </a:xfrm>
            <a:prstGeom prst="rect">
              <a:avLst/>
            </a:prstGeom>
          </p:spPr>
        </p:pic>
      </p:grpSp>
      <p:pic>
        <p:nvPicPr>
          <p:cNvPr id="39" name="Picture 38" descr="A close-up of a logo&#10;&#10;AI-generated content may be incorrect.">
            <a:extLst>
              <a:ext uri="{FF2B5EF4-FFF2-40B4-BE49-F238E27FC236}">
                <a16:creationId xmlns:a16="http://schemas.microsoft.com/office/drawing/2014/main" id="{D889FCD5-1A04-7354-36BE-2F555D93F1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86071" y="13169805"/>
            <a:ext cx="505929" cy="632979"/>
          </a:xfrm>
          <a:prstGeom prst="rect">
            <a:avLst/>
          </a:prstGeom>
        </p:spPr>
      </p:pic>
      <p:sp>
        <p:nvSpPr>
          <p:cNvPr id="40" name="TextBox 39">
            <a:extLst>
              <a:ext uri="{FF2B5EF4-FFF2-40B4-BE49-F238E27FC236}">
                <a16:creationId xmlns:a16="http://schemas.microsoft.com/office/drawing/2014/main" id="{21BF1239-C8A4-CE44-B9DF-C1DB1659BFF6}"/>
              </a:ext>
            </a:extLst>
          </p:cNvPr>
          <p:cNvSpPr txBox="1"/>
          <p:nvPr/>
        </p:nvSpPr>
        <p:spPr>
          <a:xfrm>
            <a:off x="565059" y="11948479"/>
            <a:ext cx="3541824" cy="900246"/>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US" sz="1050" dirty="0" err="1">
                <a:solidFill>
                  <a:prstClr val="white">
                    <a:alpha val="50000"/>
                  </a:prstClr>
                </a:solidFill>
              </a:rPr>
              <a:t>LifeQuest</a:t>
            </a:r>
            <a:r>
              <a:rPr lang="en-US" sz="1050" dirty="0">
                <a:solidFill>
                  <a:prstClr val="white">
                    <a:alpha val="50000"/>
                  </a:prstClr>
                </a:solidFill>
              </a:rPr>
              <a:t>" shows users in-person and virtual social events (e.g., "Player Meetup" for 500 Quest Coins) and networking opportunities via geolocation, rewarding attendance with points redeemable for rewards (e.g., Spotify subscriptions for 1500 Coins), rebuilding community ties</a:t>
            </a:r>
            <a:endParaRPr lang="en-GB" sz="1050" dirty="0">
              <a:solidFill>
                <a:prstClr val="white">
                  <a:alpha val="50000"/>
                </a:prstClr>
              </a:solidFill>
            </a:endParaRPr>
          </a:p>
        </p:txBody>
      </p:sp>
      <p:sp>
        <p:nvSpPr>
          <p:cNvPr id="41" name="TextBox 40">
            <a:extLst>
              <a:ext uri="{FF2B5EF4-FFF2-40B4-BE49-F238E27FC236}">
                <a16:creationId xmlns:a16="http://schemas.microsoft.com/office/drawing/2014/main" id="{855C0515-D65B-CFA2-4309-DAA9A6142523}"/>
              </a:ext>
            </a:extLst>
          </p:cNvPr>
          <p:cNvSpPr txBox="1"/>
          <p:nvPr/>
        </p:nvSpPr>
        <p:spPr>
          <a:xfrm>
            <a:off x="637951" y="10981483"/>
            <a:ext cx="3213865" cy="830997"/>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US" dirty="0"/>
              <a:t>Unemployment severs workplace networks, increasing loneliness by 40% and doubling social isolation.</a:t>
            </a:r>
          </a:p>
        </p:txBody>
      </p:sp>
      <p:grpSp>
        <p:nvGrpSpPr>
          <p:cNvPr id="42" name="Group 41">
            <a:extLst>
              <a:ext uri="{FF2B5EF4-FFF2-40B4-BE49-F238E27FC236}">
                <a16:creationId xmlns:a16="http://schemas.microsoft.com/office/drawing/2014/main" id="{341ADE18-7FAA-F725-2B4B-C6AD30AAE9F6}"/>
              </a:ext>
            </a:extLst>
          </p:cNvPr>
          <p:cNvGrpSpPr/>
          <p:nvPr/>
        </p:nvGrpSpPr>
        <p:grpSpPr>
          <a:xfrm>
            <a:off x="1139452" y="10382017"/>
            <a:ext cx="6990749" cy="1992914"/>
            <a:chOff x="1989115" y="3558377"/>
            <a:chExt cx="5844361" cy="1494530"/>
          </a:xfrm>
        </p:grpSpPr>
        <p:cxnSp>
          <p:nvCxnSpPr>
            <p:cNvPr id="43" name="Straight Connector 42">
              <a:extLst>
                <a:ext uri="{FF2B5EF4-FFF2-40B4-BE49-F238E27FC236}">
                  <a16:creationId xmlns:a16="http://schemas.microsoft.com/office/drawing/2014/main" id="{994595C7-09DC-88EA-2BE3-E5DDAA2B65A6}"/>
                </a:ext>
              </a:extLst>
            </p:cNvPr>
            <p:cNvCxnSpPr>
              <a:cxnSpLocks/>
            </p:cNvCxnSpPr>
            <p:nvPr/>
          </p:nvCxnSpPr>
          <p:spPr>
            <a:xfrm>
              <a:off x="4561397" y="3558377"/>
              <a:ext cx="0" cy="149453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sp>
          <p:nvSpPr>
            <p:cNvPr id="44" name="TextBox 43">
              <a:extLst>
                <a:ext uri="{FF2B5EF4-FFF2-40B4-BE49-F238E27FC236}">
                  <a16:creationId xmlns:a16="http://schemas.microsoft.com/office/drawing/2014/main" id="{E33D78A2-F640-C1EA-A217-3C3D873CB55F}"/>
                </a:ext>
              </a:extLst>
            </p:cNvPr>
            <p:cNvSpPr txBox="1"/>
            <p:nvPr/>
          </p:nvSpPr>
          <p:spPr>
            <a:xfrm>
              <a:off x="1989115" y="3620622"/>
              <a:ext cx="1848311" cy="223884"/>
            </a:xfrm>
            <a:prstGeom prst="rect">
              <a:avLst/>
            </a:prstGeom>
            <a:noFill/>
          </p:spPr>
          <p:txBody>
            <a:bodyPr wrap="none"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US" sz="2000" b="1" dirty="0"/>
                <a:t>Loss of Community</a:t>
              </a:r>
              <a:endParaRPr lang="en-GB" sz="2000" b="1" dirty="0"/>
            </a:p>
          </p:txBody>
        </p:sp>
        <p:cxnSp>
          <p:nvCxnSpPr>
            <p:cNvPr id="45" name="Straight Connector 44">
              <a:extLst>
                <a:ext uri="{FF2B5EF4-FFF2-40B4-BE49-F238E27FC236}">
                  <a16:creationId xmlns:a16="http://schemas.microsoft.com/office/drawing/2014/main" id="{ED91432C-51B2-B0D6-D454-E6CDB16FBC6E}"/>
                </a:ext>
              </a:extLst>
            </p:cNvPr>
            <p:cNvCxnSpPr>
              <a:cxnSpLocks/>
            </p:cNvCxnSpPr>
            <p:nvPr/>
          </p:nvCxnSpPr>
          <p:spPr>
            <a:xfrm>
              <a:off x="7833476" y="3558377"/>
              <a:ext cx="0" cy="149453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sp>
        <p:nvSpPr>
          <p:cNvPr id="46" name="TextBox 45">
            <a:extLst>
              <a:ext uri="{FF2B5EF4-FFF2-40B4-BE49-F238E27FC236}">
                <a16:creationId xmlns:a16="http://schemas.microsoft.com/office/drawing/2014/main" id="{C1C460BA-16B4-39DB-67FE-534C1FF1120B}"/>
              </a:ext>
            </a:extLst>
          </p:cNvPr>
          <p:cNvSpPr txBox="1"/>
          <p:nvPr/>
        </p:nvSpPr>
        <p:spPr>
          <a:xfrm>
            <a:off x="830506" y="8570294"/>
            <a:ext cx="10587982" cy="781321"/>
          </a:xfrm>
          <a:prstGeom prst="rect">
            <a:avLst/>
          </a:prstGeom>
          <a:noFill/>
        </p:spPr>
        <p:txBody>
          <a:bodyPr wrap="square"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pPr algn="ctr"/>
            <a:r>
              <a:rPr lang="en-GB" sz="4800" dirty="0"/>
              <a:t>Here are the problems that users have</a:t>
            </a:r>
          </a:p>
        </p:txBody>
      </p:sp>
      <p:sp>
        <p:nvSpPr>
          <p:cNvPr id="47" name="TextBox 46">
            <a:extLst>
              <a:ext uri="{FF2B5EF4-FFF2-40B4-BE49-F238E27FC236}">
                <a16:creationId xmlns:a16="http://schemas.microsoft.com/office/drawing/2014/main" id="{A92687EE-3D51-F574-B793-4B669F6B771F}"/>
              </a:ext>
            </a:extLst>
          </p:cNvPr>
          <p:cNvSpPr txBox="1"/>
          <p:nvPr/>
        </p:nvSpPr>
        <p:spPr>
          <a:xfrm>
            <a:off x="1496819" y="10593645"/>
            <a:ext cx="184731" cy="369332"/>
          </a:xfrm>
          <a:prstGeom prst="rect">
            <a:avLst/>
          </a:prstGeom>
          <a:noFill/>
        </p:spPr>
        <p:txBody>
          <a:bodyPr wrap="none" rtlCol="0">
            <a:spAutoFit/>
          </a:bodyPr>
          <a:lstStyle/>
          <a:p>
            <a:endParaRPr lang="en-US" dirty="0"/>
          </a:p>
        </p:txBody>
      </p:sp>
      <p:sp>
        <p:nvSpPr>
          <p:cNvPr id="48" name="TextBox 47">
            <a:extLst>
              <a:ext uri="{FF2B5EF4-FFF2-40B4-BE49-F238E27FC236}">
                <a16:creationId xmlns:a16="http://schemas.microsoft.com/office/drawing/2014/main" id="{D9CCCE05-C73F-F75A-B74F-B4154555D717}"/>
              </a:ext>
            </a:extLst>
          </p:cNvPr>
          <p:cNvSpPr txBox="1"/>
          <p:nvPr/>
        </p:nvSpPr>
        <p:spPr>
          <a:xfrm>
            <a:off x="4351799" y="10525191"/>
            <a:ext cx="3692036" cy="298543"/>
          </a:xfrm>
          <a:prstGeom prst="rect">
            <a:avLst/>
          </a:prstGeom>
          <a:noFill/>
        </p:spPr>
        <p:txBody>
          <a:bodyPr wrap="none"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US" sz="2000" b="1" dirty="0"/>
              <a:t>Lack of Career-Oriented Progress</a:t>
            </a:r>
            <a:endParaRPr lang="en-GB" sz="2000" b="1" dirty="0"/>
          </a:p>
        </p:txBody>
      </p:sp>
      <p:sp>
        <p:nvSpPr>
          <p:cNvPr id="49" name="TextBox 48">
            <a:extLst>
              <a:ext uri="{FF2B5EF4-FFF2-40B4-BE49-F238E27FC236}">
                <a16:creationId xmlns:a16="http://schemas.microsoft.com/office/drawing/2014/main" id="{FF33C64B-7A47-8B85-EEB6-EC8E6F1DC4D3}"/>
              </a:ext>
            </a:extLst>
          </p:cNvPr>
          <p:cNvSpPr txBox="1"/>
          <p:nvPr/>
        </p:nvSpPr>
        <p:spPr>
          <a:xfrm>
            <a:off x="8273871" y="10525190"/>
            <a:ext cx="3397084" cy="298543"/>
          </a:xfrm>
          <a:prstGeom prst="rect">
            <a:avLst/>
          </a:prstGeom>
          <a:noFill/>
        </p:spPr>
        <p:txBody>
          <a:bodyPr wrap="none"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US" sz="2000" dirty="0"/>
              <a:t>Loss of Structure and Direction</a:t>
            </a:r>
            <a:endParaRPr lang="en-GB" sz="2000" dirty="0"/>
          </a:p>
        </p:txBody>
      </p:sp>
      <p:sp>
        <p:nvSpPr>
          <p:cNvPr id="50" name="TextBox 49">
            <a:extLst>
              <a:ext uri="{FF2B5EF4-FFF2-40B4-BE49-F238E27FC236}">
                <a16:creationId xmlns:a16="http://schemas.microsoft.com/office/drawing/2014/main" id="{40FC28E1-6531-E649-5312-4CB8212555D1}"/>
              </a:ext>
            </a:extLst>
          </p:cNvPr>
          <p:cNvSpPr txBox="1"/>
          <p:nvPr/>
        </p:nvSpPr>
        <p:spPr>
          <a:xfrm>
            <a:off x="4418316" y="10962977"/>
            <a:ext cx="3559003" cy="830997"/>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US" dirty="0"/>
              <a:t>Job loss halts career development, with 43% of unemployed reporting poor mental health due to stalled progress.</a:t>
            </a:r>
          </a:p>
        </p:txBody>
      </p:sp>
      <p:sp>
        <p:nvSpPr>
          <p:cNvPr id="51" name="TextBox 50">
            <a:extLst>
              <a:ext uri="{FF2B5EF4-FFF2-40B4-BE49-F238E27FC236}">
                <a16:creationId xmlns:a16="http://schemas.microsoft.com/office/drawing/2014/main" id="{02F0371C-25D1-9B61-6FFB-B48CA0A62140}"/>
              </a:ext>
            </a:extLst>
          </p:cNvPr>
          <p:cNvSpPr txBox="1"/>
          <p:nvPr/>
        </p:nvSpPr>
        <p:spPr>
          <a:xfrm>
            <a:off x="4325706" y="11948479"/>
            <a:ext cx="3541824" cy="900246"/>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US" sz="1050" dirty="0" err="1">
                <a:solidFill>
                  <a:prstClr val="white">
                    <a:alpha val="50000"/>
                  </a:prstClr>
                </a:solidFill>
              </a:rPr>
              <a:t>LifeQuest</a:t>
            </a:r>
            <a:r>
              <a:rPr lang="en-US" sz="1050" dirty="0">
                <a:solidFill>
                  <a:prstClr val="white">
                    <a:alpha val="50000"/>
                  </a:prstClr>
                </a:solidFill>
              </a:rPr>
              <a:t>" rewards users with points (e.g., 200 Quest Coins for "Resume Boost," 400 for "Career Fair Visit") for completing self-improvement tasks like resume enhancements and job applications, driving employability with tangible incentives</a:t>
            </a:r>
            <a:endParaRPr lang="en-GB" sz="1050" dirty="0">
              <a:solidFill>
                <a:prstClr val="white">
                  <a:alpha val="50000"/>
                </a:prstClr>
              </a:solidFill>
            </a:endParaRPr>
          </a:p>
        </p:txBody>
      </p:sp>
      <p:sp>
        <p:nvSpPr>
          <p:cNvPr id="52" name="TextBox 51">
            <a:extLst>
              <a:ext uri="{FF2B5EF4-FFF2-40B4-BE49-F238E27FC236}">
                <a16:creationId xmlns:a16="http://schemas.microsoft.com/office/drawing/2014/main" id="{4DC617F6-63DC-AEF8-1764-7EED24AA77CB}"/>
              </a:ext>
            </a:extLst>
          </p:cNvPr>
          <p:cNvSpPr txBox="1"/>
          <p:nvPr/>
        </p:nvSpPr>
        <p:spPr>
          <a:xfrm>
            <a:off x="8236859" y="10983034"/>
            <a:ext cx="3559003" cy="830997"/>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US" dirty="0"/>
              <a:t>Without work routines, unemployed individuals lose purpose, exacerbating isolation</a:t>
            </a:r>
          </a:p>
        </p:txBody>
      </p:sp>
      <p:sp>
        <p:nvSpPr>
          <p:cNvPr id="53" name="TextBox 52">
            <a:extLst>
              <a:ext uri="{FF2B5EF4-FFF2-40B4-BE49-F238E27FC236}">
                <a16:creationId xmlns:a16="http://schemas.microsoft.com/office/drawing/2014/main" id="{B0713D4E-259A-7ADC-14F2-73BFE23F33D4}"/>
              </a:ext>
            </a:extLst>
          </p:cNvPr>
          <p:cNvSpPr txBox="1"/>
          <p:nvPr/>
        </p:nvSpPr>
        <p:spPr>
          <a:xfrm>
            <a:off x="8216568" y="11948479"/>
            <a:ext cx="3541824" cy="738664"/>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US" sz="1050" dirty="0" err="1">
                <a:solidFill>
                  <a:prstClr val="white">
                    <a:alpha val="50000"/>
                  </a:prstClr>
                </a:solidFill>
              </a:rPr>
              <a:t>LifeQuest</a:t>
            </a:r>
            <a:r>
              <a:rPr lang="en-US" sz="1050" dirty="0">
                <a:solidFill>
                  <a:prstClr val="white">
                    <a:alpha val="50000"/>
                  </a:prstClr>
                </a:solidFill>
              </a:rPr>
              <a:t>" provides daily quests (e.g., "Daily Wake-Up" for 50 Coins) and goal-oriented tasks (e.g., career fairs), offering a structured path and direction to regain focus and combat aimlessness.</a:t>
            </a:r>
            <a:endParaRPr lang="en-GB" sz="1050" dirty="0">
              <a:solidFill>
                <a:prstClr val="white">
                  <a:alpha val="50000"/>
                </a:prstClr>
              </a:solidFill>
            </a:endParaRPr>
          </a:p>
        </p:txBody>
      </p:sp>
    </p:spTree>
    <p:extLst>
      <p:ext uri="{BB962C8B-B14F-4D97-AF65-F5344CB8AC3E}">
        <p14:creationId xmlns:p14="http://schemas.microsoft.com/office/powerpoint/2010/main" val="2415979649"/>
      </p:ext>
    </p:extLst>
  </p:cSld>
  <p:clrMapOvr>
    <a:masterClrMapping/>
  </p:clrMapOvr>
  <mc:AlternateContent xmlns:mc="http://schemas.openxmlformats.org/markup-compatibility/2006" xmlns:p159="http://schemas.microsoft.com/office/powerpoint/2015/09/main">
    <mc:Choice Requires="p159">
      <p:transition spd="slow" advTm="0">
        <p159:morph option="byObjec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0-#ppt_h/2"/>
                                          </p:val>
                                        </p:tav>
                                        <p:tav tm="100000">
                                          <p:val>
                                            <p:strVal val="#ppt_y"/>
                                          </p:val>
                                        </p:tav>
                                      </p:tavLst>
                                    </p:anim>
                                  </p:childTnLst>
                                </p:cTn>
                              </p:par>
                              <p:par>
                                <p:cTn id="9" presetID="9" presetClass="entr" presetSubtype="0" fill="hold" nodeType="with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dissolve">
                                      <p:cBhvr>
                                        <p:cTn id="11" dur="500"/>
                                        <p:tgtEl>
                                          <p:spTgt spid="29"/>
                                        </p:tgtEl>
                                      </p:cBhvr>
                                    </p:animEffect>
                                  </p:childTnLst>
                                </p:cTn>
                              </p:par>
                              <p:par>
                                <p:cTn id="12" presetID="2" presetClass="entr" presetSubtype="4" fill="hold" nodeType="withEffect">
                                  <p:stCondLst>
                                    <p:cond delay="0"/>
                                  </p:stCondLst>
                                  <p:childTnLst>
                                    <p:set>
                                      <p:cBhvr>
                                        <p:cTn id="13" dur="1" fill="hold">
                                          <p:stCondLst>
                                            <p:cond delay="0"/>
                                          </p:stCondLst>
                                        </p:cTn>
                                        <p:tgtEl>
                                          <p:spTgt spid="29"/>
                                        </p:tgtEl>
                                        <p:attrNameLst>
                                          <p:attrName>style.visibility</p:attrName>
                                        </p:attrNameLst>
                                      </p:cBhvr>
                                      <p:to>
                                        <p:strVal val="visible"/>
                                      </p:to>
                                    </p:set>
                                    <p:anim calcmode="lin" valueType="num">
                                      <p:cBhvr additive="base">
                                        <p:cTn id="14" dur="500" fill="hold"/>
                                        <p:tgtEl>
                                          <p:spTgt spid="29"/>
                                        </p:tgtEl>
                                        <p:attrNameLst>
                                          <p:attrName>ppt_x</p:attrName>
                                        </p:attrNameLst>
                                      </p:cBhvr>
                                      <p:tavLst>
                                        <p:tav tm="0">
                                          <p:val>
                                            <p:strVal val="#ppt_x"/>
                                          </p:val>
                                        </p:tav>
                                        <p:tav tm="100000">
                                          <p:val>
                                            <p:strVal val="#ppt_x"/>
                                          </p:val>
                                        </p:tav>
                                      </p:tavLst>
                                    </p:anim>
                                    <p:anim calcmode="lin" valueType="num">
                                      <p:cBhvr additive="base">
                                        <p:cTn id="15" dur="500" fill="hold"/>
                                        <p:tgtEl>
                                          <p:spTgt spid="29"/>
                                        </p:tgtEl>
                                        <p:attrNameLst>
                                          <p:attrName>ppt_y</p:attrName>
                                        </p:attrNameLst>
                                      </p:cBhvr>
                                      <p:tavLst>
                                        <p:tav tm="0">
                                          <p:val>
                                            <p:strVal val="1+#ppt_h/2"/>
                                          </p:val>
                                        </p:tav>
                                        <p:tav tm="100000">
                                          <p:val>
                                            <p:strVal val="#ppt_y"/>
                                          </p:val>
                                        </p:tav>
                                      </p:tavLst>
                                    </p:anim>
                                  </p:childTnLst>
                                </p:cTn>
                              </p:par>
                              <p:par>
                                <p:cTn id="16" presetID="2" presetClass="entr" presetSubtype="1" fill="hold" nodeType="withEffect">
                                  <p:stCondLst>
                                    <p:cond delay="0"/>
                                  </p:stCondLst>
                                  <p:childTnLst>
                                    <p:set>
                                      <p:cBhvr>
                                        <p:cTn id="17" dur="1" fill="hold">
                                          <p:stCondLst>
                                            <p:cond delay="0"/>
                                          </p:stCondLst>
                                        </p:cTn>
                                        <p:tgtEl>
                                          <p:spTgt spid="39"/>
                                        </p:tgtEl>
                                        <p:attrNameLst>
                                          <p:attrName>style.visibility</p:attrName>
                                        </p:attrNameLst>
                                      </p:cBhvr>
                                      <p:to>
                                        <p:strVal val="visible"/>
                                      </p:to>
                                    </p:set>
                                    <p:anim calcmode="lin" valueType="num">
                                      <p:cBhvr additive="base">
                                        <p:cTn id="18" dur="500" fill="hold"/>
                                        <p:tgtEl>
                                          <p:spTgt spid="39"/>
                                        </p:tgtEl>
                                        <p:attrNameLst>
                                          <p:attrName>ppt_x</p:attrName>
                                        </p:attrNameLst>
                                      </p:cBhvr>
                                      <p:tavLst>
                                        <p:tav tm="0">
                                          <p:val>
                                            <p:strVal val="#ppt_x"/>
                                          </p:val>
                                        </p:tav>
                                        <p:tav tm="100000">
                                          <p:val>
                                            <p:strVal val="#ppt_x"/>
                                          </p:val>
                                        </p:tav>
                                      </p:tavLst>
                                    </p:anim>
                                    <p:anim calcmode="lin" valueType="num">
                                      <p:cBhvr additive="base">
                                        <p:cTn id="19" dur="500" fill="hold"/>
                                        <p:tgtEl>
                                          <p:spTgt spid="39"/>
                                        </p:tgtEl>
                                        <p:attrNameLst>
                                          <p:attrName>ppt_y</p:attrName>
                                        </p:attrNameLst>
                                      </p:cBhvr>
                                      <p:tavLst>
                                        <p:tav tm="0">
                                          <p:val>
                                            <p:strVal val="0-#ppt_h/2"/>
                                          </p:val>
                                        </p:tav>
                                        <p:tav tm="100000">
                                          <p:val>
                                            <p:strVal val="#ppt_y"/>
                                          </p:val>
                                        </p:tav>
                                      </p:tavLst>
                                    </p:anim>
                                  </p:childTnLst>
                                </p:cTn>
                              </p:par>
                              <p:par>
                                <p:cTn id="20" presetID="9" presetClass="entr" presetSubtype="0" fill="hold" nodeType="with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dissolve">
                                      <p:cBhvr>
                                        <p:cTn id="22" dur="500"/>
                                        <p:tgtEl>
                                          <p:spTgt spid="39"/>
                                        </p:tgtEl>
                                      </p:cBhvr>
                                    </p:animEffect>
                                  </p:childTnLst>
                                </p:cTn>
                              </p:par>
                              <p:par>
                                <p:cTn id="23" presetID="2" presetClass="entr" presetSubtype="4" fill="hold" nodeType="withEffect">
                                  <p:stCondLst>
                                    <p:cond delay="0"/>
                                  </p:stCondLst>
                                  <p:childTnLst>
                                    <p:set>
                                      <p:cBhvr>
                                        <p:cTn id="24" dur="1" fill="hold">
                                          <p:stCondLst>
                                            <p:cond delay="0"/>
                                          </p:stCondLst>
                                        </p:cTn>
                                        <p:tgtEl>
                                          <p:spTgt spid="39"/>
                                        </p:tgtEl>
                                        <p:attrNameLst>
                                          <p:attrName>style.visibility</p:attrName>
                                        </p:attrNameLst>
                                      </p:cBhvr>
                                      <p:to>
                                        <p:strVal val="visible"/>
                                      </p:to>
                                    </p:set>
                                    <p:anim calcmode="lin" valueType="num">
                                      <p:cBhvr additive="base">
                                        <p:cTn id="25" dur="500" fill="hold"/>
                                        <p:tgtEl>
                                          <p:spTgt spid="39"/>
                                        </p:tgtEl>
                                        <p:attrNameLst>
                                          <p:attrName>ppt_x</p:attrName>
                                        </p:attrNameLst>
                                      </p:cBhvr>
                                      <p:tavLst>
                                        <p:tav tm="0">
                                          <p:val>
                                            <p:strVal val="#ppt_x"/>
                                          </p:val>
                                        </p:tav>
                                        <p:tav tm="100000">
                                          <p:val>
                                            <p:strVal val="#ppt_x"/>
                                          </p:val>
                                        </p:tav>
                                      </p:tavLst>
                                    </p:anim>
                                    <p:anim calcmode="lin" valueType="num">
                                      <p:cBhvr additive="base">
                                        <p:cTn id="26"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D22468-DC17-89A8-6DC0-C4D760E9764F}"/>
              </a:ext>
            </a:extLst>
          </p:cNvPr>
          <p:cNvSpPr txBox="1"/>
          <p:nvPr/>
        </p:nvSpPr>
        <p:spPr>
          <a:xfrm>
            <a:off x="299484" y="407551"/>
            <a:ext cx="788677" cy="185564"/>
          </a:xfrm>
          <a:prstGeom prst="rect">
            <a:avLst/>
          </a:prstGeom>
          <a:noFill/>
        </p:spPr>
        <p:txBody>
          <a:bodyPr wrap="none" lIns="0" tIns="0" rIns="0" bIns="0" rtlCol="0">
            <a:spAutoFit/>
          </a:bodyPr>
          <a:lstStyle/>
          <a:p>
            <a:pPr marL="0" marR="0" lvl="0" indent="0" defTabSz="914400" rtl="0" eaLnBrk="1" fontAlgn="auto" latinLnBrk="0" hangingPunct="1">
              <a:lnSpc>
                <a:spcPct val="6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Darker Grotesque" pitchFamily="2" charset="0"/>
              </a:rPr>
              <a:t>Detailed</a:t>
            </a:r>
          </a:p>
        </p:txBody>
      </p:sp>
      <p:sp>
        <p:nvSpPr>
          <p:cNvPr id="4" name="TextBox 3">
            <a:extLst>
              <a:ext uri="{FF2B5EF4-FFF2-40B4-BE49-F238E27FC236}">
                <a16:creationId xmlns:a16="http://schemas.microsoft.com/office/drawing/2014/main" id="{C98BE1DB-3DF0-B1CC-11F3-5DD5476FE791}"/>
              </a:ext>
            </a:extLst>
          </p:cNvPr>
          <p:cNvSpPr txBox="1"/>
          <p:nvPr/>
        </p:nvSpPr>
        <p:spPr>
          <a:xfrm>
            <a:off x="1163056" y="407551"/>
            <a:ext cx="1101264" cy="185564"/>
          </a:xfrm>
          <a:prstGeom prst="rect">
            <a:avLst/>
          </a:prstGeom>
          <a:noFill/>
        </p:spPr>
        <p:txBody>
          <a:bodyPr wrap="none" lIns="0" tIns="0" rIns="0" bIns="0" rtlCol="0">
            <a:spAutoFit/>
          </a:bodyPr>
          <a:lstStyle/>
          <a:p>
            <a:pPr marL="0" marR="0" lvl="0" indent="0" defTabSz="914400" rtl="0" eaLnBrk="1" fontAlgn="auto" latinLnBrk="0" hangingPunct="1">
              <a:lnSpc>
                <a:spcPct val="60000"/>
              </a:lnSpc>
              <a:spcBef>
                <a:spcPts val="0"/>
              </a:spcBef>
              <a:spcAft>
                <a:spcPts val="0"/>
              </a:spcAft>
              <a:buClrTx/>
              <a:buSzTx/>
              <a:buFontTx/>
              <a:buNone/>
              <a:tabLst/>
              <a:defRPr/>
            </a:pPr>
            <a:r>
              <a:rPr lang="en-US" kern="0" dirty="0">
                <a:solidFill>
                  <a:prstClr val="white"/>
                </a:solidFill>
                <a:latin typeface="Darker Grotesque" pitchFamily="2" charset="0"/>
              </a:rPr>
              <a:t>Explanation</a:t>
            </a:r>
            <a:endParaRPr kumimoji="0" lang="en-US" b="0" i="0" u="none" strike="noStrike" kern="0" cap="none" spc="0" normalizeH="0" baseline="0" noProof="0" dirty="0">
              <a:ln>
                <a:noFill/>
              </a:ln>
              <a:solidFill>
                <a:prstClr val="white"/>
              </a:solidFill>
              <a:effectLst/>
              <a:uLnTx/>
              <a:uFillTx/>
              <a:latin typeface="Darker Grotesque" pitchFamily="2" charset="0"/>
            </a:endParaRPr>
          </a:p>
        </p:txBody>
      </p:sp>
      <p:cxnSp>
        <p:nvCxnSpPr>
          <p:cNvPr id="10" name="Straight Connector 9">
            <a:extLst>
              <a:ext uri="{FF2B5EF4-FFF2-40B4-BE49-F238E27FC236}">
                <a16:creationId xmlns:a16="http://schemas.microsoft.com/office/drawing/2014/main" id="{F6C10F56-A273-C32F-0F55-F8DAD118B94A}"/>
              </a:ext>
            </a:extLst>
          </p:cNvPr>
          <p:cNvCxnSpPr/>
          <p:nvPr/>
        </p:nvCxnSpPr>
        <p:spPr>
          <a:xfrm>
            <a:off x="299484" y="62377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nvGrpSpPr>
          <p:cNvPr id="25" name="!!model">
            <a:extLst>
              <a:ext uri="{FF2B5EF4-FFF2-40B4-BE49-F238E27FC236}">
                <a16:creationId xmlns:a16="http://schemas.microsoft.com/office/drawing/2014/main" id="{F51B1873-4223-1D99-F908-62B7BB4F14F7}"/>
              </a:ext>
            </a:extLst>
          </p:cNvPr>
          <p:cNvGrpSpPr/>
          <p:nvPr/>
        </p:nvGrpSpPr>
        <p:grpSpPr>
          <a:xfrm>
            <a:off x="5842207" y="369986"/>
            <a:ext cx="507586" cy="507586"/>
            <a:chOff x="5832785" y="1868829"/>
            <a:chExt cx="507586" cy="507586"/>
          </a:xfrm>
        </p:grpSpPr>
        <p:sp useBgFill="1">
          <p:nvSpPr>
            <p:cNvPr id="26" name="Oval 25">
              <a:extLst>
                <a:ext uri="{FF2B5EF4-FFF2-40B4-BE49-F238E27FC236}">
                  <a16:creationId xmlns:a16="http://schemas.microsoft.com/office/drawing/2014/main" id="{DDCEEB63-FD54-930B-5BB2-ED1F246A5617}"/>
                </a:ext>
              </a:extLst>
            </p:cNvPr>
            <p:cNvSpPr/>
            <p:nvPr/>
          </p:nvSpPr>
          <p:spPr>
            <a:xfrm>
              <a:off x="5832785" y="1868829"/>
              <a:ext cx="507586" cy="507586"/>
            </a:xfrm>
            <a:prstGeom prst="ellipse">
              <a:avLst/>
            </a:prstGeom>
            <a:blipFill dpi="0" rotWithShape="0">
              <a:blip r:embed="rId2">
                <a:lum/>
              </a:blip>
              <a:srcRect/>
              <a:stretch>
                <a:fillRect l="-1150979" t="-367961" r="-1150979" b="-883140"/>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27" name="Graphic 26">
              <a:extLst>
                <a:ext uri="{FF2B5EF4-FFF2-40B4-BE49-F238E27FC236}">
                  <a16:creationId xmlns:a16="http://schemas.microsoft.com/office/drawing/2014/main" id="{D6D85D96-DFC0-A226-E885-3CBE48B7204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60578" y="1996622"/>
              <a:ext cx="252000" cy="252000"/>
            </a:xfrm>
            <a:prstGeom prst="rect">
              <a:avLst/>
            </a:prstGeom>
          </p:spPr>
        </p:pic>
      </p:grpSp>
      <p:pic>
        <p:nvPicPr>
          <p:cNvPr id="29" name="Picture 28" descr="A close-up of a logo&#10;&#10;AI-generated content may be incorrect.">
            <a:extLst>
              <a:ext uri="{FF2B5EF4-FFF2-40B4-BE49-F238E27FC236}">
                <a16:creationId xmlns:a16="http://schemas.microsoft.com/office/drawing/2014/main" id="{4F02893F-4F80-A5FB-3DE9-8D648EA9AC9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23782" y="5974268"/>
            <a:ext cx="505929" cy="632979"/>
          </a:xfrm>
          <a:prstGeom prst="rect">
            <a:avLst/>
          </a:prstGeom>
        </p:spPr>
      </p:pic>
      <p:sp>
        <p:nvSpPr>
          <p:cNvPr id="34" name="TextBox 33">
            <a:extLst>
              <a:ext uri="{FF2B5EF4-FFF2-40B4-BE49-F238E27FC236}">
                <a16:creationId xmlns:a16="http://schemas.microsoft.com/office/drawing/2014/main" id="{363D6D97-C2A4-01EF-FF5A-EDC1B293491D}"/>
              </a:ext>
            </a:extLst>
          </p:cNvPr>
          <p:cNvSpPr txBox="1"/>
          <p:nvPr/>
        </p:nvSpPr>
        <p:spPr>
          <a:xfrm>
            <a:off x="402770" y="4752942"/>
            <a:ext cx="3541824" cy="900246"/>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US" sz="1050" dirty="0" err="1">
                <a:solidFill>
                  <a:prstClr val="white">
                    <a:alpha val="50000"/>
                  </a:prstClr>
                </a:solidFill>
              </a:rPr>
              <a:t>LifeQuest</a:t>
            </a:r>
            <a:r>
              <a:rPr lang="en-US" sz="1050" dirty="0">
                <a:solidFill>
                  <a:prstClr val="white">
                    <a:alpha val="50000"/>
                  </a:prstClr>
                </a:solidFill>
              </a:rPr>
              <a:t>" shows users in-person and virtual social events (e.g., "Player Meetup" for 500 Quest Coins) and networking opportunities via geolocation, rewarding attendance with points redeemable for rewards (e.g., Spotify subscriptions for 1500 Coins), rebuilding community ties</a:t>
            </a:r>
            <a:endParaRPr lang="en-GB" sz="1050" dirty="0">
              <a:solidFill>
                <a:prstClr val="white">
                  <a:alpha val="50000"/>
                </a:prstClr>
              </a:solidFill>
            </a:endParaRPr>
          </a:p>
        </p:txBody>
      </p:sp>
      <p:sp>
        <p:nvSpPr>
          <p:cNvPr id="36" name="TextBox 35">
            <a:extLst>
              <a:ext uri="{FF2B5EF4-FFF2-40B4-BE49-F238E27FC236}">
                <a16:creationId xmlns:a16="http://schemas.microsoft.com/office/drawing/2014/main" id="{05F9D064-4AC4-469A-01A3-7954B0C02C8B}"/>
              </a:ext>
            </a:extLst>
          </p:cNvPr>
          <p:cNvSpPr txBox="1"/>
          <p:nvPr/>
        </p:nvSpPr>
        <p:spPr>
          <a:xfrm>
            <a:off x="475662" y="3785946"/>
            <a:ext cx="3213865" cy="830997"/>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US" dirty="0"/>
              <a:t>Unemployment severs workplace networks, increasing loneliness by 40% and doubling social isolation.</a:t>
            </a:r>
          </a:p>
        </p:txBody>
      </p:sp>
      <p:grpSp>
        <p:nvGrpSpPr>
          <p:cNvPr id="37" name="Group 36">
            <a:extLst>
              <a:ext uri="{FF2B5EF4-FFF2-40B4-BE49-F238E27FC236}">
                <a16:creationId xmlns:a16="http://schemas.microsoft.com/office/drawing/2014/main" id="{EDD2843C-AF5C-A346-EB66-517B2C491260}"/>
              </a:ext>
            </a:extLst>
          </p:cNvPr>
          <p:cNvGrpSpPr/>
          <p:nvPr/>
        </p:nvGrpSpPr>
        <p:grpSpPr>
          <a:xfrm>
            <a:off x="977163" y="3186480"/>
            <a:ext cx="6990749" cy="1992914"/>
            <a:chOff x="1989115" y="3558377"/>
            <a:chExt cx="5844361" cy="1494530"/>
          </a:xfrm>
        </p:grpSpPr>
        <p:cxnSp>
          <p:nvCxnSpPr>
            <p:cNvPr id="38" name="Straight Connector 37">
              <a:extLst>
                <a:ext uri="{FF2B5EF4-FFF2-40B4-BE49-F238E27FC236}">
                  <a16:creationId xmlns:a16="http://schemas.microsoft.com/office/drawing/2014/main" id="{64002F64-F345-8BE5-DB7F-4A4DA4AAF066}"/>
                </a:ext>
              </a:extLst>
            </p:cNvPr>
            <p:cNvCxnSpPr>
              <a:cxnSpLocks/>
            </p:cNvCxnSpPr>
            <p:nvPr/>
          </p:nvCxnSpPr>
          <p:spPr>
            <a:xfrm>
              <a:off x="4561397" y="3558377"/>
              <a:ext cx="0" cy="149453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sp>
          <p:nvSpPr>
            <p:cNvPr id="41" name="TextBox 40">
              <a:extLst>
                <a:ext uri="{FF2B5EF4-FFF2-40B4-BE49-F238E27FC236}">
                  <a16:creationId xmlns:a16="http://schemas.microsoft.com/office/drawing/2014/main" id="{B886DCB3-39F4-E52B-B2A6-2AEB7934B2E6}"/>
                </a:ext>
              </a:extLst>
            </p:cNvPr>
            <p:cNvSpPr txBox="1"/>
            <p:nvPr/>
          </p:nvSpPr>
          <p:spPr>
            <a:xfrm>
              <a:off x="1989115" y="3620622"/>
              <a:ext cx="1848311" cy="223884"/>
            </a:xfrm>
            <a:prstGeom prst="rect">
              <a:avLst/>
            </a:prstGeom>
            <a:noFill/>
          </p:spPr>
          <p:txBody>
            <a:bodyPr wrap="none"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US" sz="2000" b="1" dirty="0"/>
                <a:t>Loss of Community</a:t>
              </a:r>
              <a:endParaRPr lang="en-GB" sz="2000" b="1" dirty="0"/>
            </a:p>
          </p:txBody>
        </p:sp>
        <p:cxnSp>
          <p:nvCxnSpPr>
            <p:cNvPr id="42" name="Straight Connector 41">
              <a:extLst>
                <a:ext uri="{FF2B5EF4-FFF2-40B4-BE49-F238E27FC236}">
                  <a16:creationId xmlns:a16="http://schemas.microsoft.com/office/drawing/2014/main" id="{B9A7EFC9-F654-A762-5E7C-9568D72CC3B4}"/>
                </a:ext>
              </a:extLst>
            </p:cNvPr>
            <p:cNvCxnSpPr>
              <a:cxnSpLocks/>
            </p:cNvCxnSpPr>
            <p:nvPr/>
          </p:nvCxnSpPr>
          <p:spPr>
            <a:xfrm>
              <a:off x="7833476" y="3558377"/>
              <a:ext cx="0" cy="149453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sp>
        <p:nvSpPr>
          <p:cNvPr id="32" name="TextBox 31">
            <a:extLst>
              <a:ext uri="{FF2B5EF4-FFF2-40B4-BE49-F238E27FC236}">
                <a16:creationId xmlns:a16="http://schemas.microsoft.com/office/drawing/2014/main" id="{7F08EFA2-950D-EE3F-EB17-6394A441FF3C}"/>
              </a:ext>
            </a:extLst>
          </p:cNvPr>
          <p:cNvSpPr txBox="1"/>
          <p:nvPr/>
        </p:nvSpPr>
        <p:spPr>
          <a:xfrm>
            <a:off x="668217" y="1374757"/>
            <a:ext cx="10587982" cy="781321"/>
          </a:xfrm>
          <a:prstGeom prst="rect">
            <a:avLst/>
          </a:prstGeom>
          <a:noFill/>
        </p:spPr>
        <p:txBody>
          <a:bodyPr wrap="square"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pPr algn="ctr"/>
            <a:r>
              <a:rPr lang="en-GB" sz="4800" dirty="0"/>
              <a:t>Here are the problems that users have</a:t>
            </a:r>
          </a:p>
        </p:txBody>
      </p:sp>
      <p:sp>
        <p:nvSpPr>
          <p:cNvPr id="43" name="TextBox 42">
            <a:extLst>
              <a:ext uri="{FF2B5EF4-FFF2-40B4-BE49-F238E27FC236}">
                <a16:creationId xmlns:a16="http://schemas.microsoft.com/office/drawing/2014/main" id="{639EB7EE-FB69-0B22-EE35-A882280B25B4}"/>
              </a:ext>
            </a:extLst>
          </p:cNvPr>
          <p:cNvSpPr txBox="1"/>
          <p:nvPr/>
        </p:nvSpPr>
        <p:spPr>
          <a:xfrm>
            <a:off x="1334530" y="3398108"/>
            <a:ext cx="184731" cy="369332"/>
          </a:xfrm>
          <a:prstGeom prst="rect">
            <a:avLst/>
          </a:prstGeom>
          <a:noFill/>
        </p:spPr>
        <p:txBody>
          <a:bodyPr wrap="none" rtlCol="0">
            <a:spAutoFit/>
          </a:bodyPr>
          <a:lstStyle/>
          <a:p>
            <a:endParaRPr lang="en-US" dirty="0"/>
          </a:p>
        </p:txBody>
      </p:sp>
      <p:sp>
        <p:nvSpPr>
          <p:cNvPr id="47" name="TextBox 46">
            <a:extLst>
              <a:ext uri="{FF2B5EF4-FFF2-40B4-BE49-F238E27FC236}">
                <a16:creationId xmlns:a16="http://schemas.microsoft.com/office/drawing/2014/main" id="{8923EF07-B1C6-FE7E-56B2-F9529AAA6808}"/>
              </a:ext>
            </a:extLst>
          </p:cNvPr>
          <p:cNvSpPr txBox="1"/>
          <p:nvPr/>
        </p:nvSpPr>
        <p:spPr>
          <a:xfrm>
            <a:off x="4189510" y="3329654"/>
            <a:ext cx="3692036" cy="298543"/>
          </a:xfrm>
          <a:prstGeom prst="rect">
            <a:avLst/>
          </a:prstGeom>
          <a:noFill/>
        </p:spPr>
        <p:txBody>
          <a:bodyPr wrap="none"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US" sz="2000" b="1" dirty="0"/>
              <a:t>Lack of Career-Oriented Progress</a:t>
            </a:r>
            <a:endParaRPr lang="en-GB" sz="2000" b="1" dirty="0"/>
          </a:p>
        </p:txBody>
      </p:sp>
      <p:sp>
        <p:nvSpPr>
          <p:cNvPr id="48" name="TextBox 47">
            <a:extLst>
              <a:ext uri="{FF2B5EF4-FFF2-40B4-BE49-F238E27FC236}">
                <a16:creationId xmlns:a16="http://schemas.microsoft.com/office/drawing/2014/main" id="{FA61F5F0-5D44-0D56-AF80-A8A3A195E8AA}"/>
              </a:ext>
            </a:extLst>
          </p:cNvPr>
          <p:cNvSpPr txBox="1"/>
          <p:nvPr/>
        </p:nvSpPr>
        <p:spPr>
          <a:xfrm>
            <a:off x="8078721" y="3329653"/>
            <a:ext cx="3462807" cy="298543"/>
          </a:xfrm>
          <a:prstGeom prst="rect">
            <a:avLst/>
          </a:prstGeom>
          <a:noFill/>
        </p:spPr>
        <p:txBody>
          <a:bodyPr wrap="none"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US" sz="2000" b="1" dirty="0"/>
              <a:t>Loss of Structure and Direction</a:t>
            </a:r>
            <a:endParaRPr lang="en-GB" sz="2000" b="1" dirty="0"/>
          </a:p>
        </p:txBody>
      </p:sp>
      <p:sp>
        <p:nvSpPr>
          <p:cNvPr id="49" name="TextBox 48">
            <a:extLst>
              <a:ext uri="{FF2B5EF4-FFF2-40B4-BE49-F238E27FC236}">
                <a16:creationId xmlns:a16="http://schemas.microsoft.com/office/drawing/2014/main" id="{D9E11989-C136-D3FA-332F-90A9EB423062}"/>
              </a:ext>
            </a:extLst>
          </p:cNvPr>
          <p:cNvSpPr txBox="1"/>
          <p:nvPr/>
        </p:nvSpPr>
        <p:spPr>
          <a:xfrm>
            <a:off x="4256027" y="3767440"/>
            <a:ext cx="3559003" cy="830997"/>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US" dirty="0"/>
              <a:t>Job loss halts career development, with 43% of unemployed reporting poor mental health due to stalled progress.</a:t>
            </a:r>
          </a:p>
        </p:txBody>
      </p:sp>
      <p:sp>
        <p:nvSpPr>
          <p:cNvPr id="50" name="TextBox 49">
            <a:extLst>
              <a:ext uri="{FF2B5EF4-FFF2-40B4-BE49-F238E27FC236}">
                <a16:creationId xmlns:a16="http://schemas.microsoft.com/office/drawing/2014/main" id="{599B69AA-F5B9-DCBA-C25A-DABA1FD9DE6B}"/>
              </a:ext>
            </a:extLst>
          </p:cNvPr>
          <p:cNvSpPr txBox="1"/>
          <p:nvPr/>
        </p:nvSpPr>
        <p:spPr>
          <a:xfrm>
            <a:off x="4163417" y="4752942"/>
            <a:ext cx="3541824" cy="900246"/>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US" sz="1050" dirty="0" err="1">
                <a:solidFill>
                  <a:prstClr val="white">
                    <a:alpha val="50000"/>
                  </a:prstClr>
                </a:solidFill>
              </a:rPr>
              <a:t>LifeQuest</a:t>
            </a:r>
            <a:r>
              <a:rPr lang="en-US" sz="1050" dirty="0">
                <a:solidFill>
                  <a:prstClr val="white">
                    <a:alpha val="50000"/>
                  </a:prstClr>
                </a:solidFill>
              </a:rPr>
              <a:t>" rewards users with points (e.g., 200 Quest Coins for "Resume Boost," 400 for "Career Fair Visit") for completing self-improvement tasks like resume enhancements and job applications, driving employability with tangible incentives</a:t>
            </a:r>
            <a:endParaRPr lang="en-GB" sz="1050" dirty="0">
              <a:solidFill>
                <a:prstClr val="white">
                  <a:alpha val="50000"/>
                </a:prstClr>
              </a:solidFill>
            </a:endParaRPr>
          </a:p>
        </p:txBody>
      </p:sp>
      <p:sp>
        <p:nvSpPr>
          <p:cNvPr id="51" name="TextBox 50">
            <a:extLst>
              <a:ext uri="{FF2B5EF4-FFF2-40B4-BE49-F238E27FC236}">
                <a16:creationId xmlns:a16="http://schemas.microsoft.com/office/drawing/2014/main" id="{715CF515-F10F-209A-24B5-55355228706D}"/>
              </a:ext>
            </a:extLst>
          </p:cNvPr>
          <p:cNvSpPr txBox="1"/>
          <p:nvPr/>
        </p:nvSpPr>
        <p:spPr>
          <a:xfrm>
            <a:off x="8074570" y="3787497"/>
            <a:ext cx="3559003" cy="830997"/>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US" dirty="0"/>
              <a:t>Without work routines, unemployed individuals lose purpose, exacerbating isolation</a:t>
            </a:r>
          </a:p>
        </p:txBody>
      </p:sp>
      <p:sp>
        <p:nvSpPr>
          <p:cNvPr id="52" name="TextBox 51">
            <a:extLst>
              <a:ext uri="{FF2B5EF4-FFF2-40B4-BE49-F238E27FC236}">
                <a16:creationId xmlns:a16="http://schemas.microsoft.com/office/drawing/2014/main" id="{D81B458E-CE94-12DB-1AE9-A47B7260893D}"/>
              </a:ext>
            </a:extLst>
          </p:cNvPr>
          <p:cNvSpPr txBox="1"/>
          <p:nvPr/>
        </p:nvSpPr>
        <p:spPr>
          <a:xfrm>
            <a:off x="8054279" y="4752942"/>
            <a:ext cx="3541824" cy="738664"/>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US" sz="1050" dirty="0" err="1">
                <a:solidFill>
                  <a:prstClr val="white">
                    <a:alpha val="50000"/>
                  </a:prstClr>
                </a:solidFill>
              </a:rPr>
              <a:t>LifeQuest</a:t>
            </a:r>
            <a:r>
              <a:rPr lang="en-US" sz="1050" dirty="0">
                <a:solidFill>
                  <a:prstClr val="white">
                    <a:alpha val="50000"/>
                  </a:prstClr>
                </a:solidFill>
              </a:rPr>
              <a:t>" provides daily quests (e.g., "Daily Wake-Up" for 50 Coins) and goal-oriented tasks (e.g., career fairs), offering a structured path and direction to regain focus and combat aimlessness.</a:t>
            </a:r>
            <a:endParaRPr lang="en-GB" sz="1050" dirty="0">
              <a:solidFill>
                <a:prstClr val="white">
                  <a:alpha val="50000"/>
                </a:prstClr>
              </a:solidFill>
            </a:endParaRPr>
          </a:p>
        </p:txBody>
      </p:sp>
    </p:spTree>
    <p:extLst>
      <p:ext uri="{BB962C8B-B14F-4D97-AF65-F5344CB8AC3E}">
        <p14:creationId xmlns:p14="http://schemas.microsoft.com/office/powerpoint/2010/main" val="253630352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0-#ppt_h/2"/>
                                          </p:val>
                                        </p:tav>
                                        <p:tav tm="100000">
                                          <p:val>
                                            <p:strVal val="#ppt_y"/>
                                          </p:val>
                                        </p:tav>
                                      </p:tavLst>
                                    </p:anim>
                                  </p:childTnLst>
                                </p:cTn>
                              </p:par>
                              <p:par>
                                <p:cTn id="9" presetID="9" presetClass="entr" presetSubtype="0" fill="hold" nodeType="with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dissolve">
                                      <p:cBhvr>
                                        <p:cTn id="11" dur="500"/>
                                        <p:tgtEl>
                                          <p:spTgt spid="29"/>
                                        </p:tgtEl>
                                      </p:cBhvr>
                                    </p:animEffect>
                                  </p:childTnLst>
                                </p:cTn>
                              </p:par>
                              <p:par>
                                <p:cTn id="12" presetID="2" presetClass="entr" presetSubtype="4" fill="hold" nodeType="withEffect">
                                  <p:stCondLst>
                                    <p:cond delay="0"/>
                                  </p:stCondLst>
                                  <p:childTnLst>
                                    <p:set>
                                      <p:cBhvr>
                                        <p:cTn id="13" dur="1" fill="hold">
                                          <p:stCondLst>
                                            <p:cond delay="0"/>
                                          </p:stCondLst>
                                        </p:cTn>
                                        <p:tgtEl>
                                          <p:spTgt spid="29"/>
                                        </p:tgtEl>
                                        <p:attrNameLst>
                                          <p:attrName>style.visibility</p:attrName>
                                        </p:attrNameLst>
                                      </p:cBhvr>
                                      <p:to>
                                        <p:strVal val="visible"/>
                                      </p:to>
                                    </p:set>
                                    <p:anim calcmode="lin" valueType="num">
                                      <p:cBhvr additive="base">
                                        <p:cTn id="14" dur="500" fill="hold"/>
                                        <p:tgtEl>
                                          <p:spTgt spid="29"/>
                                        </p:tgtEl>
                                        <p:attrNameLst>
                                          <p:attrName>ppt_x</p:attrName>
                                        </p:attrNameLst>
                                      </p:cBhvr>
                                      <p:tavLst>
                                        <p:tav tm="0">
                                          <p:val>
                                            <p:strVal val="#ppt_x"/>
                                          </p:val>
                                        </p:tav>
                                        <p:tav tm="100000">
                                          <p:val>
                                            <p:strVal val="#ppt_x"/>
                                          </p:val>
                                        </p:tav>
                                      </p:tavLst>
                                    </p:anim>
                                    <p:anim calcmode="lin" valueType="num">
                                      <p:cBhvr additive="base">
                                        <p:cTn id="15"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40348A4-0996-F30E-B712-42D5397924F2}"/>
              </a:ext>
            </a:extLst>
          </p:cNvPr>
          <p:cNvSpPr txBox="1"/>
          <p:nvPr/>
        </p:nvSpPr>
        <p:spPr>
          <a:xfrm>
            <a:off x="1659467" y="1173671"/>
            <a:ext cx="8873066" cy="4953664"/>
          </a:xfrm>
          <a:prstGeom prst="rect">
            <a:avLst/>
          </a:prstGeom>
          <a:noFill/>
        </p:spPr>
        <p:txBody>
          <a:bodyPr wrap="square" rtlCol="0">
            <a:spAutoFit/>
          </a:bodyPr>
          <a:lstStyle/>
          <a:p>
            <a:pPr algn="ctr">
              <a:lnSpc>
                <a:spcPct val="80000"/>
              </a:lnSpc>
              <a:defRPr/>
            </a:pPr>
            <a:r>
              <a:rPr kumimoji="0" lang="en-US" sz="19500" b="0" i="0" u="none" strike="noStrike" kern="0" cap="none" spc="0" normalizeH="0" baseline="0" noProof="0" dirty="0">
                <a:ln>
                  <a:noFill/>
                </a:ln>
                <a:solidFill>
                  <a:prstClr val="white"/>
                </a:solidFill>
                <a:effectLst/>
                <a:uLnTx/>
                <a:uFillTx/>
                <a:latin typeface="Darker Grotesque" pitchFamily="2" charset="0"/>
              </a:rPr>
              <a:t>Business</a:t>
            </a:r>
          </a:p>
          <a:p>
            <a:pPr marL="0" marR="0" lvl="0" indent="0" algn="ctr" defTabSz="914400" rtl="0" eaLnBrk="1" fontAlgn="auto" latinLnBrk="0" hangingPunct="1">
              <a:lnSpc>
                <a:spcPct val="80000"/>
              </a:lnSpc>
              <a:spcBef>
                <a:spcPts val="0"/>
              </a:spcBef>
              <a:spcAft>
                <a:spcPts val="0"/>
              </a:spcAft>
              <a:buClrTx/>
              <a:buSzTx/>
              <a:buFontTx/>
              <a:buNone/>
              <a:tabLst/>
              <a:defRPr/>
            </a:pPr>
            <a:endParaRPr kumimoji="0" lang="en-US" sz="19500" b="0" i="0" u="none" strike="noStrike" kern="0" cap="none" spc="0" normalizeH="0" baseline="0" noProof="0" dirty="0">
              <a:ln>
                <a:noFill/>
              </a:ln>
              <a:solidFill>
                <a:prstClr val="white"/>
              </a:solidFill>
              <a:effectLst/>
              <a:uLnTx/>
              <a:uFillTx/>
              <a:latin typeface="Darker Grotesque" pitchFamily="2" charset="0"/>
            </a:endParaRPr>
          </a:p>
        </p:txBody>
      </p:sp>
      <p:sp>
        <p:nvSpPr>
          <p:cNvPr id="5" name="TextBox 4">
            <a:extLst>
              <a:ext uri="{FF2B5EF4-FFF2-40B4-BE49-F238E27FC236}">
                <a16:creationId xmlns:a16="http://schemas.microsoft.com/office/drawing/2014/main" id="{C15E72E7-6CC6-148C-6F6F-84F4FB44DCA3}"/>
              </a:ext>
            </a:extLst>
          </p:cNvPr>
          <p:cNvSpPr txBox="1"/>
          <p:nvPr/>
        </p:nvSpPr>
        <p:spPr>
          <a:xfrm>
            <a:off x="1659467" y="3136452"/>
            <a:ext cx="8873066" cy="2547877"/>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9500" b="0" i="0" u="none" strike="noStrike" kern="0" cap="none" spc="0" normalizeH="0" baseline="0" noProof="0" dirty="0">
                <a:ln>
                  <a:noFill/>
                </a:ln>
                <a:solidFill>
                  <a:prstClr val="white"/>
                </a:solidFill>
                <a:effectLst/>
                <a:uLnTx/>
                <a:uFillTx/>
                <a:latin typeface="Darker Grotesque" pitchFamily="2" charset="0"/>
              </a:rPr>
              <a:t>Model</a:t>
            </a:r>
          </a:p>
        </p:txBody>
      </p:sp>
      <p:grpSp>
        <p:nvGrpSpPr>
          <p:cNvPr id="185" name="Group 184">
            <a:extLst>
              <a:ext uri="{FF2B5EF4-FFF2-40B4-BE49-F238E27FC236}">
                <a16:creationId xmlns:a16="http://schemas.microsoft.com/office/drawing/2014/main" id="{A11EA5FB-CC54-69D0-21B0-46E43C017994}"/>
              </a:ext>
            </a:extLst>
          </p:cNvPr>
          <p:cNvGrpSpPr/>
          <p:nvPr/>
        </p:nvGrpSpPr>
        <p:grpSpPr>
          <a:xfrm>
            <a:off x="267734" y="7329586"/>
            <a:ext cx="11676173" cy="5607474"/>
            <a:chOff x="267734" y="369986"/>
            <a:chExt cx="11676173" cy="5607474"/>
          </a:xfrm>
        </p:grpSpPr>
        <p:grpSp>
          <p:nvGrpSpPr>
            <p:cNvPr id="186" name="Group 185">
              <a:extLst>
                <a:ext uri="{FF2B5EF4-FFF2-40B4-BE49-F238E27FC236}">
                  <a16:creationId xmlns:a16="http://schemas.microsoft.com/office/drawing/2014/main" id="{2F62E1A0-F133-F7FD-42E7-673F83DBD3E9}"/>
                </a:ext>
              </a:extLst>
            </p:cNvPr>
            <p:cNvGrpSpPr/>
            <p:nvPr/>
          </p:nvGrpSpPr>
          <p:grpSpPr>
            <a:xfrm>
              <a:off x="299484" y="369986"/>
              <a:ext cx="11644423" cy="5607474"/>
              <a:chOff x="299484" y="369986"/>
              <a:chExt cx="11644423" cy="5607474"/>
            </a:xfrm>
          </p:grpSpPr>
          <p:cxnSp>
            <p:nvCxnSpPr>
              <p:cNvPr id="188" name="Straight Connector 187">
                <a:extLst>
                  <a:ext uri="{FF2B5EF4-FFF2-40B4-BE49-F238E27FC236}">
                    <a16:creationId xmlns:a16="http://schemas.microsoft.com/office/drawing/2014/main" id="{77B65626-A2C8-B971-A208-8204B3FE80EB}"/>
                  </a:ext>
                </a:extLst>
              </p:cNvPr>
              <p:cNvCxnSpPr/>
              <p:nvPr/>
            </p:nvCxnSpPr>
            <p:spPr>
              <a:xfrm>
                <a:off x="299484" y="62377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nvGrpSpPr>
              <p:cNvPr id="189" name="Group 188">
                <a:extLst>
                  <a:ext uri="{FF2B5EF4-FFF2-40B4-BE49-F238E27FC236}">
                    <a16:creationId xmlns:a16="http://schemas.microsoft.com/office/drawing/2014/main" id="{84B57129-93D4-8DDE-54D1-E3A797AD1F69}"/>
                  </a:ext>
                </a:extLst>
              </p:cNvPr>
              <p:cNvGrpSpPr/>
              <p:nvPr/>
            </p:nvGrpSpPr>
            <p:grpSpPr>
              <a:xfrm>
                <a:off x="299484" y="1417486"/>
                <a:ext cx="11644423" cy="4559974"/>
                <a:chOff x="540000" y="-18"/>
                <a:chExt cx="6480000" cy="6858018"/>
              </a:xfrm>
              <a:solidFill>
                <a:schemeClr val="bg1">
                  <a:alpha val="0"/>
                </a:schemeClr>
              </a:solidFill>
            </p:grpSpPr>
            <p:sp>
              <p:nvSpPr>
                <p:cNvPr id="210" name="Rectangle 209">
                  <a:extLst>
                    <a:ext uri="{FF2B5EF4-FFF2-40B4-BE49-F238E27FC236}">
                      <a16:creationId xmlns:a16="http://schemas.microsoft.com/office/drawing/2014/main" id="{28FFDC39-BF4C-6ABF-4C0E-C25F508E38EF}"/>
                    </a:ext>
                  </a:extLst>
                </p:cNvPr>
                <p:cNvSpPr/>
                <p:nvPr/>
              </p:nvSpPr>
              <p:spPr>
                <a:xfrm>
                  <a:off x="540000" y="0"/>
                  <a:ext cx="540000" cy="6858000"/>
                </a:xfrm>
                <a:prstGeom prst="rect">
                  <a:avLst/>
                </a:prstGeom>
                <a:grpFill/>
                <a:ln w="127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1" name="Rectangle 210">
                  <a:extLst>
                    <a:ext uri="{FF2B5EF4-FFF2-40B4-BE49-F238E27FC236}">
                      <a16:creationId xmlns:a16="http://schemas.microsoft.com/office/drawing/2014/main" id="{C1B51B61-695B-04DA-77BA-6FD2F5D92D61}"/>
                    </a:ext>
                  </a:extLst>
                </p:cNvPr>
                <p:cNvSpPr/>
                <p:nvPr/>
              </p:nvSpPr>
              <p:spPr>
                <a:xfrm>
                  <a:off x="1080000" y="0"/>
                  <a:ext cx="540000" cy="6858000"/>
                </a:xfrm>
                <a:prstGeom prst="rect">
                  <a:avLst/>
                </a:prstGeom>
                <a:grpFill/>
                <a:ln w="127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2" name="Rectangle 211">
                  <a:extLst>
                    <a:ext uri="{FF2B5EF4-FFF2-40B4-BE49-F238E27FC236}">
                      <a16:creationId xmlns:a16="http://schemas.microsoft.com/office/drawing/2014/main" id="{9CB7AEBB-CDBA-BB13-CDEB-5F72646353D5}"/>
                    </a:ext>
                  </a:extLst>
                </p:cNvPr>
                <p:cNvSpPr/>
                <p:nvPr/>
              </p:nvSpPr>
              <p:spPr>
                <a:xfrm>
                  <a:off x="1620000" y="0"/>
                  <a:ext cx="540000" cy="6858000"/>
                </a:xfrm>
                <a:prstGeom prst="rect">
                  <a:avLst/>
                </a:prstGeom>
                <a:grpFill/>
                <a:ln w="127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3" name="Rectangle 212">
                  <a:extLst>
                    <a:ext uri="{FF2B5EF4-FFF2-40B4-BE49-F238E27FC236}">
                      <a16:creationId xmlns:a16="http://schemas.microsoft.com/office/drawing/2014/main" id="{C4778161-CC57-FD40-5998-B458B2ED737A}"/>
                    </a:ext>
                  </a:extLst>
                </p:cNvPr>
                <p:cNvSpPr/>
                <p:nvPr/>
              </p:nvSpPr>
              <p:spPr>
                <a:xfrm>
                  <a:off x="2160000" y="-2"/>
                  <a:ext cx="540000" cy="6858000"/>
                </a:xfrm>
                <a:prstGeom prst="rect">
                  <a:avLst/>
                </a:prstGeom>
                <a:grpFill/>
                <a:ln w="127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4" name="Rectangle 213">
                  <a:extLst>
                    <a:ext uri="{FF2B5EF4-FFF2-40B4-BE49-F238E27FC236}">
                      <a16:creationId xmlns:a16="http://schemas.microsoft.com/office/drawing/2014/main" id="{56298F65-AB26-8574-6CE5-2C1BDE6BFA4D}"/>
                    </a:ext>
                  </a:extLst>
                </p:cNvPr>
                <p:cNvSpPr/>
                <p:nvPr/>
              </p:nvSpPr>
              <p:spPr>
                <a:xfrm>
                  <a:off x="2700000" y="-4"/>
                  <a:ext cx="540000" cy="6858000"/>
                </a:xfrm>
                <a:prstGeom prst="rect">
                  <a:avLst/>
                </a:prstGeom>
                <a:grpFill/>
                <a:ln w="127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 name="Rectangle 214">
                  <a:extLst>
                    <a:ext uri="{FF2B5EF4-FFF2-40B4-BE49-F238E27FC236}">
                      <a16:creationId xmlns:a16="http://schemas.microsoft.com/office/drawing/2014/main" id="{94AE4A87-0833-7C11-382E-D51D8F4342F5}"/>
                    </a:ext>
                  </a:extLst>
                </p:cNvPr>
                <p:cNvSpPr/>
                <p:nvPr/>
              </p:nvSpPr>
              <p:spPr>
                <a:xfrm>
                  <a:off x="3240000" y="-6"/>
                  <a:ext cx="540000" cy="6858000"/>
                </a:xfrm>
                <a:prstGeom prst="rect">
                  <a:avLst/>
                </a:prstGeom>
                <a:grpFill/>
                <a:ln w="127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6" name="Rectangle 215">
                  <a:extLst>
                    <a:ext uri="{FF2B5EF4-FFF2-40B4-BE49-F238E27FC236}">
                      <a16:creationId xmlns:a16="http://schemas.microsoft.com/office/drawing/2014/main" id="{324D66FA-EF48-B3CB-D772-11A76461D1F2}"/>
                    </a:ext>
                  </a:extLst>
                </p:cNvPr>
                <p:cNvSpPr/>
                <p:nvPr/>
              </p:nvSpPr>
              <p:spPr>
                <a:xfrm>
                  <a:off x="3780000" y="-8"/>
                  <a:ext cx="540000" cy="6858000"/>
                </a:xfrm>
                <a:prstGeom prst="rect">
                  <a:avLst/>
                </a:prstGeom>
                <a:grpFill/>
                <a:ln w="127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7" name="Rectangle 216">
                  <a:extLst>
                    <a:ext uri="{FF2B5EF4-FFF2-40B4-BE49-F238E27FC236}">
                      <a16:creationId xmlns:a16="http://schemas.microsoft.com/office/drawing/2014/main" id="{3801BFCE-DB99-BA17-A407-BB01616E80E1}"/>
                    </a:ext>
                  </a:extLst>
                </p:cNvPr>
                <p:cNvSpPr/>
                <p:nvPr/>
              </p:nvSpPr>
              <p:spPr>
                <a:xfrm>
                  <a:off x="4320000" y="-10"/>
                  <a:ext cx="540000" cy="6858000"/>
                </a:xfrm>
                <a:prstGeom prst="rect">
                  <a:avLst/>
                </a:prstGeom>
                <a:grpFill/>
                <a:ln w="127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8" name="Rectangle 217">
                  <a:extLst>
                    <a:ext uri="{FF2B5EF4-FFF2-40B4-BE49-F238E27FC236}">
                      <a16:creationId xmlns:a16="http://schemas.microsoft.com/office/drawing/2014/main" id="{3124EEB2-65AA-1015-48AD-6C906C69754D}"/>
                    </a:ext>
                  </a:extLst>
                </p:cNvPr>
                <p:cNvSpPr/>
                <p:nvPr/>
              </p:nvSpPr>
              <p:spPr>
                <a:xfrm>
                  <a:off x="4860000" y="-12"/>
                  <a:ext cx="540000" cy="6858000"/>
                </a:xfrm>
                <a:prstGeom prst="rect">
                  <a:avLst/>
                </a:prstGeom>
                <a:grpFill/>
                <a:ln w="127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9" name="Rectangle 218">
                  <a:extLst>
                    <a:ext uri="{FF2B5EF4-FFF2-40B4-BE49-F238E27FC236}">
                      <a16:creationId xmlns:a16="http://schemas.microsoft.com/office/drawing/2014/main" id="{88AD7A92-9C73-A623-DF84-7D00200FA33A}"/>
                    </a:ext>
                  </a:extLst>
                </p:cNvPr>
                <p:cNvSpPr/>
                <p:nvPr/>
              </p:nvSpPr>
              <p:spPr>
                <a:xfrm>
                  <a:off x="5400000" y="-14"/>
                  <a:ext cx="540000" cy="6858000"/>
                </a:xfrm>
                <a:prstGeom prst="rect">
                  <a:avLst/>
                </a:prstGeom>
                <a:grpFill/>
                <a:ln w="127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0" name="Rectangle 219">
                  <a:extLst>
                    <a:ext uri="{FF2B5EF4-FFF2-40B4-BE49-F238E27FC236}">
                      <a16:creationId xmlns:a16="http://schemas.microsoft.com/office/drawing/2014/main" id="{3EF1694A-EAF2-2338-55FC-116921410160}"/>
                    </a:ext>
                  </a:extLst>
                </p:cNvPr>
                <p:cNvSpPr/>
                <p:nvPr/>
              </p:nvSpPr>
              <p:spPr>
                <a:xfrm>
                  <a:off x="5940000" y="-16"/>
                  <a:ext cx="540000" cy="6858000"/>
                </a:xfrm>
                <a:prstGeom prst="rect">
                  <a:avLst/>
                </a:prstGeom>
                <a:grpFill/>
                <a:ln w="127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1" name="Rectangle 220">
                  <a:extLst>
                    <a:ext uri="{FF2B5EF4-FFF2-40B4-BE49-F238E27FC236}">
                      <a16:creationId xmlns:a16="http://schemas.microsoft.com/office/drawing/2014/main" id="{CD38DEAD-D9CD-36EC-076B-D9EA12B3A024}"/>
                    </a:ext>
                  </a:extLst>
                </p:cNvPr>
                <p:cNvSpPr/>
                <p:nvPr/>
              </p:nvSpPr>
              <p:spPr>
                <a:xfrm>
                  <a:off x="6480000" y="-18"/>
                  <a:ext cx="540000" cy="6858000"/>
                </a:xfrm>
                <a:prstGeom prst="rect">
                  <a:avLst/>
                </a:prstGeom>
                <a:grpFill/>
                <a:ln w="127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90" name="TextBox 189">
                <a:extLst>
                  <a:ext uri="{FF2B5EF4-FFF2-40B4-BE49-F238E27FC236}">
                    <a16:creationId xmlns:a16="http://schemas.microsoft.com/office/drawing/2014/main" id="{0C1D2A83-B8D4-302E-12F9-B14C30A17077}"/>
                  </a:ext>
                </a:extLst>
              </p:cNvPr>
              <p:cNvSpPr txBox="1"/>
              <p:nvPr/>
            </p:nvSpPr>
            <p:spPr>
              <a:xfrm>
                <a:off x="472602" y="5611369"/>
                <a:ext cx="624135" cy="238363"/>
              </a:xfrm>
              <a:prstGeom prst="roundRect">
                <a:avLst>
                  <a:gd name="adj" fmla="val 27323"/>
                </a:avLst>
              </a:prstGeom>
              <a:solidFill>
                <a:schemeClr val="bg1">
                  <a:alpha val="20000"/>
                </a:schemeClr>
              </a:solidFill>
              <a:ln w="6350">
                <a:solidFill>
                  <a:schemeClr val="bg1">
                    <a:alpha val="25000"/>
                  </a:schemeClr>
                </a:solidFill>
              </a:ln>
            </p:spPr>
            <p:txBody>
              <a:bodyPr vert="horz" wrap="none" lIns="91440" tIns="45720" rIns="91440" bIns="45720" rtlCol="0" anchor="ctr"/>
              <a:lstStyle>
                <a:defPPr>
                  <a:defRPr lang="en-US"/>
                </a:defPPr>
                <a:lvl1pPr algn="ctr">
                  <a:defRPr lang="en-GB" sz="1200" smtClean="0">
                    <a:solidFill>
                      <a:schemeClr val="bg1"/>
                    </a:solidFill>
                    <a:latin typeface="Darker Grotesque Extra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latin typeface="Darker Grotesque" pitchFamily="2" charset="0"/>
                  </a:rPr>
                  <a:t>JAN</a:t>
                </a:r>
                <a:endParaRPr lang="en-LT" dirty="0">
                  <a:latin typeface="Darker Grotesque" pitchFamily="2" charset="0"/>
                </a:endParaRPr>
              </a:p>
            </p:txBody>
          </p:sp>
          <p:sp>
            <p:nvSpPr>
              <p:cNvPr id="191" name="TextBox 190">
                <a:extLst>
                  <a:ext uri="{FF2B5EF4-FFF2-40B4-BE49-F238E27FC236}">
                    <a16:creationId xmlns:a16="http://schemas.microsoft.com/office/drawing/2014/main" id="{2C983DBF-E83A-0931-CCB1-4CF44A58471D}"/>
                  </a:ext>
                </a:extLst>
              </p:cNvPr>
              <p:cNvSpPr txBox="1"/>
              <p:nvPr/>
            </p:nvSpPr>
            <p:spPr>
              <a:xfrm>
                <a:off x="1445284" y="5611369"/>
                <a:ext cx="624135" cy="255032"/>
              </a:xfrm>
              <a:prstGeom prst="roundRect">
                <a:avLst>
                  <a:gd name="adj" fmla="val 27323"/>
                </a:avLst>
              </a:prstGeom>
              <a:solidFill>
                <a:schemeClr val="bg1">
                  <a:alpha val="20000"/>
                </a:schemeClr>
              </a:solidFill>
              <a:ln w="6350">
                <a:solidFill>
                  <a:schemeClr val="bg1">
                    <a:alpha val="25000"/>
                  </a:schemeClr>
                </a:solidFill>
              </a:ln>
            </p:spPr>
            <p:txBody>
              <a:bodyPr vert="horz" wrap="none" lIns="91440" tIns="45720" rIns="91440" bIns="45720" rtlCol="0" anchor="ctr"/>
              <a:lstStyle>
                <a:defPPr>
                  <a:defRPr lang="en-US"/>
                </a:defPPr>
                <a:lvl1pPr algn="ctr">
                  <a:defRPr sz="1200">
                    <a:solidFill>
                      <a:schemeClr val="bg1"/>
                    </a:solidFill>
                    <a:latin typeface="Darker Grotesque Extra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atin typeface="Darker Grotesque" pitchFamily="2" charset="0"/>
                  </a:rPr>
                  <a:t>FEB</a:t>
                </a:r>
                <a:endParaRPr lang="en-LT" dirty="0">
                  <a:latin typeface="Darker Grotesque" pitchFamily="2" charset="0"/>
                </a:endParaRPr>
              </a:p>
            </p:txBody>
          </p:sp>
          <p:sp>
            <p:nvSpPr>
              <p:cNvPr id="192" name="TextBox 191">
                <a:extLst>
                  <a:ext uri="{FF2B5EF4-FFF2-40B4-BE49-F238E27FC236}">
                    <a16:creationId xmlns:a16="http://schemas.microsoft.com/office/drawing/2014/main" id="{F26C2905-855C-0246-4261-A080D306B5B3}"/>
                  </a:ext>
                </a:extLst>
              </p:cNvPr>
              <p:cNvSpPr txBox="1"/>
              <p:nvPr/>
            </p:nvSpPr>
            <p:spPr>
              <a:xfrm>
                <a:off x="2417966" y="5611369"/>
                <a:ext cx="624135" cy="255032"/>
              </a:xfrm>
              <a:prstGeom prst="roundRect">
                <a:avLst>
                  <a:gd name="adj" fmla="val 27323"/>
                </a:avLst>
              </a:prstGeom>
              <a:solidFill>
                <a:schemeClr val="bg1">
                  <a:alpha val="20000"/>
                </a:schemeClr>
              </a:solidFill>
              <a:ln w="6350">
                <a:solidFill>
                  <a:schemeClr val="bg1">
                    <a:alpha val="25000"/>
                  </a:schemeClr>
                </a:solidFill>
              </a:ln>
            </p:spPr>
            <p:txBody>
              <a:bodyPr vert="horz" wrap="none" lIns="91440" tIns="45720" rIns="91440" bIns="45720" rtlCol="0" anchor="ctr"/>
              <a:lstStyle>
                <a:defPPr>
                  <a:defRPr lang="en-US"/>
                </a:defPPr>
                <a:lvl1pPr algn="ctr">
                  <a:defRPr sz="1200">
                    <a:solidFill>
                      <a:schemeClr val="bg1"/>
                    </a:solidFill>
                    <a:latin typeface="Darker Grotesque Extra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atin typeface="Darker Grotesque" pitchFamily="2" charset="0"/>
                  </a:rPr>
                  <a:t>MAR</a:t>
                </a:r>
                <a:endParaRPr lang="en-LT" dirty="0">
                  <a:latin typeface="Darker Grotesque" pitchFamily="2" charset="0"/>
                </a:endParaRPr>
              </a:p>
            </p:txBody>
          </p:sp>
          <p:sp>
            <p:nvSpPr>
              <p:cNvPr id="193" name="TextBox 192">
                <a:extLst>
                  <a:ext uri="{FF2B5EF4-FFF2-40B4-BE49-F238E27FC236}">
                    <a16:creationId xmlns:a16="http://schemas.microsoft.com/office/drawing/2014/main" id="{E5B1D6A0-BC51-663A-FBEB-15BBF55BB618}"/>
                  </a:ext>
                </a:extLst>
              </p:cNvPr>
              <p:cNvSpPr txBox="1"/>
              <p:nvPr/>
            </p:nvSpPr>
            <p:spPr>
              <a:xfrm>
                <a:off x="4363331" y="5611369"/>
                <a:ext cx="624135" cy="255032"/>
              </a:xfrm>
              <a:prstGeom prst="roundRect">
                <a:avLst>
                  <a:gd name="adj" fmla="val 27323"/>
                </a:avLst>
              </a:prstGeom>
              <a:solidFill>
                <a:schemeClr val="bg1">
                  <a:alpha val="20000"/>
                </a:schemeClr>
              </a:solidFill>
              <a:ln w="6350">
                <a:solidFill>
                  <a:schemeClr val="bg1">
                    <a:alpha val="25000"/>
                  </a:schemeClr>
                </a:solidFill>
              </a:ln>
            </p:spPr>
            <p:txBody>
              <a:bodyPr vert="horz" wrap="none" lIns="91440" tIns="45720" rIns="91440" bIns="45720" rtlCol="0" anchor="ctr"/>
              <a:lstStyle>
                <a:defPPr>
                  <a:defRPr lang="en-US"/>
                </a:defPPr>
                <a:lvl1pPr algn="ctr">
                  <a:defRPr sz="1200">
                    <a:solidFill>
                      <a:schemeClr val="bg1"/>
                    </a:solidFill>
                    <a:latin typeface="Darker Grotesque Extra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atin typeface="Darker Grotesque" pitchFamily="2" charset="0"/>
                  </a:rPr>
                  <a:t>MAY</a:t>
                </a:r>
                <a:endParaRPr lang="en-LT" dirty="0">
                  <a:latin typeface="Darker Grotesque" pitchFamily="2" charset="0"/>
                </a:endParaRPr>
              </a:p>
            </p:txBody>
          </p:sp>
          <p:sp>
            <p:nvSpPr>
              <p:cNvPr id="194" name="TextBox 193">
                <a:extLst>
                  <a:ext uri="{FF2B5EF4-FFF2-40B4-BE49-F238E27FC236}">
                    <a16:creationId xmlns:a16="http://schemas.microsoft.com/office/drawing/2014/main" id="{32AD88DC-D0FF-B328-AEF5-13A288EC2D51}"/>
                  </a:ext>
                </a:extLst>
              </p:cNvPr>
              <p:cNvSpPr txBox="1"/>
              <p:nvPr/>
            </p:nvSpPr>
            <p:spPr>
              <a:xfrm>
                <a:off x="5336014" y="5611369"/>
                <a:ext cx="624135" cy="255032"/>
              </a:xfrm>
              <a:prstGeom prst="roundRect">
                <a:avLst>
                  <a:gd name="adj" fmla="val 27323"/>
                </a:avLst>
              </a:prstGeom>
              <a:solidFill>
                <a:schemeClr val="bg1">
                  <a:alpha val="20000"/>
                </a:schemeClr>
              </a:solidFill>
              <a:ln w="6350">
                <a:solidFill>
                  <a:schemeClr val="bg1">
                    <a:alpha val="25000"/>
                  </a:schemeClr>
                </a:solidFill>
              </a:ln>
            </p:spPr>
            <p:txBody>
              <a:bodyPr vert="horz" wrap="none" lIns="91440" tIns="45720" rIns="91440" bIns="45720" rtlCol="0" anchor="ctr"/>
              <a:lstStyle>
                <a:defPPr>
                  <a:defRPr lang="en-US"/>
                </a:defPPr>
                <a:lvl1pPr algn="ctr">
                  <a:defRPr sz="1200">
                    <a:solidFill>
                      <a:schemeClr val="bg1"/>
                    </a:solidFill>
                    <a:latin typeface="Darker Grotesque Extra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atin typeface="Darker Grotesque" pitchFamily="2" charset="0"/>
                  </a:rPr>
                  <a:t>JUN</a:t>
                </a:r>
                <a:endParaRPr lang="en-LT" dirty="0">
                  <a:latin typeface="Darker Grotesque" pitchFamily="2" charset="0"/>
                </a:endParaRPr>
              </a:p>
            </p:txBody>
          </p:sp>
          <p:sp>
            <p:nvSpPr>
              <p:cNvPr id="195" name="TextBox 194">
                <a:extLst>
                  <a:ext uri="{FF2B5EF4-FFF2-40B4-BE49-F238E27FC236}">
                    <a16:creationId xmlns:a16="http://schemas.microsoft.com/office/drawing/2014/main" id="{AEEF3670-1D47-EEB5-AD6D-0AE97096A8FD}"/>
                  </a:ext>
                </a:extLst>
              </p:cNvPr>
              <p:cNvSpPr txBox="1"/>
              <p:nvPr/>
            </p:nvSpPr>
            <p:spPr>
              <a:xfrm>
                <a:off x="6308696" y="5611369"/>
                <a:ext cx="624135" cy="255032"/>
              </a:xfrm>
              <a:prstGeom prst="roundRect">
                <a:avLst>
                  <a:gd name="adj" fmla="val 27323"/>
                </a:avLst>
              </a:prstGeom>
              <a:solidFill>
                <a:schemeClr val="bg1">
                  <a:alpha val="20000"/>
                </a:schemeClr>
              </a:solidFill>
              <a:ln w="6350">
                <a:solidFill>
                  <a:schemeClr val="bg1">
                    <a:alpha val="25000"/>
                  </a:schemeClr>
                </a:solidFill>
              </a:ln>
            </p:spPr>
            <p:txBody>
              <a:bodyPr vert="horz" wrap="none" lIns="91440" tIns="45720" rIns="91440" bIns="45720" rtlCol="0" anchor="ctr"/>
              <a:lstStyle>
                <a:defPPr>
                  <a:defRPr lang="en-US"/>
                </a:defPPr>
                <a:lvl1pPr algn="ctr">
                  <a:defRPr sz="1200">
                    <a:solidFill>
                      <a:schemeClr val="bg1"/>
                    </a:solidFill>
                    <a:latin typeface="Darker Grotesque Extra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atin typeface="Darker Grotesque" pitchFamily="2" charset="0"/>
                  </a:rPr>
                  <a:t>JUL</a:t>
                </a:r>
                <a:endParaRPr lang="en-LT" dirty="0">
                  <a:latin typeface="Darker Grotesque" pitchFamily="2" charset="0"/>
                </a:endParaRPr>
              </a:p>
            </p:txBody>
          </p:sp>
          <p:sp>
            <p:nvSpPr>
              <p:cNvPr id="196" name="TextBox 195">
                <a:extLst>
                  <a:ext uri="{FF2B5EF4-FFF2-40B4-BE49-F238E27FC236}">
                    <a16:creationId xmlns:a16="http://schemas.microsoft.com/office/drawing/2014/main" id="{38A7ECEB-1102-5EAA-8E3E-050904477B2F}"/>
                  </a:ext>
                </a:extLst>
              </p:cNvPr>
              <p:cNvSpPr txBox="1"/>
              <p:nvPr/>
            </p:nvSpPr>
            <p:spPr>
              <a:xfrm>
                <a:off x="7281379" y="5611369"/>
                <a:ext cx="624135" cy="255032"/>
              </a:xfrm>
              <a:prstGeom prst="roundRect">
                <a:avLst>
                  <a:gd name="adj" fmla="val 27323"/>
                </a:avLst>
              </a:prstGeom>
              <a:solidFill>
                <a:schemeClr val="bg1">
                  <a:alpha val="20000"/>
                </a:schemeClr>
              </a:solidFill>
              <a:ln w="6350">
                <a:solidFill>
                  <a:schemeClr val="bg1">
                    <a:alpha val="25000"/>
                  </a:schemeClr>
                </a:solidFill>
              </a:ln>
            </p:spPr>
            <p:txBody>
              <a:bodyPr vert="horz" wrap="none" lIns="91440" tIns="45720" rIns="91440" bIns="45720" rtlCol="0" anchor="ctr"/>
              <a:lstStyle>
                <a:defPPr>
                  <a:defRPr lang="en-US"/>
                </a:defPPr>
                <a:lvl1pPr algn="ctr">
                  <a:defRPr sz="1200">
                    <a:solidFill>
                      <a:schemeClr val="bg1"/>
                    </a:solidFill>
                    <a:latin typeface="Darker Grotesque Extra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atin typeface="Darker Grotesque" pitchFamily="2" charset="0"/>
                  </a:rPr>
                  <a:t>AUG</a:t>
                </a:r>
                <a:endParaRPr lang="en-LT" dirty="0">
                  <a:latin typeface="Darker Grotesque" pitchFamily="2" charset="0"/>
                </a:endParaRPr>
              </a:p>
            </p:txBody>
          </p:sp>
          <p:sp>
            <p:nvSpPr>
              <p:cNvPr id="197" name="TextBox 196">
                <a:extLst>
                  <a:ext uri="{FF2B5EF4-FFF2-40B4-BE49-F238E27FC236}">
                    <a16:creationId xmlns:a16="http://schemas.microsoft.com/office/drawing/2014/main" id="{FEC97ED0-249D-7C2D-2082-1098A6D8DD8B}"/>
                  </a:ext>
                </a:extLst>
              </p:cNvPr>
              <p:cNvSpPr txBox="1"/>
              <p:nvPr/>
            </p:nvSpPr>
            <p:spPr>
              <a:xfrm>
                <a:off x="8254061" y="5611369"/>
                <a:ext cx="624135" cy="255032"/>
              </a:xfrm>
              <a:prstGeom prst="roundRect">
                <a:avLst>
                  <a:gd name="adj" fmla="val 27323"/>
                </a:avLst>
              </a:prstGeom>
              <a:solidFill>
                <a:schemeClr val="bg1">
                  <a:alpha val="20000"/>
                </a:schemeClr>
              </a:solidFill>
              <a:ln w="6350">
                <a:solidFill>
                  <a:schemeClr val="bg1">
                    <a:alpha val="25000"/>
                  </a:schemeClr>
                </a:solidFill>
              </a:ln>
            </p:spPr>
            <p:txBody>
              <a:bodyPr vert="horz" wrap="none" lIns="91440" tIns="45720" rIns="91440" bIns="45720" rtlCol="0" anchor="ctr"/>
              <a:lstStyle>
                <a:defPPr>
                  <a:defRPr lang="en-US"/>
                </a:defPPr>
                <a:lvl1pPr algn="ctr">
                  <a:defRPr sz="1200">
                    <a:solidFill>
                      <a:schemeClr val="bg1"/>
                    </a:solidFill>
                    <a:latin typeface="Darker Grotesque Extra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atin typeface="Darker Grotesque" pitchFamily="2" charset="0"/>
                  </a:rPr>
                  <a:t>SEP</a:t>
                </a:r>
                <a:endParaRPr lang="en-LT" dirty="0">
                  <a:latin typeface="Darker Grotesque" pitchFamily="2" charset="0"/>
                </a:endParaRPr>
              </a:p>
            </p:txBody>
          </p:sp>
          <p:sp>
            <p:nvSpPr>
              <p:cNvPr id="198" name="TextBox 197">
                <a:extLst>
                  <a:ext uri="{FF2B5EF4-FFF2-40B4-BE49-F238E27FC236}">
                    <a16:creationId xmlns:a16="http://schemas.microsoft.com/office/drawing/2014/main" id="{3E6C4420-6B79-39A1-966B-2CBF1CD447C3}"/>
                  </a:ext>
                </a:extLst>
              </p:cNvPr>
              <p:cNvSpPr txBox="1"/>
              <p:nvPr/>
            </p:nvSpPr>
            <p:spPr>
              <a:xfrm>
                <a:off x="9226744" y="5611369"/>
                <a:ext cx="624135" cy="255032"/>
              </a:xfrm>
              <a:prstGeom prst="roundRect">
                <a:avLst>
                  <a:gd name="adj" fmla="val 27323"/>
                </a:avLst>
              </a:prstGeom>
              <a:solidFill>
                <a:schemeClr val="bg1">
                  <a:alpha val="20000"/>
                </a:schemeClr>
              </a:solidFill>
              <a:ln w="6350">
                <a:solidFill>
                  <a:schemeClr val="bg1">
                    <a:alpha val="25000"/>
                  </a:schemeClr>
                </a:solidFill>
              </a:ln>
            </p:spPr>
            <p:txBody>
              <a:bodyPr vert="horz" wrap="none" lIns="91440" tIns="45720" rIns="91440" bIns="45720" rtlCol="0" anchor="ctr"/>
              <a:lstStyle>
                <a:defPPr>
                  <a:defRPr lang="en-US"/>
                </a:defPPr>
                <a:lvl1pPr algn="ctr">
                  <a:defRPr sz="1200">
                    <a:solidFill>
                      <a:schemeClr val="bg1"/>
                    </a:solidFill>
                    <a:latin typeface="Darker Grotesque Extra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atin typeface="Darker Grotesque" pitchFamily="2" charset="0"/>
                  </a:rPr>
                  <a:t>OCT</a:t>
                </a:r>
                <a:endParaRPr lang="en-LT" dirty="0">
                  <a:latin typeface="Darker Grotesque" pitchFamily="2" charset="0"/>
                </a:endParaRPr>
              </a:p>
            </p:txBody>
          </p:sp>
          <p:sp>
            <p:nvSpPr>
              <p:cNvPr id="199" name="TextBox 198">
                <a:extLst>
                  <a:ext uri="{FF2B5EF4-FFF2-40B4-BE49-F238E27FC236}">
                    <a16:creationId xmlns:a16="http://schemas.microsoft.com/office/drawing/2014/main" id="{B5AD8667-5E4E-F581-E4CA-7E0FF7D3128F}"/>
                  </a:ext>
                </a:extLst>
              </p:cNvPr>
              <p:cNvSpPr txBox="1"/>
              <p:nvPr/>
            </p:nvSpPr>
            <p:spPr>
              <a:xfrm>
                <a:off x="10199426" y="5611369"/>
                <a:ext cx="624135" cy="255032"/>
              </a:xfrm>
              <a:prstGeom prst="roundRect">
                <a:avLst>
                  <a:gd name="adj" fmla="val 27323"/>
                </a:avLst>
              </a:prstGeom>
              <a:solidFill>
                <a:schemeClr val="bg1">
                  <a:alpha val="20000"/>
                </a:schemeClr>
              </a:solidFill>
              <a:ln w="6350">
                <a:solidFill>
                  <a:schemeClr val="bg1">
                    <a:alpha val="25000"/>
                  </a:schemeClr>
                </a:solidFill>
              </a:ln>
            </p:spPr>
            <p:txBody>
              <a:bodyPr vert="horz" wrap="none" lIns="91440" tIns="45720" rIns="91440" bIns="45720" rtlCol="0" anchor="ctr"/>
              <a:lstStyle>
                <a:defPPr>
                  <a:defRPr lang="en-US"/>
                </a:defPPr>
                <a:lvl1pPr algn="ctr">
                  <a:defRPr sz="1200">
                    <a:solidFill>
                      <a:schemeClr val="bg1"/>
                    </a:solidFill>
                    <a:latin typeface="Darker Grotesque Extra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atin typeface="Darker Grotesque" pitchFamily="2" charset="0"/>
                  </a:rPr>
                  <a:t>NOV</a:t>
                </a:r>
                <a:endParaRPr lang="en-LT" dirty="0">
                  <a:latin typeface="Darker Grotesque" pitchFamily="2" charset="0"/>
                </a:endParaRPr>
              </a:p>
            </p:txBody>
          </p:sp>
          <p:sp>
            <p:nvSpPr>
              <p:cNvPr id="200" name="TextBox 199">
                <a:extLst>
                  <a:ext uri="{FF2B5EF4-FFF2-40B4-BE49-F238E27FC236}">
                    <a16:creationId xmlns:a16="http://schemas.microsoft.com/office/drawing/2014/main" id="{CCB4A305-818F-223C-FCBE-777EE3C061A2}"/>
                  </a:ext>
                </a:extLst>
              </p:cNvPr>
              <p:cNvSpPr txBox="1"/>
              <p:nvPr/>
            </p:nvSpPr>
            <p:spPr>
              <a:xfrm>
                <a:off x="11172109" y="5611369"/>
                <a:ext cx="624135" cy="255032"/>
              </a:xfrm>
              <a:prstGeom prst="roundRect">
                <a:avLst>
                  <a:gd name="adj" fmla="val 27323"/>
                </a:avLst>
              </a:prstGeom>
              <a:solidFill>
                <a:schemeClr val="bg1">
                  <a:alpha val="20000"/>
                </a:schemeClr>
              </a:solidFill>
              <a:ln w="6350">
                <a:solidFill>
                  <a:schemeClr val="bg1">
                    <a:alpha val="25000"/>
                  </a:schemeClr>
                </a:solidFill>
              </a:ln>
            </p:spPr>
            <p:txBody>
              <a:bodyPr vert="horz" wrap="none" lIns="91440" tIns="45720" rIns="91440" bIns="45720" rtlCol="0" anchor="ctr"/>
              <a:lstStyle>
                <a:defPPr>
                  <a:defRPr lang="en-US"/>
                </a:defPPr>
                <a:lvl1pPr algn="ctr">
                  <a:defRPr sz="1200">
                    <a:solidFill>
                      <a:schemeClr val="bg1"/>
                    </a:solidFill>
                    <a:latin typeface="Darker Grotesque Extra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atin typeface="Darker Grotesque" pitchFamily="2" charset="0"/>
                  </a:rPr>
                  <a:t>DEC</a:t>
                </a:r>
                <a:endParaRPr lang="en-LT" dirty="0">
                  <a:latin typeface="Darker Grotesque" pitchFamily="2" charset="0"/>
                </a:endParaRPr>
              </a:p>
            </p:txBody>
          </p:sp>
          <p:sp>
            <p:nvSpPr>
              <p:cNvPr id="201" name="TextBox 200">
                <a:extLst>
                  <a:ext uri="{FF2B5EF4-FFF2-40B4-BE49-F238E27FC236}">
                    <a16:creationId xmlns:a16="http://schemas.microsoft.com/office/drawing/2014/main" id="{A5C05EFE-C336-37AE-045F-C6ECC4F0E287}"/>
                  </a:ext>
                </a:extLst>
              </p:cNvPr>
              <p:cNvSpPr txBox="1"/>
              <p:nvPr/>
            </p:nvSpPr>
            <p:spPr>
              <a:xfrm>
                <a:off x="3383708" y="5611369"/>
                <a:ext cx="624135" cy="255032"/>
              </a:xfrm>
              <a:prstGeom prst="roundRect">
                <a:avLst>
                  <a:gd name="adj" fmla="val 27323"/>
                </a:avLst>
              </a:prstGeom>
              <a:solidFill>
                <a:schemeClr val="bg1">
                  <a:alpha val="20000"/>
                </a:schemeClr>
              </a:solidFill>
              <a:ln w="6350">
                <a:solidFill>
                  <a:schemeClr val="bg1">
                    <a:alpha val="25000"/>
                  </a:schemeClr>
                </a:solidFill>
              </a:ln>
            </p:spPr>
            <p:txBody>
              <a:bodyPr vert="horz" wrap="none" lIns="91440" tIns="45720" rIns="91440" bIns="45720" rtlCol="0" anchor="ctr"/>
              <a:lstStyle>
                <a:defPPr>
                  <a:defRPr lang="en-US"/>
                </a:defPPr>
                <a:lvl1pPr algn="ctr">
                  <a:defRPr sz="1200">
                    <a:solidFill>
                      <a:schemeClr val="bg1"/>
                    </a:solidFill>
                    <a:latin typeface="Darker Grotesque Extra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latin typeface="Darker Grotesque" pitchFamily="2" charset="0"/>
                  </a:rPr>
                  <a:t>APR</a:t>
                </a:r>
                <a:endParaRPr lang="en-LT" dirty="0">
                  <a:latin typeface="Darker Grotesque" pitchFamily="2" charset="0"/>
                </a:endParaRPr>
              </a:p>
            </p:txBody>
          </p:sp>
          <p:sp>
            <p:nvSpPr>
              <p:cNvPr id="202" name="Rounded Rectangle 26">
                <a:extLst>
                  <a:ext uri="{FF2B5EF4-FFF2-40B4-BE49-F238E27FC236}">
                    <a16:creationId xmlns:a16="http://schemas.microsoft.com/office/drawing/2014/main" id="{4E1DF83D-170C-47B5-BC81-06F3F75B753F}"/>
                  </a:ext>
                </a:extLst>
              </p:cNvPr>
              <p:cNvSpPr/>
              <p:nvPr/>
            </p:nvSpPr>
            <p:spPr>
              <a:xfrm>
                <a:off x="472602" y="4814557"/>
                <a:ext cx="2569500" cy="587606"/>
              </a:xfrm>
              <a:prstGeom prst="roundRect">
                <a:avLst>
                  <a:gd name="adj" fmla="val 19239"/>
                </a:avLst>
              </a:prstGeom>
              <a:solidFill>
                <a:schemeClr val="bg1"/>
              </a:solidFill>
              <a:ln w="6350">
                <a:noFill/>
              </a:ln>
              <a:effectLst>
                <a:outerShdw blurRad="1270000" algn="ctr" rotWithShape="0">
                  <a:schemeClr val="bg1"/>
                </a:outerShdw>
              </a:effectLst>
            </p:spPr>
            <p:txBody>
              <a:bodyPr vert="horz" wrap="none" lIns="91440" tIns="45720" rIns="91440" bIns="45720" rtlCol="0" anchor="ctr"/>
              <a:lstStyle/>
              <a:p>
                <a:pPr algn="ctr"/>
                <a:r>
                  <a:rPr lang="en-US" sz="2000" dirty="0">
                    <a:solidFill>
                      <a:srgbClr val="484525"/>
                    </a:solidFill>
                    <a:latin typeface="Darker Grotesque SemiBold" pitchFamily="2" charset="0"/>
                  </a:rPr>
                  <a:t>ANALYSIS</a:t>
                </a:r>
                <a:endParaRPr lang="en-GB" sz="2000" dirty="0">
                  <a:solidFill>
                    <a:srgbClr val="484525"/>
                  </a:solidFill>
                  <a:latin typeface="Darker Grotesque SemiBold" pitchFamily="2" charset="0"/>
                </a:endParaRPr>
              </a:p>
            </p:txBody>
          </p:sp>
          <p:sp>
            <p:nvSpPr>
              <p:cNvPr id="203" name="Rounded Rectangle 26">
                <a:extLst>
                  <a:ext uri="{FF2B5EF4-FFF2-40B4-BE49-F238E27FC236}">
                    <a16:creationId xmlns:a16="http://schemas.microsoft.com/office/drawing/2014/main" id="{007ED42B-E99B-B5D6-8DF9-08B95A93CFC4}"/>
                  </a:ext>
                </a:extLst>
              </p:cNvPr>
              <p:cNvSpPr/>
              <p:nvPr/>
            </p:nvSpPr>
            <p:spPr>
              <a:xfrm>
                <a:off x="2413704" y="4033266"/>
                <a:ext cx="2569500" cy="587606"/>
              </a:xfrm>
              <a:prstGeom prst="roundRect">
                <a:avLst>
                  <a:gd name="adj" fmla="val 19239"/>
                </a:avLst>
              </a:prstGeom>
              <a:solidFill>
                <a:schemeClr val="bg1">
                  <a:alpha val="20000"/>
                </a:schemeClr>
              </a:solidFill>
              <a:ln w="6350">
                <a:solidFill>
                  <a:schemeClr val="bg1">
                    <a:alpha val="25000"/>
                  </a:schemeClr>
                </a:solidFill>
              </a:ln>
            </p:spPr>
            <p:txBody>
              <a:bodyPr vert="horz" wrap="none" lIns="91440" tIns="45720" rIns="91440" bIns="45720" rtlCol="0" anchor="ctr"/>
              <a:lstStyle/>
              <a:p>
                <a:pPr algn="ctr"/>
                <a:r>
                  <a:rPr lang="en-US" sz="2000" dirty="0">
                    <a:solidFill>
                      <a:schemeClr val="bg1"/>
                    </a:solidFill>
                    <a:latin typeface="Darker Grotesque SemiBold" pitchFamily="2" charset="0"/>
                  </a:rPr>
                  <a:t>CONCEPT</a:t>
                </a:r>
                <a:endParaRPr lang="en-GB" sz="2000" dirty="0">
                  <a:solidFill>
                    <a:schemeClr val="bg1"/>
                  </a:solidFill>
                  <a:latin typeface="Darker Grotesque SemiBold" pitchFamily="2" charset="0"/>
                </a:endParaRPr>
              </a:p>
            </p:txBody>
          </p:sp>
          <p:sp>
            <p:nvSpPr>
              <p:cNvPr id="204" name="Rounded Rectangle 26">
                <a:extLst>
                  <a:ext uri="{FF2B5EF4-FFF2-40B4-BE49-F238E27FC236}">
                    <a16:creationId xmlns:a16="http://schemas.microsoft.com/office/drawing/2014/main" id="{95501D7E-9221-AA07-666A-A86FDCC2BF88}"/>
                  </a:ext>
                </a:extLst>
              </p:cNvPr>
              <p:cNvSpPr/>
              <p:nvPr/>
            </p:nvSpPr>
            <p:spPr>
              <a:xfrm>
                <a:off x="4358582" y="3279900"/>
                <a:ext cx="2569500" cy="587606"/>
              </a:xfrm>
              <a:prstGeom prst="roundRect">
                <a:avLst>
                  <a:gd name="adj" fmla="val 19239"/>
                </a:avLst>
              </a:prstGeom>
              <a:solidFill>
                <a:schemeClr val="bg1"/>
              </a:solidFill>
              <a:ln w="6350">
                <a:noFill/>
              </a:ln>
              <a:effectLst>
                <a:outerShdw blurRad="1270000" algn="ctr" rotWithShape="0">
                  <a:schemeClr val="bg1"/>
                </a:outerShdw>
              </a:effectLst>
            </p:spPr>
            <p:txBody>
              <a:bodyPr vert="horz" wrap="none" lIns="91440" tIns="45720" rIns="91440" bIns="45720" rtlCol="0" anchor="ctr"/>
              <a:lstStyle/>
              <a:p>
                <a:pPr algn="ctr"/>
                <a:r>
                  <a:rPr lang="en-US" sz="2000">
                    <a:solidFill>
                      <a:srgbClr val="484525"/>
                    </a:solidFill>
                    <a:latin typeface="Darker Grotesque SemiBold" pitchFamily="2" charset="0"/>
                  </a:rPr>
                  <a:t>DEVELOPMENT</a:t>
                </a:r>
                <a:endParaRPr lang="en-GB" sz="2000" dirty="0">
                  <a:solidFill>
                    <a:srgbClr val="484525"/>
                  </a:solidFill>
                  <a:latin typeface="Darker Grotesque SemiBold" pitchFamily="2" charset="0"/>
                </a:endParaRPr>
              </a:p>
            </p:txBody>
          </p:sp>
          <p:sp>
            <p:nvSpPr>
              <p:cNvPr id="205" name="Rounded Rectangle 26">
                <a:extLst>
                  <a:ext uri="{FF2B5EF4-FFF2-40B4-BE49-F238E27FC236}">
                    <a16:creationId xmlns:a16="http://schemas.microsoft.com/office/drawing/2014/main" id="{4637DA83-C166-3E2D-E08E-8FC993207140}"/>
                  </a:ext>
                </a:extLst>
              </p:cNvPr>
              <p:cNvSpPr/>
              <p:nvPr/>
            </p:nvSpPr>
            <p:spPr>
              <a:xfrm>
                <a:off x="6247811" y="2526534"/>
                <a:ext cx="2569500" cy="587606"/>
              </a:xfrm>
              <a:prstGeom prst="roundRect">
                <a:avLst>
                  <a:gd name="adj" fmla="val 19239"/>
                </a:avLst>
              </a:prstGeom>
              <a:solidFill>
                <a:schemeClr val="bg1">
                  <a:alpha val="20000"/>
                </a:schemeClr>
              </a:solidFill>
              <a:ln w="6350">
                <a:solidFill>
                  <a:schemeClr val="bg1">
                    <a:alpha val="25000"/>
                  </a:schemeClr>
                </a:solidFill>
              </a:ln>
            </p:spPr>
            <p:txBody>
              <a:bodyPr vert="horz" wrap="none" lIns="91440" tIns="45720" rIns="91440" bIns="45720" rtlCol="0" anchor="ctr"/>
              <a:lstStyle/>
              <a:p>
                <a:pPr algn="ctr"/>
                <a:r>
                  <a:rPr lang="en-US" sz="2000">
                    <a:solidFill>
                      <a:schemeClr val="bg1"/>
                    </a:solidFill>
                    <a:latin typeface="Darker Grotesque SemiBold" pitchFamily="2" charset="0"/>
                  </a:rPr>
                  <a:t>TESTING</a:t>
                </a:r>
                <a:endParaRPr lang="en-GB" sz="2000" dirty="0">
                  <a:solidFill>
                    <a:schemeClr val="bg1"/>
                  </a:solidFill>
                  <a:latin typeface="Darker Grotesque SemiBold" pitchFamily="2" charset="0"/>
                </a:endParaRPr>
              </a:p>
            </p:txBody>
          </p:sp>
          <p:sp>
            <p:nvSpPr>
              <p:cNvPr id="206" name="Rounded Rectangle 26">
                <a:extLst>
                  <a:ext uri="{FF2B5EF4-FFF2-40B4-BE49-F238E27FC236}">
                    <a16:creationId xmlns:a16="http://schemas.microsoft.com/office/drawing/2014/main" id="{C6301C98-D005-0F8F-8445-0CA19D29D401}"/>
                  </a:ext>
                </a:extLst>
              </p:cNvPr>
              <p:cNvSpPr/>
              <p:nvPr/>
            </p:nvSpPr>
            <p:spPr>
              <a:xfrm>
                <a:off x="8233238" y="1782729"/>
                <a:ext cx="3563005" cy="587606"/>
              </a:xfrm>
              <a:prstGeom prst="roundRect">
                <a:avLst>
                  <a:gd name="adj" fmla="val 19239"/>
                </a:avLst>
              </a:prstGeom>
              <a:solidFill>
                <a:schemeClr val="bg1"/>
              </a:solidFill>
              <a:ln w="6350">
                <a:noFill/>
              </a:ln>
              <a:effectLst>
                <a:outerShdw blurRad="1270000" algn="ctr" rotWithShape="0">
                  <a:schemeClr val="bg1"/>
                </a:outerShdw>
              </a:effectLst>
            </p:spPr>
            <p:txBody>
              <a:bodyPr vert="horz" wrap="none" lIns="91440" tIns="45720" rIns="91440" bIns="45720" rtlCol="0" anchor="ctr"/>
              <a:lstStyle/>
              <a:p>
                <a:pPr algn="ctr"/>
                <a:r>
                  <a:rPr lang="en-US" sz="2000">
                    <a:solidFill>
                      <a:srgbClr val="484525"/>
                    </a:solidFill>
                    <a:latin typeface="Darker Grotesque SemiBold" pitchFamily="2" charset="0"/>
                  </a:rPr>
                  <a:t>LAUNCH</a:t>
                </a:r>
                <a:endParaRPr lang="en-GB" sz="2000" dirty="0">
                  <a:solidFill>
                    <a:srgbClr val="484525"/>
                  </a:solidFill>
                  <a:latin typeface="Darker Grotesque SemiBold" pitchFamily="2" charset="0"/>
                </a:endParaRPr>
              </a:p>
            </p:txBody>
          </p:sp>
          <p:grpSp>
            <p:nvGrpSpPr>
              <p:cNvPr id="207" name="!!growth">
                <a:extLst>
                  <a:ext uri="{FF2B5EF4-FFF2-40B4-BE49-F238E27FC236}">
                    <a16:creationId xmlns:a16="http://schemas.microsoft.com/office/drawing/2014/main" id="{D68EC6FA-6136-AFED-2BA0-B8CB9F74168A}"/>
                  </a:ext>
                </a:extLst>
              </p:cNvPr>
              <p:cNvGrpSpPr/>
              <p:nvPr/>
            </p:nvGrpSpPr>
            <p:grpSpPr>
              <a:xfrm rot="21540000">
                <a:off x="5842207" y="369986"/>
                <a:ext cx="507586" cy="507586"/>
                <a:chOff x="6811776" y="4481585"/>
                <a:chExt cx="507586" cy="507586"/>
              </a:xfrm>
            </p:grpSpPr>
            <p:sp useBgFill="1">
              <p:nvSpPr>
                <p:cNvPr id="208" name="Oval 207">
                  <a:extLst>
                    <a:ext uri="{FF2B5EF4-FFF2-40B4-BE49-F238E27FC236}">
                      <a16:creationId xmlns:a16="http://schemas.microsoft.com/office/drawing/2014/main" id="{06B25288-042F-E567-AE40-B0DD1DBD90C3}"/>
                    </a:ext>
                  </a:extLst>
                </p:cNvPr>
                <p:cNvSpPr/>
                <p:nvPr/>
              </p:nvSpPr>
              <p:spPr>
                <a:xfrm>
                  <a:off x="6811776" y="4481585"/>
                  <a:ext cx="507586" cy="507586"/>
                </a:xfrm>
                <a:prstGeom prst="ellipse">
                  <a:avLst/>
                </a:prstGeom>
                <a:blipFill dpi="0" rotWithShape="0">
                  <a:blip r:embed="rId2">
                    <a:lum/>
                  </a:blip>
                  <a:srcRect/>
                  <a:stretch>
                    <a:fillRect l="-1343851" t="-882703" r="-958107" b="-368398"/>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209" name="Graphic 208">
                  <a:extLst>
                    <a:ext uri="{FF2B5EF4-FFF2-40B4-BE49-F238E27FC236}">
                      <a16:creationId xmlns:a16="http://schemas.microsoft.com/office/drawing/2014/main" id="{5D796946-D145-E632-4C79-231D5CE63C0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39569" y="4609378"/>
                  <a:ext cx="252000" cy="252000"/>
                </a:xfrm>
                <a:prstGeom prst="rect">
                  <a:avLst/>
                </a:prstGeom>
              </p:spPr>
            </p:pic>
          </p:grpSp>
        </p:grpSp>
        <p:sp>
          <p:nvSpPr>
            <p:cNvPr id="187" name="TextBox 186">
              <a:extLst>
                <a:ext uri="{FF2B5EF4-FFF2-40B4-BE49-F238E27FC236}">
                  <a16:creationId xmlns:a16="http://schemas.microsoft.com/office/drawing/2014/main" id="{F9A617BC-BB20-8A15-D833-C31AEC388816}"/>
                </a:ext>
              </a:extLst>
            </p:cNvPr>
            <p:cNvSpPr txBox="1"/>
            <p:nvPr/>
          </p:nvSpPr>
          <p:spPr>
            <a:xfrm>
              <a:off x="267734" y="872230"/>
              <a:ext cx="3337452" cy="493597"/>
            </a:xfrm>
            <a:prstGeom prst="rect">
              <a:avLst/>
            </a:prstGeom>
            <a:noFill/>
          </p:spPr>
          <p:txBody>
            <a:bodyPr wrap="none" lIns="0" tIns="0" rIns="0" bIns="0"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GB" sz="4800" dirty="0"/>
                <a:t>Key milestones</a:t>
              </a:r>
            </a:p>
          </p:txBody>
        </p:sp>
      </p:grpSp>
      <p:pic>
        <p:nvPicPr>
          <p:cNvPr id="3" name="Picture 2" descr="A close-up of a logo&#10;&#10;AI-generated content may be incorrect.">
            <a:extLst>
              <a:ext uri="{FF2B5EF4-FFF2-40B4-BE49-F238E27FC236}">
                <a16:creationId xmlns:a16="http://schemas.microsoft.com/office/drawing/2014/main" id="{45F89CB4-0FC9-08C6-BD89-5F0BAE3D54E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23782" y="5974268"/>
            <a:ext cx="505929" cy="632979"/>
          </a:xfrm>
          <a:prstGeom prst="rect">
            <a:avLst/>
          </a:prstGeom>
        </p:spPr>
      </p:pic>
    </p:spTree>
    <p:extLst>
      <p:ext uri="{BB962C8B-B14F-4D97-AF65-F5344CB8AC3E}">
        <p14:creationId xmlns:p14="http://schemas.microsoft.com/office/powerpoint/2010/main" val="2711027437"/>
      </p:ext>
    </p:extLst>
  </p:cSld>
  <p:clrMapOvr>
    <a:masterClrMapping/>
  </p:clrMapOvr>
  <mc:AlternateContent xmlns:mc="http://schemas.openxmlformats.org/markup-compatibility/2006" xmlns:p159="http://schemas.microsoft.com/office/powerpoint/2015/09/main">
    <mc:Choice Requires="p159">
      <p:transition spd="slow" advTm="0">
        <p159:morph option="byObjec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par>
                                <p:cTn id="9" presetID="9"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dissolve">
                                      <p:cBhvr>
                                        <p:cTn id="11" dur="500"/>
                                        <p:tgtEl>
                                          <p:spTgt spid="3"/>
                                        </p:tgtEl>
                                      </p:cBhvr>
                                    </p:animEffect>
                                  </p:childTnLst>
                                </p:cTn>
                              </p:par>
                              <p:par>
                                <p:cTn id="12" presetID="2" presetClass="entr" presetSubtype="4" fill="hold" nodeType="with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ppt_x"/>
                                          </p:val>
                                        </p:tav>
                                        <p:tav tm="100000">
                                          <p:val>
                                            <p:strVal val="#ppt_x"/>
                                          </p:val>
                                        </p:tav>
                                      </p:tavLst>
                                    </p:anim>
                                    <p:anim calcmode="lin" valueType="num">
                                      <p:cBhvr additive="base">
                                        <p:cTn id="1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7B35A-9F99-24D0-7BE9-0CA2E0D59A6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A372DCC-3CE0-14ED-BB96-5298342C3EC3}"/>
              </a:ext>
            </a:extLst>
          </p:cNvPr>
          <p:cNvSpPr txBox="1"/>
          <p:nvPr/>
        </p:nvSpPr>
        <p:spPr>
          <a:xfrm>
            <a:off x="299484" y="407551"/>
            <a:ext cx="735779" cy="185115"/>
          </a:xfrm>
          <a:prstGeom prst="rect">
            <a:avLst/>
          </a:prstGeom>
          <a:noFill/>
        </p:spPr>
        <p:txBody>
          <a:bodyPr wrap="none" lIns="0" tIns="0" rIns="0" bIns="0" rtlCol="0">
            <a:spAutoFit/>
          </a:bodyPr>
          <a:lstStyle/>
          <a:p>
            <a:pPr marL="0" marR="0" lvl="0" indent="0" defTabSz="914400" rtl="0" eaLnBrk="1" fontAlgn="auto" latinLnBrk="0" hangingPunct="1">
              <a:lnSpc>
                <a:spcPct val="6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Darker Grotesque" pitchFamily="2" charset="0"/>
              </a:rPr>
              <a:t>Business</a:t>
            </a:r>
          </a:p>
        </p:txBody>
      </p:sp>
      <p:sp>
        <p:nvSpPr>
          <p:cNvPr id="4" name="TextBox 3">
            <a:extLst>
              <a:ext uri="{FF2B5EF4-FFF2-40B4-BE49-F238E27FC236}">
                <a16:creationId xmlns:a16="http://schemas.microsoft.com/office/drawing/2014/main" id="{5414F2AD-A302-E37C-B2D8-58E354B0BDD4}"/>
              </a:ext>
            </a:extLst>
          </p:cNvPr>
          <p:cNvSpPr txBox="1"/>
          <p:nvPr/>
        </p:nvSpPr>
        <p:spPr>
          <a:xfrm>
            <a:off x="1163056" y="407551"/>
            <a:ext cx="511358" cy="185115"/>
          </a:xfrm>
          <a:prstGeom prst="rect">
            <a:avLst/>
          </a:prstGeom>
          <a:noFill/>
        </p:spPr>
        <p:txBody>
          <a:bodyPr wrap="none" lIns="0" tIns="0" rIns="0" bIns="0" rtlCol="0">
            <a:spAutoFit/>
          </a:bodyPr>
          <a:lstStyle/>
          <a:p>
            <a:pPr marL="0" marR="0" lvl="0" indent="0" defTabSz="914400" rtl="0" eaLnBrk="1" fontAlgn="auto" latinLnBrk="0" hangingPunct="1">
              <a:lnSpc>
                <a:spcPct val="60000"/>
              </a:lnSpc>
              <a:spcBef>
                <a:spcPts val="0"/>
              </a:spcBef>
              <a:spcAft>
                <a:spcPts val="0"/>
              </a:spcAft>
              <a:buClrTx/>
              <a:buSzTx/>
              <a:buFontTx/>
              <a:buNone/>
              <a:tabLst/>
              <a:defRPr/>
            </a:pPr>
            <a:r>
              <a:rPr lang="en-US" kern="0" dirty="0">
                <a:solidFill>
                  <a:prstClr val="white"/>
                </a:solidFill>
                <a:latin typeface="Darker Grotesque" pitchFamily="2" charset="0"/>
              </a:rPr>
              <a:t>Model</a:t>
            </a:r>
            <a:endParaRPr kumimoji="0" lang="en-US" b="0" i="0" u="none" strike="noStrike" kern="0" cap="none" spc="0" normalizeH="0" baseline="0" noProof="0" dirty="0">
              <a:ln>
                <a:noFill/>
              </a:ln>
              <a:solidFill>
                <a:prstClr val="white"/>
              </a:solidFill>
              <a:effectLst/>
              <a:uLnTx/>
              <a:uFillTx/>
              <a:latin typeface="Darker Grotesque" pitchFamily="2" charset="0"/>
            </a:endParaRPr>
          </a:p>
        </p:txBody>
      </p:sp>
      <p:grpSp>
        <p:nvGrpSpPr>
          <p:cNvPr id="45" name="Group 44">
            <a:extLst>
              <a:ext uri="{FF2B5EF4-FFF2-40B4-BE49-F238E27FC236}">
                <a16:creationId xmlns:a16="http://schemas.microsoft.com/office/drawing/2014/main" id="{2F4A0B11-E04E-D11A-4F7C-8FE5F69CDB45}"/>
              </a:ext>
            </a:extLst>
          </p:cNvPr>
          <p:cNvGrpSpPr/>
          <p:nvPr/>
        </p:nvGrpSpPr>
        <p:grpSpPr>
          <a:xfrm>
            <a:off x="234547" y="369986"/>
            <a:ext cx="11709360" cy="5400659"/>
            <a:chOff x="234547" y="369986"/>
            <a:chExt cx="11709360" cy="5400659"/>
          </a:xfrm>
        </p:grpSpPr>
        <p:cxnSp>
          <p:nvCxnSpPr>
            <p:cNvPr id="10" name="Straight Connector 9">
              <a:extLst>
                <a:ext uri="{FF2B5EF4-FFF2-40B4-BE49-F238E27FC236}">
                  <a16:creationId xmlns:a16="http://schemas.microsoft.com/office/drawing/2014/main" id="{423D47AD-3D01-6D67-72C7-BEE64EFB8C84}"/>
                </a:ext>
              </a:extLst>
            </p:cNvPr>
            <p:cNvCxnSpPr/>
            <p:nvPr/>
          </p:nvCxnSpPr>
          <p:spPr>
            <a:xfrm>
              <a:off x="299484" y="62377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nvGrpSpPr>
            <p:cNvPr id="25" name="!!model">
              <a:extLst>
                <a:ext uri="{FF2B5EF4-FFF2-40B4-BE49-F238E27FC236}">
                  <a16:creationId xmlns:a16="http://schemas.microsoft.com/office/drawing/2014/main" id="{2B14EA72-B3B0-BD7E-03DA-68020960FF17}"/>
                </a:ext>
              </a:extLst>
            </p:cNvPr>
            <p:cNvGrpSpPr/>
            <p:nvPr/>
          </p:nvGrpSpPr>
          <p:grpSpPr>
            <a:xfrm>
              <a:off x="5842207" y="369986"/>
              <a:ext cx="507586" cy="507586"/>
              <a:chOff x="5832785" y="1868829"/>
              <a:chExt cx="507586" cy="507586"/>
            </a:xfrm>
          </p:grpSpPr>
          <p:sp useBgFill="1">
            <p:nvSpPr>
              <p:cNvPr id="26" name="Oval 25">
                <a:extLst>
                  <a:ext uri="{FF2B5EF4-FFF2-40B4-BE49-F238E27FC236}">
                    <a16:creationId xmlns:a16="http://schemas.microsoft.com/office/drawing/2014/main" id="{79CC3D3E-F920-FFB0-14CF-9E1B88910ADC}"/>
                  </a:ext>
                </a:extLst>
              </p:cNvPr>
              <p:cNvSpPr/>
              <p:nvPr/>
            </p:nvSpPr>
            <p:spPr>
              <a:xfrm>
                <a:off x="5832785" y="1868829"/>
                <a:ext cx="507586" cy="507586"/>
              </a:xfrm>
              <a:prstGeom prst="ellipse">
                <a:avLst/>
              </a:prstGeom>
              <a:blipFill dpi="0" rotWithShape="0">
                <a:blip r:embed="rId2">
                  <a:lum/>
                </a:blip>
                <a:srcRect/>
                <a:stretch>
                  <a:fillRect l="-1150979" t="-367961" r="-1150979" b="-883140"/>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27" name="Graphic 26">
                <a:extLst>
                  <a:ext uri="{FF2B5EF4-FFF2-40B4-BE49-F238E27FC236}">
                    <a16:creationId xmlns:a16="http://schemas.microsoft.com/office/drawing/2014/main" id="{9BE744DD-1D3D-49BB-BE2D-ECC5509E950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60578" y="1996622"/>
                <a:ext cx="252000" cy="252000"/>
              </a:xfrm>
              <a:prstGeom prst="rect">
                <a:avLst/>
              </a:prstGeom>
            </p:spPr>
          </p:pic>
        </p:grpSp>
        <p:grpSp>
          <p:nvGrpSpPr>
            <p:cNvPr id="20" name="Group 19">
              <a:extLst>
                <a:ext uri="{FF2B5EF4-FFF2-40B4-BE49-F238E27FC236}">
                  <a16:creationId xmlns:a16="http://schemas.microsoft.com/office/drawing/2014/main" id="{CA67F1B7-7CCC-DE97-F9E0-7B02A0FC8663}"/>
                </a:ext>
              </a:extLst>
            </p:cNvPr>
            <p:cNvGrpSpPr/>
            <p:nvPr/>
          </p:nvGrpSpPr>
          <p:grpSpPr>
            <a:xfrm>
              <a:off x="1244818" y="2519320"/>
              <a:ext cx="9702364" cy="1969226"/>
              <a:chOff x="2275463" y="3116962"/>
              <a:chExt cx="7628344" cy="1548276"/>
            </a:xfrm>
          </p:grpSpPr>
          <p:sp>
            <p:nvSpPr>
              <p:cNvPr id="3" name="Oval 2">
                <a:extLst>
                  <a:ext uri="{FF2B5EF4-FFF2-40B4-BE49-F238E27FC236}">
                    <a16:creationId xmlns:a16="http://schemas.microsoft.com/office/drawing/2014/main" id="{3EC86164-2EFD-51BD-F38E-02BC6C725827}"/>
                  </a:ext>
                </a:extLst>
              </p:cNvPr>
              <p:cNvSpPr/>
              <p:nvPr/>
            </p:nvSpPr>
            <p:spPr>
              <a:xfrm>
                <a:off x="3788520" y="3138838"/>
                <a:ext cx="1524820" cy="1524818"/>
              </a:xfrm>
              <a:prstGeom prst="ellipse">
                <a:avLst/>
              </a:prstGeom>
              <a:noFill/>
              <a:ln w="12700" cap="rnd">
                <a:solidFill>
                  <a:schemeClr val="bg1"/>
                </a:solidFill>
                <a:prstDash val="dash"/>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a:extLst>
                  <a:ext uri="{FF2B5EF4-FFF2-40B4-BE49-F238E27FC236}">
                    <a16:creationId xmlns:a16="http://schemas.microsoft.com/office/drawing/2014/main" id="{EF8093E5-EF1D-2958-F009-A8D3990E8545}"/>
                  </a:ext>
                </a:extLst>
              </p:cNvPr>
              <p:cNvSpPr/>
              <p:nvPr/>
            </p:nvSpPr>
            <p:spPr>
              <a:xfrm>
                <a:off x="5331213" y="3138838"/>
                <a:ext cx="1524820" cy="1524818"/>
              </a:xfrm>
              <a:prstGeom prst="ellipse">
                <a:avLst/>
              </a:prstGeom>
              <a:noFill/>
              <a:ln w="12700" cap="rnd">
                <a:solidFill>
                  <a:schemeClr val="bg1"/>
                </a:solidFill>
                <a:prstDash val="dash"/>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57EB1D52-466B-5B27-C00A-219A48E2E536}"/>
                  </a:ext>
                </a:extLst>
              </p:cNvPr>
              <p:cNvSpPr/>
              <p:nvPr/>
            </p:nvSpPr>
            <p:spPr>
              <a:xfrm>
                <a:off x="6854167" y="3138838"/>
                <a:ext cx="1524820" cy="1524818"/>
              </a:xfrm>
              <a:prstGeom prst="ellipse">
                <a:avLst/>
              </a:prstGeom>
              <a:noFill/>
              <a:ln w="12700" cap="rnd">
                <a:solidFill>
                  <a:schemeClr val="bg1"/>
                </a:solidFill>
                <a:prstDash val="dash"/>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96AFB050-B581-7D50-8A91-013A69B979CE}"/>
                  </a:ext>
                </a:extLst>
              </p:cNvPr>
              <p:cNvSpPr/>
              <p:nvPr/>
            </p:nvSpPr>
            <p:spPr>
              <a:xfrm>
                <a:off x="8378987" y="3138838"/>
                <a:ext cx="1524820" cy="1524818"/>
              </a:xfrm>
              <a:prstGeom prst="ellipse">
                <a:avLst/>
              </a:prstGeom>
              <a:noFill/>
              <a:ln w="12700" cap="rnd">
                <a:solidFill>
                  <a:schemeClr val="bg1"/>
                </a:solidFill>
                <a:prstDash val="dash"/>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4144629D-744E-E365-F4AA-6105A899238F}"/>
                  </a:ext>
                </a:extLst>
              </p:cNvPr>
              <p:cNvSpPr/>
              <p:nvPr/>
            </p:nvSpPr>
            <p:spPr>
              <a:xfrm>
                <a:off x="5613749" y="3418995"/>
                <a:ext cx="964504" cy="964504"/>
              </a:xfrm>
              <a:prstGeom prst="ellipse">
                <a:avLst/>
              </a:prstGeom>
              <a:solidFill>
                <a:schemeClr val="bg1">
                  <a:alpha val="70000"/>
                </a:schemeClr>
              </a:solidFill>
              <a:ln w="38100">
                <a:solidFill>
                  <a:schemeClr val="bg1"/>
                </a:solidFill>
              </a:ln>
              <a:effectLst>
                <a:innerShdw blurRad="381000">
                  <a:schemeClr val="bg1"/>
                </a:innerShdw>
              </a:effectLst>
            </p:spPr>
            <p:txBody>
              <a:bodyPr vert="horz" wrap="none" lIns="0" tIns="0" rIns="0" bIns="288000" rtlCol="0" anchor="ctr"/>
              <a:lstStyle/>
              <a:p>
                <a:pPr algn="ctr"/>
                <a:r>
                  <a:rPr lang="en-US" sz="6000" i="1" dirty="0">
                    <a:solidFill>
                      <a:srgbClr val="484525">
                        <a:alpha val="60000"/>
                      </a:srgbClr>
                    </a:solidFill>
                    <a:latin typeface="Playfair Display" pitchFamily="2" charset="0"/>
                  </a:rPr>
                  <a:t>3</a:t>
                </a:r>
                <a:endParaRPr lang="en-GB" sz="6000" i="1" dirty="0">
                  <a:solidFill>
                    <a:srgbClr val="484525">
                      <a:alpha val="60000"/>
                    </a:srgbClr>
                  </a:solidFill>
                  <a:latin typeface="Playfair Display" pitchFamily="2" charset="0"/>
                </a:endParaRPr>
              </a:p>
            </p:txBody>
          </p:sp>
          <p:sp>
            <p:nvSpPr>
              <p:cNvPr id="9" name="Oval 8">
                <a:extLst>
                  <a:ext uri="{FF2B5EF4-FFF2-40B4-BE49-F238E27FC236}">
                    <a16:creationId xmlns:a16="http://schemas.microsoft.com/office/drawing/2014/main" id="{2895B72C-63AA-40CD-96FF-32B0B39F7C95}"/>
                  </a:ext>
                </a:extLst>
              </p:cNvPr>
              <p:cNvSpPr/>
              <p:nvPr/>
            </p:nvSpPr>
            <p:spPr>
              <a:xfrm>
                <a:off x="7142813" y="3418995"/>
                <a:ext cx="964504" cy="964504"/>
              </a:xfrm>
              <a:prstGeom prst="ellipse">
                <a:avLst/>
              </a:prstGeom>
              <a:solidFill>
                <a:schemeClr val="bg1">
                  <a:alpha val="70000"/>
                </a:schemeClr>
              </a:solidFill>
              <a:ln w="38100">
                <a:solidFill>
                  <a:schemeClr val="bg1"/>
                </a:solidFill>
              </a:ln>
              <a:effectLst>
                <a:innerShdw blurRad="381000">
                  <a:schemeClr val="bg1"/>
                </a:innerShdw>
              </a:effectLst>
            </p:spPr>
            <p:txBody>
              <a:bodyPr vert="horz" wrap="none" lIns="0" tIns="0" rIns="0" bIns="288000" rtlCol="0" anchor="ctr"/>
              <a:lstStyle/>
              <a:p>
                <a:pPr algn="ctr"/>
                <a:r>
                  <a:rPr lang="en-US" sz="6000" i="1">
                    <a:solidFill>
                      <a:srgbClr val="484525">
                        <a:alpha val="60000"/>
                      </a:srgbClr>
                    </a:solidFill>
                    <a:latin typeface="Playfair Display" pitchFamily="2" charset="0"/>
                  </a:rPr>
                  <a:t>4</a:t>
                </a:r>
                <a:endParaRPr lang="en-GB" sz="6000" i="1" dirty="0">
                  <a:solidFill>
                    <a:srgbClr val="484525">
                      <a:alpha val="60000"/>
                    </a:srgbClr>
                  </a:solidFill>
                  <a:latin typeface="Playfair Display" pitchFamily="2" charset="0"/>
                </a:endParaRPr>
              </a:p>
            </p:txBody>
          </p:sp>
          <p:sp>
            <p:nvSpPr>
              <p:cNvPr id="11" name="Oval 10">
                <a:extLst>
                  <a:ext uri="{FF2B5EF4-FFF2-40B4-BE49-F238E27FC236}">
                    <a16:creationId xmlns:a16="http://schemas.microsoft.com/office/drawing/2014/main" id="{AABB7970-704F-DC2A-975E-5A8E0FC23909}"/>
                  </a:ext>
                </a:extLst>
              </p:cNvPr>
              <p:cNvSpPr/>
              <p:nvPr/>
            </p:nvSpPr>
            <p:spPr>
              <a:xfrm>
                <a:off x="8671876" y="3418995"/>
                <a:ext cx="964504" cy="964504"/>
              </a:xfrm>
              <a:prstGeom prst="ellipse">
                <a:avLst/>
              </a:prstGeom>
              <a:solidFill>
                <a:schemeClr val="bg1">
                  <a:alpha val="70000"/>
                </a:schemeClr>
              </a:solidFill>
              <a:ln w="38100">
                <a:solidFill>
                  <a:schemeClr val="bg1"/>
                </a:solidFill>
              </a:ln>
              <a:effectLst>
                <a:innerShdw blurRad="381000">
                  <a:schemeClr val="bg1"/>
                </a:innerShdw>
              </a:effectLst>
            </p:spPr>
            <p:txBody>
              <a:bodyPr vert="horz" wrap="none" lIns="0" tIns="0" rIns="0" bIns="288000" rtlCol="0" anchor="ctr"/>
              <a:lstStyle/>
              <a:p>
                <a:pPr algn="ctr"/>
                <a:r>
                  <a:rPr lang="en-US" sz="6000" i="1">
                    <a:solidFill>
                      <a:srgbClr val="484525">
                        <a:alpha val="60000"/>
                      </a:srgbClr>
                    </a:solidFill>
                    <a:latin typeface="Playfair Display" pitchFamily="2" charset="0"/>
                  </a:rPr>
                  <a:t>5</a:t>
                </a:r>
                <a:endParaRPr lang="en-GB" sz="6000" i="1" dirty="0">
                  <a:solidFill>
                    <a:srgbClr val="484525">
                      <a:alpha val="60000"/>
                    </a:srgbClr>
                  </a:solidFill>
                  <a:latin typeface="Playfair Display" pitchFamily="2" charset="0"/>
                </a:endParaRPr>
              </a:p>
            </p:txBody>
          </p:sp>
          <p:sp>
            <p:nvSpPr>
              <p:cNvPr id="12" name="Oval 11">
                <a:extLst>
                  <a:ext uri="{FF2B5EF4-FFF2-40B4-BE49-F238E27FC236}">
                    <a16:creationId xmlns:a16="http://schemas.microsoft.com/office/drawing/2014/main" id="{84227C22-B481-0C70-7CE3-6F6F75A76BEB}"/>
                  </a:ext>
                </a:extLst>
              </p:cNvPr>
              <p:cNvSpPr/>
              <p:nvPr/>
            </p:nvSpPr>
            <p:spPr>
              <a:xfrm>
                <a:off x="2275463" y="3138838"/>
                <a:ext cx="1524820" cy="1524818"/>
              </a:xfrm>
              <a:prstGeom prst="ellipse">
                <a:avLst/>
              </a:prstGeom>
              <a:noFill/>
              <a:ln w="12700" cap="rnd">
                <a:solidFill>
                  <a:schemeClr val="bg1"/>
                </a:solidFill>
                <a:prstDash val="dash"/>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35AF1273-4352-EADA-0AF5-9D180135DC46}"/>
                  </a:ext>
                </a:extLst>
              </p:cNvPr>
              <p:cNvSpPr/>
              <p:nvPr/>
            </p:nvSpPr>
            <p:spPr>
              <a:xfrm>
                <a:off x="4084685" y="3418995"/>
                <a:ext cx="964504" cy="964504"/>
              </a:xfrm>
              <a:prstGeom prst="ellipse">
                <a:avLst/>
              </a:prstGeom>
              <a:solidFill>
                <a:schemeClr val="bg1">
                  <a:alpha val="70000"/>
                </a:schemeClr>
              </a:solidFill>
              <a:ln w="38100">
                <a:solidFill>
                  <a:schemeClr val="bg1"/>
                </a:solidFill>
              </a:ln>
              <a:effectLst>
                <a:innerShdw blurRad="381000">
                  <a:schemeClr val="bg1"/>
                </a:innerShdw>
              </a:effectLst>
            </p:spPr>
            <p:txBody>
              <a:bodyPr vert="horz" wrap="none" lIns="0" tIns="0" rIns="0" bIns="288000" rtlCol="0" anchor="ctr"/>
              <a:lstStyle/>
              <a:p>
                <a:pPr algn="ctr"/>
                <a:r>
                  <a:rPr lang="en-US" sz="6000" i="1" dirty="0">
                    <a:solidFill>
                      <a:srgbClr val="484525">
                        <a:alpha val="60000"/>
                      </a:srgbClr>
                    </a:solidFill>
                    <a:latin typeface="Playfair Display" pitchFamily="2" charset="0"/>
                  </a:rPr>
                  <a:t>2</a:t>
                </a:r>
                <a:endParaRPr lang="en-GB" sz="6000" i="1" dirty="0">
                  <a:solidFill>
                    <a:srgbClr val="484525">
                      <a:alpha val="60000"/>
                    </a:srgbClr>
                  </a:solidFill>
                  <a:latin typeface="Playfair Display" pitchFamily="2" charset="0"/>
                </a:endParaRPr>
              </a:p>
            </p:txBody>
          </p:sp>
          <p:sp>
            <p:nvSpPr>
              <p:cNvPr id="14" name="Oval 13">
                <a:extLst>
                  <a:ext uri="{FF2B5EF4-FFF2-40B4-BE49-F238E27FC236}">
                    <a16:creationId xmlns:a16="http://schemas.microsoft.com/office/drawing/2014/main" id="{F27B9244-6DD4-C291-FAD6-6281D127D78C}"/>
                  </a:ext>
                </a:extLst>
              </p:cNvPr>
              <p:cNvSpPr/>
              <p:nvPr/>
            </p:nvSpPr>
            <p:spPr>
              <a:xfrm>
                <a:off x="2555621" y="3418995"/>
                <a:ext cx="964504" cy="964504"/>
              </a:xfrm>
              <a:prstGeom prst="ellipse">
                <a:avLst/>
              </a:prstGeom>
              <a:solidFill>
                <a:schemeClr val="bg1">
                  <a:alpha val="70000"/>
                </a:schemeClr>
              </a:solidFill>
              <a:ln w="38100">
                <a:solidFill>
                  <a:schemeClr val="bg1"/>
                </a:solidFill>
              </a:ln>
              <a:effectLst>
                <a:innerShdw blurRad="381000">
                  <a:schemeClr val="bg1"/>
                </a:innerShdw>
              </a:effectLst>
            </p:spPr>
            <p:txBody>
              <a:bodyPr vert="horz" wrap="none" lIns="0" tIns="0" rIns="0" bIns="216000" rtlCol="0" anchor="ctr"/>
              <a:lstStyle/>
              <a:p>
                <a:pPr algn="ctr"/>
                <a:r>
                  <a:rPr lang="en-US" sz="6000" i="1" dirty="0">
                    <a:solidFill>
                      <a:srgbClr val="484525">
                        <a:alpha val="60000"/>
                      </a:srgbClr>
                    </a:solidFill>
                    <a:latin typeface="Playfair Display" pitchFamily="2" charset="0"/>
                  </a:rPr>
                  <a:t>1</a:t>
                </a:r>
                <a:endParaRPr lang="en-GB" sz="6000" i="1" dirty="0">
                  <a:solidFill>
                    <a:srgbClr val="484525">
                      <a:alpha val="60000"/>
                    </a:srgbClr>
                  </a:solidFill>
                  <a:latin typeface="Playfair Display" pitchFamily="2" charset="0"/>
                </a:endParaRPr>
              </a:p>
            </p:txBody>
          </p:sp>
          <p:sp>
            <p:nvSpPr>
              <p:cNvPr id="15" name="Arc 14">
                <a:extLst>
                  <a:ext uri="{FF2B5EF4-FFF2-40B4-BE49-F238E27FC236}">
                    <a16:creationId xmlns:a16="http://schemas.microsoft.com/office/drawing/2014/main" id="{7148D22C-1CD0-8931-DD65-740E8CD47228}"/>
                  </a:ext>
                </a:extLst>
              </p:cNvPr>
              <p:cNvSpPr>
                <a:spLocks noChangeAspect="1"/>
              </p:cNvSpPr>
              <p:nvPr/>
            </p:nvSpPr>
            <p:spPr>
              <a:xfrm>
                <a:off x="2275463" y="3138838"/>
                <a:ext cx="1526400" cy="1526400"/>
              </a:xfrm>
              <a:prstGeom prst="arc">
                <a:avLst/>
              </a:prstGeom>
              <a:noFill/>
              <a:ln w="38100" cap="rnd">
                <a:solidFill>
                  <a:schemeClr val="bg1"/>
                </a:solidFill>
                <a:round/>
              </a:ln>
              <a:effectLst>
                <a:outerShdw blurRad="127000" sx="102000" sy="102000" algn="ctr" rotWithShape="0">
                  <a:schemeClr val="bg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Arc 15">
                <a:extLst>
                  <a:ext uri="{FF2B5EF4-FFF2-40B4-BE49-F238E27FC236}">
                    <a16:creationId xmlns:a16="http://schemas.microsoft.com/office/drawing/2014/main" id="{5E043B08-F57C-4913-FCAA-0E17C4E7B6D1}"/>
                  </a:ext>
                </a:extLst>
              </p:cNvPr>
              <p:cNvSpPr>
                <a:spLocks noChangeAspect="1"/>
              </p:cNvSpPr>
              <p:nvPr/>
            </p:nvSpPr>
            <p:spPr>
              <a:xfrm rot="10800000">
                <a:off x="3801347" y="3116962"/>
                <a:ext cx="1526400" cy="1526400"/>
              </a:xfrm>
              <a:prstGeom prst="arc">
                <a:avLst>
                  <a:gd name="adj1" fmla="val 10863752"/>
                  <a:gd name="adj2" fmla="val 0"/>
                </a:avLst>
              </a:prstGeom>
              <a:noFill/>
              <a:ln w="38100" cap="rnd">
                <a:solidFill>
                  <a:schemeClr val="bg1"/>
                </a:solidFill>
                <a:round/>
              </a:ln>
              <a:effectLst>
                <a:outerShdw blurRad="127000" sx="102000" sy="102000" algn="ctr" rotWithShape="0">
                  <a:schemeClr val="bg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16180A"/>
                  </a:solidFill>
                  <a:latin typeface="+mj-lt"/>
                </a:endParaRPr>
              </a:p>
            </p:txBody>
          </p:sp>
          <p:sp>
            <p:nvSpPr>
              <p:cNvPr id="17" name="Arc 16">
                <a:extLst>
                  <a:ext uri="{FF2B5EF4-FFF2-40B4-BE49-F238E27FC236}">
                    <a16:creationId xmlns:a16="http://schemas.microsoft.com/office/drawing/2014/main" id="{6351467E-8E7F-3844-B51C-C565565C2BAC}"/>
                  </a:ext>
                </a:extLst>
              </p:cNvPr>
              <p:cNvSpPr>
                <a:spLocks noChangeAspect="1"/>
              </p:cNvSpPr>
              <p:nvPr/>
            </p:nvSpPr>
            <p:spPr>
              <a:xfrm flipH="1">
                <a:off x="5325112" y="3138838"/>
                <a:ext cx="1526400" cy="1526400"/>
              </a:xfrm>
              <a:prstGeom prst="arc">
                <a:avLst>
                  <a:gd name="adj1" fmla="val 10772675"/>
                  <a:gd name="adj2" fmla="val 0"/>
                </a:avLst>
              </a:prstGeom>
              <a:noFill/>
              <a:ln w="38100" cap="rnd">
                <a:solidFill>
                  <a:schemeClr val="bg1"/>
                </a:solidFill>
                <a:round/>
              </a:ln>
              <a:effectLst>
                <a:outerShdw blurRad="127000" sx="102000" sy="102000" algn="ctr" rotWithShape="0">
                  <a:schemeClr val="bg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Arc 17">
                <a:extLst>
                  <a:ext uri="{FF2B5EF4-FFF2-40B4-BE49-F238E27FC236}">
                    <a16:creationId xmlns:a16="http://schemas.microsoft.com/office/drawing/2014/main" id="{74E69486-1A68-D81B-95D9-1092D9E67268}"/>
                  </a:ext>
                </a:extLst>
              </p:cNvPr>
              <p:cNvSpPr>
                <a:spLocks noChangeAspect="1"/>
              </p:cNvSpPr>
              <p:nvPr/>
            </p:nvSpPr>
            <p:spPr>
              <a:xfrm rot="10800000">
                <a:off x="6849707" y="3137256"/>
                <a:ext cx="1526400" cy="1526400"/>
              </a:xfrm>
              <a:prstGeom prst="arc">
                <a:avLst>
                  <a:gd name="adj1" fmla="val 10773181"/>
                  <a:gd name="adj2" fmla="val 0"/>
                </a:avLst>
              </a:prstGeom>
              <a:noFill/>
              <a:ln w="38100" cap="rnd">
                <a:solidFill>
                  <a:schemeClr val="bg1"/>
                </a:solidFill>
                <a:round/>
              </a:ln>
              <a:effectLst>
                <a:outerShdw blurRad="127000" sx="102000" sy="102000" algn="ctr" rotWithShape="0">
                  <a:schemeClr val="bg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Arc 18">
                <a:extLst>
                  <a:ext uri="{FF2B5EF4-FFF2-40B4-BE49-F238E27FC236}">
                    <a16:creationId xmlns:a16="http://schemas.microsoft.com/office/drawing/2014/main" id="{35104D78-AC6D-CF48-6065-5322D4C8B59C}"/>
                  </a:ext>
                </a:extLst>
              </p:cNvPr>
              <p:cNvSpPr>
                <a:spLocks noChangeAspect="1"/>
              </p:cNvSpPr>
              <p:nvPr/>
            </p:nvSpPr>
            <p:spPr>
              <a:xfrm flipH="1">
                <a:off x="8375712" y="3138838"/>
                <a:ext cx="1526400" cy="1526400"/>
              </a:xfrm>
              <a:prstGeom prst="arc">
                <a:avLst>
                  <a:gd name="adj1" fmla="val 16160514"/>
                  <a:gd name="adj2" fmla="val 0"/>
                </a:avLst>
              </a:prstGeom>
              <a:noFill/>
              <a:ln w="38100" cap="rnd">
                <a:solidFill>
                  <a:schemeClr val="bg1"/>
                </a:solidFill>
                <a:round/>
              </a:ln>
              <a:effectLst>
                <a:outerShdw blurRad="127000" sx="102000" sy="102000" algn="ctr" rotWithShape="0">
                  <a:schemeClr val="bg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1" name="TextBox 20">
              <a:extLst>
                <a:ext uri="{FF2B5EF4-FFF2-40B4-BE49-F238E27FC236}">
                  <a16:creationId xmlns:a16="http://schemas.microsoft.com/office/drawing/2014/main" id="{3559CA5D-E0C8-5563-1E16-34DE5C26B53D}"/>
                </a:ext>
              </a:extLst>
            </p:cNvPr>
            <p:cNvSpPr txBox="1"/>
            <p:nvPr/>
          </p:nvSpPr>
          <p:spPr>
            <a:xfrm>
              <a:off x="234547" y="1056986"/>
              <a:ext cx="4757048" cy="1029128"/>
            </a:xfrm>
            <a:prstGeom prst="rect">
              <a:avLst/>
            </a:prstGeom>
            <a:noFill/>
          </p:spPr>
          <p:txBody>
            <a:bodyPr wrap="square"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GB" sz="4800" dirty="0"/>
                <a:t>Overview of our</a:t>
              </a:r>
            </a:p>
            <a:p>
              <a:r>
                <a:rPr lang="en-GB" sz="4800" dirty="0"/>
                <a:t>business model</a:t>
              </a:r>
            </a:p>
          </p:txBody>
        </p:sp>
        <p:sp>
          <p:nvSpPr>
            <p:cNvPr id="22" name="TextBox 21">
              <a:extLst>
                <a:ext uri="{FF2B5EF4-FFF2-40B4-BE49-F238E27FC236}">
                  <a16:creationId xmlns:a16="http://schemas.microsoft.com/office/drawing/2014/main" id="{782EAF53-72A8-1B47-5927-7BA419C3AC3E}"/>
                </a:ext>
              </a:extLst>
            </p:cNvPr>
            <p:cNvSpPr txBox="1"/>
            <p:nvPr/>
          </p:nvSpPr>
          <p:spPr>
            <a:xfrm>
              <a:off x="1422316" y="4785760"/>
              <a:ext cx="1670659" cy="984885"/>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pPr algn="ctr"/>
              <a:r>
                <a:rPr lang="en-GB" dirty="0">
                  <a:solidFill>
                    <a:prstClr val="white">
                      <a:alpha val="50000"/>
                    </a:prstClr>
                  </a:solidFill>
                </a:rPr>
                <a:t>Value Creation: Turning Unemployment into Opportunity</a:t>
              </a:r>
              <a:endParaRPr lang="en-US" dirty="0">
                <a:solidFill>
                  <a:prstClr val="white">
                    <a:alpha val="50000"/>
                  </a:prstClr>
                </a:solidFill>
              </a:endParaRPr>
            </a:p>
          </p:txBody>
        </p:sp>
        <p:sp>
          <p:nvSpPr>
            <p:cNvPr id="23" name="TextBox 22">
              <a:extLst>
                <a:ext uri="{FF2B5EF4-FFF2-40B4-BE49-F238E27FC236}">
                  <a16:creationId xmlns:a16="http://schemas.microsoft.com/office/drawing/2014/main" id="{D8BE8176-F51D-C927-76ED-F9ACF7EB9B54}"/>
                </a:ext>
              </a:extLst>
            </p:cNvPr>
            <p:cNvSpPr txBox="1"/>
            <p:nvPr/>
          </p:nvSpPr>
          <p:spPr>
            <a:xfrm>
              <a:off x="3320936" y="4785760"/>
              <a:ext cx="1670659" cy="738664"/>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pPr algn="ctr"/>
              <a:r>
                <a:rPr lang="en-GB" dirty="0">
                  <a:solidFill>
                    <a:prstClr val="white">
                      <a:alpha val="50000"/>
                    </a:prstClr>
                  </a:solidFill>
                </a:rPr>
                <a:t>Revenue Streams: Free for Users, Paid by Partners</a:t>
              </a:r>
              <a:endParaRPr lang="en-US" dirty="0">
                <a:solidFill>
                  <a:prstClr val="white">
                    <a:alpha val="50000"/>
                  </a:prstClr>
                </a:solidFill>
              </a:endParaRPr>
            </a:p>
          </p:txBody>
        </p:sp>
        <p:sp>
          <p:nvSpPr>
            <p:cNvPr id="24" name="TextBox 23">
              <a:extLst>
                <a:ext uri="{FF2B5EF4-FFF2-40B4-BE49-F238E27FC236}">
                  <a16:creationId xmlns:a16="http://schemas.microsoft.com/office/drawing/2014/main" id="{06B093D3-8024-2C6C-93BA-BEBE0764968E}"/>
                </a:ext>
              </a:extLst>
            </p:cNvPr>
            <p:cNvSpPr txBox="1"/>
            <p:nvPr/>
          </p:nvSpPr>
          <p:spPr>
            <a:xfrm>
              <a:off x="5286365" y="4785760"/>
              <a:ext cx="1670659" cy="738664"/>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pPr algn="ctr"/>
              <a:r>
                <a:rPr lang="en-GB" dirty="0">
                  <a:solidFill>
                    <a:prstClr val="white">
                      <a:alpha val="50000"/>
                    </a:prstClr>
                  </a:solidFill>
                </a:rPr>
                <a:t>Onboarding and Engagement: Strategic Promotion</a:t>
              </a:r>
              <a:endParaRPr lang="en-US" dirty="0">
                <a:solidFill>
                  <a:prstClr val="white">
                    <a:alpha val="50000"/>
                  </a:prstClr>
                </a:solidFill>
              </a:endParaRPr>
            </a:p>
          </p:txBody>
        </p:sp>
        <p:sp>
          <p:nvSpPr>
            <p:cNvPr id="28" name="TextBox 27">
              <a:extLst>
                <a:ext uri="{FF2B5EF4-FFF2-40B4-BE49-F238E27FC236}">
                  <a16:creationId xmlns:a16="http://schemas.microsoft.com/office/drawing/2014/main" id="{8CBF1095-5C8A-A519-9B94-B134206905DB}"/>
                </a:ext>
              </a:extLst>
            </p:cNvPr>
            <p:cNvSpPr txBox="1"/>
            <p:nvPr/>
          </p:nvSpPr>
          <p:spPr>
            <a:xfrm>
              <a:off x="7213558" y="4785760"/>
              <a:ext cx="1670659" cy="738664"/>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pPr algn="ctr"/>
              <a:r>
                <a:rPr lang="en-GB" dirty="0">
                  <a:solidFill>
                    <a:prstClr val="white">
                      <a:alpha val="50000"/>
                    </a:prstClr>
                  </a:solidFill>
                </a:rPr>
                <a:t>Competitive Edge: Unique Gamified Approach</a:t>
              </a:r>
              <a:endParaRPr lang="en-US" dirty="0">
                <a:solidFill>
                  <a:prstClr val="white">
                    <a:alpha val="50000"/>
                  </a:prstClr>
                </a:solidFill>
              </a:endParaRPr>
            </a:p>
          </p:txBody>
        </p:sp>
        <p:sp>
          <p:nvSpPr>
            <p:cNvPr id="33" name="TextBox 32">
              <a:extLst>
                <a:ext uri="{FF2B5EF4-FFF2-40B4-BE49-F238E27FC236}">
                  <a16:creationId xmlns:a16="http://schemas.microsoft.com/office/drawing/2014/main" id="{454BBA4E-2357-863C-DE2C-912F81DF85CE}"/>
                </a:ext>
              </a:extLst>
            </p:cNvPr>
            <p:cNvSpPr txBox="1"/>
            <p:nvPr/>
          </p:nvSpPr>
          <p:spPr>
            <a:xfrm>
              <a:off x="9158347" y="4785760"/>
              <a:ext cx="1670659" cy="738664"/>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pPr algn="ctr"/>
              <a:r>
                <a:rPr lang="en-GB" dirty="0">
                  <a:solidFill>
                    <a:prstClr val="white">
                      <a:alpha val="50000"/>
                    </a:prstClr>
                  </a:solidFill>
                </a:rPr>
                <a:t>Sustainability and Flexibility: Long-Term Impact</a:t>
              </a:r>
              <a:endParaRPr lang="en-US" dirty="0">
                <a:solidFill>
                  <a:prstClr val="white">
                    <a:alpha val="50000"/>
                  </a:prstClr>
                </a:solidFill>
              </a:endParaRPr>
            </a:p>
          </p:txBody>
        </p:sp>
      </p:grpSp>
      <p:pic>
        <p:nvPicPr>
          <p:cNvPr id="29" name="Picture 28" descr="A close-up of a logo&#10;&#10;AI-generated content may be incorrect.">
            <a:extLst>
              <a:ext uri="{FF2B5EF4-FFF2-40B4-BE49-F238E27FC236}">
                <a16:creationId xmlns:a16="http://schemas.microsoft.com/office/drawing/2014/main" id="{88456553-C4D0-55CB-B33B-EA0893C1CC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23782" y="5974268"/>
            <a:ext cx="505929" cy="632979"/>
          </a:xfrm>
          <a:prstGeom prst="rect">
            <a:avLst/>
          </a:prstGeom>
        </p:spPr>
      </p:pic>
    </p:spTree>
    <p:extLst>
      <p:ext uri="{BB962C8B-B14F-4D97-AF65-F5344CB8AC3E}">
        <p14:creationId xmlns:p14="http://schemas.microsoft.com/office/powerpoint/2010/main" val="52715344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0-#ppt_h/2"/>
                                          </p:val>
                                        </p:tav>
                                        <p:tav tm="100000">
                                          <p:val>
                                            <p:strVal val="#ppt_y"/>
                                          </p:val>
                                        </p:tav>
                                      </p:tavLst>
                                    </p:anim>
                                  </p:childTnLst>
                                </p:cTn>
                              </p:par>
                              <p:par>
                                <p:cTn id="9" presetID="9" presetClass="entr" presetSubtype="0" fill="hold" nodeType="with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dissolve">
                                      <p:cBhvr>
                                        <p:cTn id="11" dur="500"/>
                                        <p:tgtEl>
                                          <p:spTgt spid="29"/>
                                        </p:tgtEl>
                                      </p:cBhvr>
                                    </p:animEffect>
                                  </p:childTnLst>
                                </p:cTn>
                              </p:par>
                              <p:par>
                                <p:cTn id="12" presetID="2" presetClass="entr" presetSubtype="4" fill="hold" nodeType="withEffect">
                                  <p:stCondLst>
                                    <p:cond delay="0"/>
                                  </p:stCondLst>
                                  <p:childTnLst>
                                    <p:set>
                                      <p:cBhvr>
                                        <p:cTn id="13" dur="1" fill="hold">
                                          <p:stCondLst>
                                            <p:cond delay="0"/>
                                          </p:stCondLst>
                                        </p:cTn>
                                        <p:tgtEl>
                                          <p:spTgt spid="29"/>
                                        </p:tgtEl>
                                        <p:attrNameLst>
                                          <p:attrName>style.visibility</p:attrName>
                                        </p:attrNameLst>
                                      </p:cBhvr>
                                      <p:to>
                                        <p:strVal val="visible"/>
                                      </p:to>
                                    </p:set>
                                    <p:anim calcmode="lin" valueType="num">
                                      <p:cBhvr additive="base">
                                        <p:cTn id="14" dur="500" fill="hold"/>
                                        <p:tgtEl>
                                          <p:spTgt spid="29"/>
                                        </p:tgtEl>
                                        <p:attrNameLst>
                                          <p:attrName>ppt_x</p:attrName>
                                        </p:attrNameLst>
                                      </p:cBhvr>
                                      <p:tavLst>
                                        <p:tav tm="0">
                                          <p:val>
                                            <p:strVal val="#ppt_x"/>
                                          </p:val>
                                        </p:tav>
                                        <p:tav tm="100000">
                                          <p:val>
                                            <p:strVal val="#ppt_x"/>
                                          </p:val>
                                        </p:tav>
                                      </p:tavLst>
                                    </p:anim>
                                    <p:anim calcmode="lin" valueType="num">
                                      <p:cBhvr additive="base">
                                        <p:cTn id="15"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CCCD1D-24F7-7818-1BC1-F700A1D07CDD}"/>
              </a:ext>
            </a:extLst>
          </p:cNvPr>
          <p:cNvSpPr txBox="1"/>
          <p:nvPr/>
        </p:nvSpPr>
        <p:spPr>
          <a:xfrm>
            <a:off x="287867" y="2155061"/>
            <a:ext cx="11616266" cy="2149178"/>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300" b="0" i="0" u="none" strike="noStrike" kern="0" cap="none" spc="0" normalizeH="0" baseline="0" noProof="0" dirty="0">
                <a:ln>
                  <a:noFill/>
                </a:ln>
                <a:solidFill>
                  <a:prstClr val="white"/>
                </a:solidFill>
                <a:effectLst/>
                <a:uLnTx/>
                <a:uFillTx/>
                <a:latin typeface="Darker Grotesque" pitchFamily="2" charset="0"/>
              </a:rPr>
              <a:t>Competition</a:t>
            </a:r>
          </a:p>
        </p:txBody>
      </p:sp>
      <p:grpSp>
        <p:nvGrpSpPr>
          <p:cNvPr id="3" name="Group 2">
            <a:extLst>
              <a:ext uri="{FF2B5EF4-FFF2-40B4-BE49-F238E27FC236}">
                <a16:creationId xmlns:a16="http://schemas.microsoft.com/office/drawing/2014/main" id="{D83A33A8-33B8-4E6D-B494-9434B939D75E}"/>
              </a:ext>
            </a:extLst>
          </p:cNvPr>
          <p:cNvGrpSpPr/>
          <p:nvPr/>
        </p:nvGrpSpPr>
        <p:grpSpPr>
          <a:xfrm>
            <a:off x="234547" y="7117920"/>
            <a:ext cx="11709360" cy="5721781"/>
            <a:chOff x="234547" y="369986"/>
            <a:chExt cx="11709360" cy="5721781"/>
          </a:xfrm>
        </p:grpSpPr>
        <p:cxnSp>
          <p:nvCxnSpPr>
            <p:cNvPr id="8" name="Straight Connector 7">
              <a:extLst>
                <a:ext uri="{FF2B5EF4-FFF2-40B4-BE49-F238E27FC236}">
                  <a16:creationId xmlns:a16="http://schemas.microsoft.com/office/drawing/2014/main" id="{C02B145E-6E3D-DB2F-ED0F-24AD2C320566}"/>
                </a:ext>
              </a:extLst>
            </p:cNvPr>
            <p:cNvCxnSpPr/>
            <p:nvPr/>
          </p:nvCxnSpPr>
          <p:spPr>
            <a:xfrm>
              <a:off x="299484" y="62377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nvGrpSpPr>
            <p:cNvPr id="9" name="!!competition">
              <a:extLst>
                <a:ext uri="{FF2B5EF4-FFF2-40B4-BE49-F238E27FC236}">
                  <a16:creationId xmlns:a16="http://schemas.microsoft.com/office/drawing/2014/main" id="{C9FC7EC9-B5D3-AEB7-60DB-B5AD839732E2}"/>
                </a:ext>
              </a:extLst>
            </p:cNvPr>
            <p:cNvGrpSpPr/>
            <p:nvPr/>
          </p:nvGrpSpPr>
          <p:grpSpPr>
            <a:xfrm>
              <a:off x="5842207" y="369986"/>
              <a:ext cx="507586" cy="507586"/>
              <a:chOff x="7790768" y="1868829"/>
              <a:chExt cx="507586" cy="507586"/>
            </a:xfrm>
          </p:grpSpPr>
          <p:sp useBgFill="1">
            <p:nvSpPr>
              <p:cNvPr id="21" name="Oval 20">
                <a:extLst>
                  <a:ext uri="{FF2B5EF4-FFF2-40B4-BE49-F238E27FC236}">
                    <a16:creationId xmlns:a16="http://schemas.microsoft.com/office/drawing/2014/main" id="{9814BA89-76E7-4B1A-228B-D946D0D31FBA}"/>
                  </a:ext>
                </a:extLst>
              </p:cNvPr>
              <p:cNvSpPr/>
              <p:nvPr/>
            </p:nvSpPr>
            <p:spPr>
              <a:xfrm>
                <a:off x="7790768" y="1868829"/>
                <a:ext cx="507586" cy="507586"/>
              </a:xfrm>
              <a:prstGeom prst="ellipse">
                <a:avLst/>
              </a:prstGeom>
              <a:blipFill dpi="0" rotWithShape="0">
                <a:blip r:embed="rId2">
                  <a:lum/>
                </a:blip>
                <a:srcRect/>
                <a:stretch>
                  <a:fillRect l="-1536723" t="-367961" r="-765235" b="-883140"/>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22" name="Graphic 21">
                <a:extLst>
                  <a:ext uri="{FF2B5EF4-FFF2-40B4-BE49-F238E27FC236}">
                    <a16:creationId xmlns:a16="http://schemas.microsoft.com/office/drawing/2014/main" id="{D70225EC-796E-470A-3354-38C40BCCDD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18561" y="1996622"/>
                <a:ext cx="252000" cy="252000"/>
              </a:xfrm>
              <a:prstGeom prst="rect">
                <a:avLst/>
              </a:prstGeom>
            </p:spPr>
          </p:pic>
        </p:grpSp>
        <p:sp>
          <p:nvSpPr>
            <p:cNvPr id="10" name="TextBox 9">
              <a:extLst>
                <a:ext uri="{FF2B5EF4-FFF2-40B4-BE49-F238E27FC236}">
                  <a16:creationId xmlns:a16="http://schemas.microsoft.com/office/drawing/2014/main" id="{AF2FE122-AA77-F371-D05B-FF31D06992EE}"/>
                </a:ext>
              </a:extLst>
            </p:cNvPr>
            <p:cNvSpPr txBox="1"/>
            <p:nvPr/>
          </p:nvSpPr>
          <p:spPr>
            <a:xfrm>
              <a:off x="234547" y="1056986"/>
              <a:ext cx="4046199" cy="1472326"/>
            </a:xfrm>
            <a:prstGeom prst="rect">
              <a:avLst/>
            </a:prstGeom>
            <a:noFill/>
          </p:spPr>
          <p:txBody>
            <a:bodyPr wrap="square"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GB" sz="4800" dirty="0"/>
                <a:t>We're well positioned to win in this market.</a:t>
              </a:r>
            </a:p>
          </p:txBody>
        </p:sp>
        <p:cxnSp>
          <p:nvCxnSpPr>
            <p:cNvPr id="11" name="Straight Connector 10">
              <a:extLst>
                <a:ext uri="{FF2B5EF4-FFF2-40B4-BE49-F238E27FC236}">
                  <a16:creationId xmlns:a16="http://schemas.microsoft.com/office/drawing/2014/main" id="{145E196F-6CDA-1324-DCF4-A1B9B6D375B8}"/>
                </a:ext>
              </a:extLst>
            </p:cNvPr>
            <p:cNvCxnSpPr>
              <a:cxnSpLocks/>
            </p:cNvCxnSpPr>
            <p:nvPr/>
          </p:nvCxnSpPr>
          <p:spPr>
            <a:xfrm>
              <a:off x="6096000" y="1899703"/>
              <a:ext cx="0" cy="3811064"/>
            </a:xfrm>
            <a:prstGeom prst="line">
              <a:avLst/>
            </a:prstGeom>
            <a:noFill/>
            <a:ln w="6350" cap="rnd">
              <a:solidFill>
                <a:schemeClr val="bg1">
                  <a:alpha val="25000"/>
                </a:schemeClr>
              </a:solidFill>
              <a:round/>
            </a:ln>
          </p:spPr>
          <p:style>
            <a:lnRef idx="2">
              <a:schemeClr val="accent1">
                <a:shade val="50000"/>
              </a:schemeClr>
            </a:lnRef>
            <a:fillRef idx="1">
              <a:schemeClr val="accent1"/>
            </a:fillRef>
            <a:effectRef idx="0">
              <a:schemeClr val="accent1"/>
            </a:effectRef>
            <a:fontRef idx="minor">
              <a:schemeClr val="lt1"/>
            </a:fontRef>
          </p:style>
        </p:cxnSp>
        <p:sp>
          <p:nvSpPr>
            <p:cNvPr id="12" name="Rectangle: Rounded Corners 11">
              <a:extLst>
                <a:ext uri="{FF2B5EF4-FFF2-40B4-BE49-F238E27FC236}">
                  <a16:creationId xmlns:a16="http://schemas.microsoft.com/office/drawing/2014/main" id="{18BAD8B3-BFB5-1D73-A655-B85A44125381}"/>
                </a:ext>
              </a:extLst>
            </p:cNvPr>
            <p:cNvSpPr/>
            <p:nvPr/>
          </p:nvSpPr>
          <p:spPr>
            <a:xfrm>
              <a:off x="5496558" y="1518703"/>
              <a:ext cx="1198884" cy="381000"/>
            </a:xfrm>
            <a:prstGeom prst="roundRect">
              <a:avLst>
                <a:gd name="adj" fmla="val 50000"/>
              </a:avLst>
            </a:prstGeom>
            <a:noFill/>
            <a:ln w="12700" cap="rnd">
              <a:solidFill>
                <a:schemeClr val="bg1">
                  <a:alpha val="2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r>
                <a:rPr lang="en-US" sz="1400" spc="30">
                  <a:solidFill>
                    <a:srgbClr val="FFFFFF"/>
                  </a:solidFill>
                  <a:latin typeface="Darker Grotesque" pitchFamily="2" charset="0"/>
                  <a:cs typeface="Poppins SemiBold" panose="00000700000000000000" pitchFamily="2" charset="0"/>
                </a:rPr>
                <a:t>Top</a:t>
              </a:r>
              <a:endParaRPr lang="en-GB" sz="1400" spc="30" dirty="0">
                <a:solidFill>
                  <a:srgbClr val="FFFFFF"/>
                </a:solidFill>
                <a:latin typeface="Darker Grotesque" pitchFamily="2" charset="0"/>
                <a:cs typeface="Poppins SemiBold" panose="00000700000000000000" pitchFamily="2" charset="0"/>
              </a:endParaRPr>
            </a:p>
          </p:txBody>
        </p:sp>
        <p:sp>
          <p:nvSpPr>
            <p:cNvPr id="13" name="Rectangle: Rounded Corners 12">
              <a:extLst>
                <a:ext uri="{FF2B5EF4-FFF2-40B4-BE49-F238E27FC236}">
                  <a16:creationId xmlns:a16="http://schemas.microsoft.com/office/drawing/2014/main" id="{F3ECCCA7-6369-1C2E-1BEC-EABE0C1E0B7D}"/>
                </a:ext>
              </a:extLst>
            </p:cNvPr>
            <p:cNvSpPr/>
            <p:nvPr/>
          </p:nvSpPr>
          <p:spPr>
            <a:xfrm>
              <a:off x="5496558" y="5710767"/>
              <a:ext cx="1198884" cy="381000"/>
            </a:xfrm>
            <a:prstGeom prst="roundRect">
              <a:avLst>
                <a:gd name="adj" fmla="val 50000"/>
              </a:avLst>
            </a:prstGeom>
            <a:noFill/>
            <a:ln w="12700" cap="rnd">
              <a:solidFill>
                <a:schemeClr val="bg1">
                  <a:alpha val="2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r>
                <a:rPr lang="en-US" sz="1400" spc="30">
                  <a:solidFill>
                    <a:srgbClr val="FFFFFF"/>
                  </a:solidFill>
                  <a:latin typeface="Darker Grotesque" pitchFamily="2" charset="0"/>
                  <a:cs typeface="Poppins SemiBold" panose="00000700000000000000" pitchFamily="2" charset="0"/>
                </a:rPr>
                <a:t>Bottom</a:t>
              </a:r>
              <a:endParaRPr lang="en-GB" sz="1400" spc="30" dirty="0">
                <a:solidFill>
                  <a:srgbClr val="FFFFFF"/>
                </a:solidFill>
                <a:latin typeface="Darker Grotesque" pitchFamily="2" charset="0"/>
                <a:cs typeface="Poppins SemiBold" panose="00000700000000000000" pitchFamily="2" charset="0"/>
              </a:endParaRPr>
            </a:p>
          </p:txBody>
        </p:sp>
        <p:cxnSp>
          <p:nvCxnSpPr>
            <p:cNvPr id="14" name="Straight Connector 13">
              <a:extLst>
                <a:ext uri="{FF2B5EF4-FFF2-40B4-BE49-F238E27FC236}">
                  <a16:creationId xmlns:a16="http://schemas.microsoft.com/office/drawing/2014/main" id="{43E6D8F3-28AD-22C1-F561-5174DB8EFEAB}"/>
                </a:ext>
              </a:extLst>
            </p:cNvPr>
            <p:cNvCxnSpPr>
              <a:cxnSpLocks/>
              <a:stCxn id="15" idx="1"/>
              <a:endCxn id="16" idx="3"/>
            </p:cNvCxnSpPr>
            <p:nvPr/>
          </p:nvCxnSpPr>
          <p:spPr>
            <a:xfrm flipH="1">
              <a:off x="4190468" y="3805235"/>
              <a:ext cx="3811064" cy="0"/>
            </a:xfrm>
            <a:prstGeom prst="line">
              <a:avLst/>
            </a:prstGeom>
            <a:noFill/>
            <a:ln w="6350" cap="rnd">
              <a:solidFill>
                <a:schemeClr val="bg1">
                  <a:alpha val="25000"/>
                </a:schemeClr>
              </a:solidFill>
              <a:round/>
            </a:ln>
          </p:spPr>
          <p:style>
            <a:lnRef idx="2">
              <a:schemeClr val="accent1">
                <a:shade val="50000"/>
              </a:schemeClr>
            </a:lnRef>
            <a:fillRef idx="1">
              <a:schemeClr val="accent1"/>
            </a:fillRef>
            <a:effectRef idx="0">
              <a:schemeClr val="accent1"/>
            </a:effectRef>
            <a:fontRef idx="minor">
              <a:schemeClr val="lt1"/>
            </a:fontRef>
          </p:style>
        </p:cxnSp>
        <p:sp>
          <p:nvSpPr>
            <p:cNvPr id="15" name="Rectangle: Rounded Corners 14">
              <a:extLst>
                <a:ext uri="{FF2B5EF4-FFF2-40B4-BE49-F238E27FC236}">
                  <a16:creationId xmlns:a16="http://schemas.microsoft.com/office/drawing/2014/main" id="{7B072959-358F-6B59-FAFA-CF22CB94DFDC}"/>
                </a:ext>
              </a:extLst>
            </p:cNvPr>
            <p:cNvSpPr/>
            <p:nvPr/>
          </p:nvSpPr>
          <p:spPr>
            <a:xfrm>
              <a:off x="8001532" y="3614735"/>
              <a:ext cx="1198884" cy="381000"/>
            </a:xfrm>
            <a:prstGeom prst="roundRect">
              <a:avLst>
                <a:gd name="adj" fmla="val 50000"/>
              </a:avLst>
            </a:prstGeom>
            <a:noFill/>
            <a:ln w="12700" cap="rnd">
              <a:solidFill>
                <a:schemeClr val="bg1">
                  <a:alpha val="2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r>
                <a:rPr lang="en-US" sz="1400" spc="30">
                  <a:solidFill>
                    <a:srgbClr val="FFFFFF"/>
                  </a:solidFill>
                  <a:latin typeface="Darker Grotesque" pitchFamily="2" charset="0"/>
                  <a:cs typeface="Poppins SemiBold" panose="00000700000000000000" pitchFamily="2" charset="0"/>
                </a:rPr>
                <a:t>Right</a:t>
              </a:r>
              <a:endParaRPr lang="en-GB" sz="1400" spc="30" dirty="0">
                <a:solidFill>
                  <a:srgbClr val="FFFFFF"/>
                </a:solidFill>
                <a:latin typeface="Darker Grotesque" pitchFamily="2" charset="0"/>
                <a:cs typeface="Poppins SemiBold" panose="00000700000000000000" pitchFamily="2" charset="0"/>
              </a:endParaRPr>
            </a:p>
          </p:txBody>
        </p:sp>
        <p:sp>
          <p:nvSpPr>
            <p:cNvPr id="16" name="Rectangle: Rounded Corners 15">
              <a:extLst>
                <a:ext uri="{FF2B5EF4-FFF2-40B4-BE49-F238E27FC236}">
                  <a16:creationId xmlns:a16="http://schemas.microsoft.com/office/drawing/2014/main" id="{293D0BF9-1B83-C23D-ECB1-C78D6CF90266}"/>
                </a:ext>
              </a:extLst>
            </p:cNvPr>
            <p:cNvSpPr/>
            <p:nvPr/>
          </p:nvSpPr>
          <p:spPr>
            <a:xfrm>
              <a:off x="2991584" y="3614735"/>
              <a:ext cx="1198884" cy="381000"/>
            </a:xfrm>
            <a:prstGeom prst="roundRect">
              <a:avLst>
                <a:gd name="adj" fmla="val 50000"/>
              </a:avLst>
            </a:prstGeom>
            <a:noFill/>
            <a:ln w="12700" cap="rnd">
              <a:solidFill>
                <a:schemeClr val="bg1">
                  <a:alpha val="2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r>
                <a:rPr lang="en-US" sz="1400" spc="30">
                  <a:solidFill>
                    <a:srgbClr val="FFFFFF"/>
                  </a:solidFill>
                  <a:latin typeface="Darker Grotesque" pitchFamily="2" charset="0"/>
                  <a:cs typeface="Poppins SemiBold" panose="00000700000000000000" pitchFamily="2" charset="0"/>
                </a:rPr>
                <a:t>Left</a:t>
              </a:r>
              <a:endParaRPr lang="en-GB" sz="1400" spc="30" dirty="0">
                <a:solidFill>
                  <a:srgbClr val="FFFFFF"/>
                </a:solidFill>
                <a:latin typeface="Darker Grotesque" pitchFamily="2" charset="0"/>
                <a:cs typeface="Poppins SemiBold" panose="00000700000000000000" pitchFamily="2" charset="0"/>
              </a:endParaRPr>
            </a:p>
          </p:txBody>
        </p:sp>
        <p:sp>
          <p:nvSpPr>
            <p:cNvPr id="17" name="Rectangle: Rounded Corners 16">
              <a:extLst>
                <a:ext uri="{FF2B5EF4-FFF2-40B4-BE49-F238E27FC236}">
                  <a16:creationId xmlns:a16="http://schemas.microsoft.com/office/drawing/2014/main" id="{B9352442-738A-B26A-F06A-C18BF12378F5}"/>
                </a:ext>
              </a:extLst>
            </p:cNvPr>
            <p:cNvSpPr/>
            <p:nvPr/>
          </p:nvSpPr>
          <p:spPr>
            <a:xfrm>
              <a:off x="4069873" y="2555272"/>
              <a:ext cx="1163638" cy="403894"/>
            </a:xfrm>
            <a:prstGeom prst="roundRect">
              <a:avLst>
                <a:gd name="adj" fmla="val 50000"/>
              </a:avLst>
            </a:prstGeom>
            <a:solidFill>
              <a:schemeClr val="bg1">
                <a:alpha val="20000"/>
              </a:schemeClr>
            </a:solidFill>
            <a:ln w="12700" cap="rnd">
              <a:solidFill>
                <a:schemeClr val="bg1">
                  <a:alpha val="3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r>
                <a:rPr lang="en-US" spc="30">
                  <a:solidFill>
                    <a:srgbClr val="FFFFFF"/>
                  </a:solidFill>
                  <a:latin typeface="Darker Grotesque" pitchFamily="2" charset="0"/>
                  <a:cs typeface="Poppins SemiBold" panose="00000700000000000000" pitchFamily="2" charset="0"/>
                </a:rPr>
                <a:t>LOGO</a:t>
              </a:r>
              <a:endParaRPr lang="en-GB" spc="30" dirty="0">
                <a:solidFill>
                  <a:srgbClr val="FFFFFF"/>
                </a:solidFill>
                <a:latin typeface="Darker Grotesque" pitchFamily="2" charset="0"/>
                <a:cs typeface="Poppins SemiBold" panose="00000700000000000000" pitchFamily="2" charset="0"/>
              </a:endParaRPr>
            </a:p>
          </p:txBody>
        </p:sp>
        <p:sp>
          <p:nvSpPr>
            <p:cNvPr id="18" name="Rectangle: Rounded Corners 17">
              <a:extLst>
                <a:ext uri="{FF2B5EF4-FFF2-40B4-BE49-F238E27FC236}">
                  <a16:creationId xmlns:a16="http://schemas.microsoft.com/office/drawing/2014/main" id="{B59E0B5F-8805-8FB7-899E-A3C5E405613A}"/>
                </a:ext>
              </a:extLst>
            </p:cNvPr>
            <p:cNvSpPr/>
            <p:nvPr/>
          </p:nvSpPr>
          <p:spPr>
            <a:xfrm>
              <a:off x="7119992" y="2555272"/>
              <a:ext cx="1163638" cy="403894"/>
            </a:xfrm>
            <a:prstGeom prst="roundRect">
              <a:avLst>
                <a:gd name="adj" fmla="val 50000"/>
              </a:avLst>
            </a:prstGeom>
            <a:solidFill>
              <a:schemeClr val="bg1">
                <a:alpha val="70000"/>
              </a:schemeClr>
            </a:solidFill>
            <a:ln w="6350">
              <a:solidFill>
                <a:schemeClr val="bg1"/>
              </a:solidFill>
            </a:ln>
            <a:effectLst>
              <a:outerShdw blurRad="1270000" algn="ctr" rotWithShape="0">
                <a:schemeClr val="bg1"/>
              </a:outerShdw>
            </a:effectLst>
          </p:spPr>
          <p:txBody>
            <a:bodyPr vert="horz" wrap="none" lIns="91440" tIns="45720" rIns="91440" bIns="45720" rtlCol="0" anchor="ctr"/>
            <a:lstStyle/>
            <a:p>
              <a:pPr algn="ctr"/>
              <a:r>
                <a:rPr lang="en-US" sz="2000">
                  <a:solidFill>
                    <a:schemeClr val="bg1"/>
                  </a:solidFill>
                  <a:latin typeface="Darker Grotesque SemiBold" pitchFamily="2" charset="0"/>
                </a:rPr>
                <a:t>LOGO</a:t>
              </a:r>
              <a:endParaRPr lang="en-GB" sz="2000" dirty="0">
                <a:solidFill>
                  <a:schemeClr val="bg1"/>
                </a:solidFill>
                <a:latin typeface="Darker Grotesque SemiBold" pitchFamily="2" charset="0"/>
              </a:endParaRPr>
            </a:p>
          </p:txBody>
        </p:sp>
        <p:sp>
          <p:nvSpPr>
            <p:cNvPr id="19" name="Rectangle: Rounded Corners 18">
              <a:extLst>
                <a:ext uri="{FF2B5EF4-FFF2-40B4-BE49-F238E27FC236}">
                  <a16:creationId xmlns:a16="http://schemas.microsoft.com/office/drawing/2014/main" id="{23121AD7-EC5F-06A3-19DC-1819377C94D0}"/>
                </a:ext>
              </a:extLst>
            </p:cNvPr>
            <p:cNvSpPr/>
            <p:nvPr/>
          </p:nvSpPr>
          <p:spPr>
            <a:xfrm>
              <a:off x="4069873" y="4651304"/>
              <a:ext cx="1163638" cy="403894"/>
            </a:xfrm>
            <a:prstGeom prst="roundRect">
              <a:avLst>
                <a:gd name="adj" fmla="val 50000"/>
              </a:avLst>
            </a:prstGeom>
            <a:solidFill>
              <a:schemeClr val="bg1">
                <a:alpha val="20000"/>
              </a:schemeClr>
            </a:solidFill>
            <a:ln w="12700" cap="rnd">
              <a:solidFill>
                <a:schemeClr val="bg1">
                  <a:alpha val="3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r>
                <a:rPr lang="en-US" spc="30">
                  <a:solidFill>
                    <a:srgbClr val="FFFFFF"/>
                  </a:solidFill>
                  <a:latin typeface="Darker Grotesque" pitchFamily="2" charset="0"/>
                  <a:cs typeface="Poppins SemiBold" panose="00000700000000000000" pitchFamily="2" charset="0"/>
                </a:rPr>
                <a:t>LOGO</a:t>
              </a:r>
              <a:endParaRPr lang="en-GB" spc="30" dirty="0">
                <a:solidFill>
                  <a:srgbClr val="FFFFFF"/>
                </a:solidFill>
                <a:latin typeface="Darker Grotesque" pitchFamily="2" charset="0"/>
                <a:cs typeface="Poppins SemiBold" panose="00000700000000000000" pitchFamily="2" charset="0"/>
              </a:endParaRPr>
            </a:p>
          </p:txBody>
        </p:sp>
        <p:sp>
          <p:nvSpPr>
            <p:cNvPr id="20" name="Rectangle: Rounded Corners 19">
              <a:extLst>
                <a:ext uri="{FF2B5EF4-FFF2-40B4-BE49-F238E27FC236}">
                  <a16:creationId xmlns:a16="http://schemas.microsoft.com/office/drawing/2014/main" id="{2DBA2A10-3AF5-629C-9665-E84715C8E208}"/>
                </a:ext>
              </a:extLst>
            </p:cNvPr>
            <p:cNvSpPr/>
            <p:nvPr/>
          </p:nvSpPr>
          <p:spPr>
            <a:xfrm>
              <a:off x="7119992" y="4651304"/>
              <a:ext cx="1163638" cy="403894"/>
            </a:xfrm>
            <a:prstGeom prst="roundRect">
              <a:avLst>
                <a:gd name="adj" fmla="val 50000"/>
              </a:avLst>
            </a:prstGeom>
            <a:solidFill>
              <a:schemeClr val="bg1">
                <a:alpha val="20000"/>
              </a:schemeClr>
            </a:solidFill>
            <a:ln w="12700" cap="rnd">
              <a:solidFill>
                <a:schemeClr val="bg1">
                  <a:alpha val="3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r>
                <a:rPr lang="en-US" spc="30" dirty="0">
                  <a:solidFill>
                    <a:srgbClr val="FFFFFF"/>
                  </a:solidFill>
                  <a:latin typeface="Darker Grotesque" pitchFamily="2" charset="0"/>
                  <a:cs typeface="Poppins SemiBold" panose="00000700000000000000" pitchFamily="2" charset="0"/>
                </a:rPr>
                <a:t>LOGO</a:t>
              </a:r>
              <a:endParaRPr lang="en-GB" spc="30" dirty="0">
                <a:solidFill>
                  <a:srgbClr val="FFFFFF"/>
                </a:solidFill>
                <a:latin typeface="Darker Grotesque" pitchFamily="2" charset="0"/>
                <a:cs typeface="Poppins SemiBold" panose="00000700000000000000" pitchFamily="2" charset="0"/>
              </a:endParaRPr>
            </a:p>
          </p:txBody>
        </p:sp>
      </p:grpSp>
      <p:pic>
        <p:nvPicPr>
          <p:cNvPr id="2" name="Picture 1" descr="A close-up of a logo&#10;&#10;AI-generated content may be incorrect.">
            <a:extLst>
              <a:ext uri="{FF2B5EF4-FFF2-40B4-BE49-F238E27FC236}">
                <a16:creationId xmlns:a16="http://schemas.microsoft.com/office/drawing/2014/main" id="{2585515A-02D5-1477-A468-4B7E8D1A4C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23782" y="5974268"/>
            <a:ext cx="505929" cy="632979"/>
          </a:xfrm>
          <a:prstGeom prst="rect">
            <a:avLst/>
          </a:prstGeom>
        </p:spPr>
      </p:pic>
    </p:spTree>
    <p:extLst>
      <p:ext uri="{BB962C8B-B14F-4D97-AF65-F5344CB8AC3E}">
        <p14:creationId xmlns:p14="http://schemas.microsoft.com/office/powerpoint/2010/main" val="2319019701"/>
      </p:ext>
    </p:extLst>
  </p:cSld>
  <p:clrMapOvr>
    <a:masterClrMapping/>
  </p:clrMapOvr>
  <mc:AlternateContent xmlns:mc="http://schemas.openxmlformats.org/markup-compatibility/2006" xmlns:p159="http://schemas.microsoft.com/office/powerpoint/2015/09/main">
    <mc:Choice Requires="p159">
      <p:transition spd="slow" advTm="0">
        <p159:morph option="byObjec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9"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par>
                                <p:cTn id="12" presetID="2" presetClass="entr" presetSubtype="4" fill="hold" nodeType="with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fill="hold"/>
                                        <p:tgtEl>
                                          <p:spTgt spid="2"/>
                                        </p:tgtEl>
                                        <p:attrNameLst>
                                          <p:attrName>ppt_x</p:attrName>
                                        </p:attrNameLst>
                                      </p:cBhvr>
                                      <p:tavLst>
                                        <p:tav tm="0">
                                          <p:val>
                                            <p:strVal val="#ppt_x"/>
                                          </p:val>
                                        </p:tav>
                                        <p:tav tm="100000">
                                          <p:val>
                                            <p:strVal val="#ppt_x"/>
                                          </p:val>
                                        </p:tav>
                                      </p:tavLst>
                                    </p:anim>
                                    <p:anim calcmode="lin" valueType="num">
                                      <p:cBhvr additive="base">
                                        <p:cTn id="1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C45562-EF5A-7E04-A272-61897D8CA6A5}"/>
              </a:ext>
            </a:extLst>
          </p:cNvPr>
          <p:cNvSpPr txBox="1"/>
          <p:nvPr/>
        </p:nvSpPr>
        <p:spPr>
          <a:xfrm>
            <a:off x="299484" y="407551"/>
            <a:ext cx="1001877" cy="185115"/>
          </a:xfrm>
          <a:prstGeom prst="rect">
            <a:avLst/>
          </a:prstGeom>
          <a:noFill/>
        </p:spPr>
        <p:txBody>
          <a:bodyPr wrap="none" lIns="0" tIns="0" rIns="0" bIns="0" rtlCol="0">
            <a:spAutoFit/>
          </a:bodyPr>
          <a:lstStyle/>
          <a:p>
            <a:pPr marL="0" marR="0" lvl="0" indent="0" defTabSz="914400" rtl="0" eaLnBrk="1" fontAlgn="auto" latinLnBrk="0" hangingPunct="1">
              <a:lnSpc>
                <a:spcPct val="6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Darker Grotesque" pitchFamily="2" charset="0"/>
              </a:rPr>
              <a:t>Competition</a:t>
            </a:r>
          </a:p>
        </p:txBody>
      </p:sp>
      <p:cxnSp>
        <p:nvCxnSpPr>
          <p:cNvPr id="3" name="Straight Connector 2">
            <a:extLst>
              <a:ext uri="{FF2B5EF4-FFF2-40B4-BE49-F238E27FC236}">
                <a16:creationId xmlns:a16="http://schemas.microsoft.com/office/drawing/2014/main" id="{C41B7FAE-4866-A263-E991-D4FCBCB852E5}"/>
              </a:ext>
            </a:extLst>
          </p:cNvPr>
          <p:cNvCxnSpPr/>
          <p:nvPr/>
        </p:nvCxnSpPr>
        <p:spPr>
          <a:xfrm>
            <a:off x="299484" y="62377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nvGrpSpPr>
          <p:cNvPr id="6" name="!!competition">
            <a:extLst>
              <a:ext uri="{FF2B5EF4-FFF2-40B4-BE49-F238E27FC236}">
                <a16:creationId xmlns:a16="http://schemas.microsoft.com/office/drawing/2014/main" id="{74012B2E-5A72-9F26-6B5E-56414F0A3580}"/>
              </a:ext>
            </a:extLst>
          </p:cNvPr>
          <p:cNvGrpSpPr/>
          <p:nvPr/>
        </p:nvGrpSpPr>
        <p:grpSpPr>
          <a:xfrm>
            <a:off x="5842207" y="369986"/>
            <a:ext cx="507586" cy="507586"/>
            <a:chOff x="7790768" y="1868829"/>
            <a:chExt cx="507586" cy="507586"/>
          </a:xfrm>
        </p:grpSpPr>
        <p:sp useBgFill="1">
          <p:nvSpPr>
            <p:cNvPr id="7" name="Oval 6">
              <a:extLst>
                <a:ext uri="{FF2B5EF4-FFF2-40B4-BE49-F238E27FC236}">
                  <a16:creationId xmlns:a16="http://schemas.microsoft.com/office/drawing/2014/main" id="{9A22C53F-3E56-34E9-2CA1-3B30B8FB208B}"/>
                </a:ext>
              </a:extLst>
            </p:cNvPr>
            <p:cNvSpPr/>
            <p:nvPr/>
          </p:nvSpPr>
          <p:spPr>
            <a:xfrm>
              <a:off x="7790768" y="1868829"/>
              <a:ext cx="507586" cy="507586"/>
            </a:xfrm>
            <a:prstGeom prst="ellipse">
              <a:avLst/>
            </a:prstGeom>
            <a:blipFill dpi="0" rotWithShape="0">
              <a:blip r:embed="rId3">
                <a:lum/>
              </a:blip>
              <a:srcRect/>
              <a:stretch>
                <a:fillRect l="-1536723" t="-367961" r="-765235" b="-883140"/>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11" name="Graphic 10">
              <a:extLst>
                <a:ext uri="{FF2B5EF4-FFF2-40B4-BE49-F238E27FC236}">
                  <a16:creationId xmlns:a16="http://schemas.microsoft.com/office/drawing/2014/main" id="{3EC2CCEE-EFF3-9F23-541D-D7987B57CBF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18561" y="1996622"/>
              <a:ext cx="252000" cy="252000"/>
            </a:xfrm>
            <a:prstGeom prst="rect">
              <a:avLst/>
            </a:prstGeom>
          </p:spPr>
        </p:pic>
      </p:grpSp>
      <p:sp>
        <p:nvSpPr>
          <p:cNvPr id="15" name="TextBox 14">
            <a:extLst>
              <a:ext uri="{FF2B5EF4-FFF2-40B4-BE49-F238E27FC236}">
                <a16:creationId xmlns:a16="http://schemas.microsoft.com/office/drawing/2014/main" id="{06547E5B-44EA-F3BF-9F66-0DC1828939FA}"/>
              </a:ext>
            </a:extLst>
          </p:cNvPr>
          <p:cNvSpPr txBox="1"/>
          <p:nvPr/>
        </p:nvSpPr>
        <p:spPr>
          <a:xfrm>
            <a:off x="234547" y="1056986"/>
            <a:ext cx="4046199" cy="1472326"/>
          </a:xfrm>
          <a:prstGeom prst="rect">
            <a:avLst/>
          </a:prstGeom>
          <a:noFill/>
        </p:spPr>
        <p:txBody>
          <a:bodyPr wrap="square"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GB" sz="4800" dirty="0"/>
              <a:t>We're well positioned to win in this market.</a:t>
            </a:r>
          </a:p>
        </p:txBody>
      </p:sp>
      <p:cxnSp>
        <p:nvCxnSpPr>
          <p:cNvPr id="13" name="Straight Connector 12">
            <a:extLst>
              <a:ext uri="{FF2B5EF4-FFF2-40B4-BE49-F238E27FC236}">
                <a16:creationId xmlns:a16="http://schemas.microsoft.com/office/drawing/2014/main" id="{E91F6744-DA89-48E5-B010-58906E4C5522}"/>
              </a:ext>
            </a:extLst>
          </p:cNvPr>
          <p:cNvCxnSpPr>
            <a:cxnSpLocks/>
          </p:cNvCxnSpPr>
          <p:nvPr/>
        </p:nvCxnSpPr>
        <p:spPr>
          <a:xfrm>
            <a:off x="6096000" y="1899703"/>
            <a:ext cx="0" cy="3811064"/>
          </a:xfrm>
          <a:prstGeom prst="line">
            <a:avLst/>
          </a:prstGeom>
          <a:noFill/>
          <a:ln w="6350" cap="rnd">
            <a:solidFill>
              <a:schemeClr val="bg1">
                <a:alpha val="25000"/>
              </a:schemeClr>
            </a:solidFill>
            <a:round/>
          </a:ln>
        </p:spPr>
        <p:style>
          <a:lnRef idx="2">
            <a:schemeClr val="accent1">
              <a:shade val="50000"/>
            </a:schemeClr>
          </a:lnRef>
          <a:fillRef idx="1">
            <a:schemeClr val="accent1"/>
          </a:fillRef>
          <a:effectRef idx="0">
            <a:schemeClr val="accent1"/>
          </a:effectRef>
          <a:fontRef idx="minor">
            <a:schemeClr val="lt1"/>
          </a:fontRef>
        </p:style>
      </p:cxnSp>
      <p:sp>
        <p:nvSpPr>
          <p:cNvPr id="18" name="Rectangle: Rounded Corners 17">
            <a:extLst>
              <a:ext uri="{FF2B5EF4-FFF2-40B4-BE49-F238E27FC236}">
                <a16:creationId xmlns:a16="http://schemas.microsoft.com/office/drawing/2014/main" id="{B32535E9-EEEA-FAFE-663C-C24E1B4467FC}"/>
              </a:ext>
            </a:extLst>
          </p:cNvPr>
          <p:cNvSpPr/>
          <p:nvPr/>
        </p:nvSpPr>
        <p:spPr>
          <a:xfrm>
            <a:off x="5222305" y="5710767"/>
            <a:ext cx="1747390" cy="381000"/>
          </a:xfrm>
          <a:prstGeom prst="roundRect">
            <a:avLst>
              <a:gd name="adj" fmla="val 50000"/>
            </a:avLst>
          </a:prstGeom>
          <a:noFill/>
          <a:ln w="12700" cap="rnd">
            <a:solidFill>
              <a:schemeClr val="bg1">
                <a:alpha val="2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r>
              <a:rPr lang="en-US" sz="1400" spc="30" dirty="0">
                <a:solidFill>
                  <a:srgbClr val="FFFFFF"/>
                </a:solidFill>
                <a:latin typeface="Darker Grotesque" pitchFamily="2" charset="0"/>
                <a:cs typeface="Poppins SemiBold" panose="00000700000000000000" pitchFamily="2" charset="0"/>
              </a:rPr>
              <a:t>Social Engagement</a:t>
            </a:r>
            <a:endParaRPr lang="en-GB" sz="1400" spc="30" dirty="0">
              <a:solidFill>
                <a:srgbClr val="FFFFFF"/>
              </a:solidFill>
              <a:latin typeface="Darker Grotesque" pitchFamily="2" charset="0"/>
              <a:cs typeface="Poppins SemiBold" panose="00000700000000000000" pitchFamily="2" charset="0"/>
            </a:endParaRPr>
          </a:p>
        </p:txBody>
      </p:sp>
      <p:cxnSp>
        <p:nvCxnSpPr>
          <p:cNvPr id="23" name="Straight Connector 22">
            <a:extLst>
              <a:ext uri="{FF2B5EF4-FFF2-40B4-BE49-F238E27FC236}">
                <a16:creationId xmlns:a16="http://schemas.microsoft.com/office/drawing/2014/main" id="{3208379D-3C73-7519-F6CE-B56136B68056}"/>
              </a:ext>
            </a:extLst>
          </p:cNvPr>
          <p:cNvCxnSpPr>
            <a:cxnSpLocks/>
            <a:stCxn id="27" idx="1"/>
            <a:endCxn id="29" idx="3"/>
          </p:cNvCxnSpPr>
          <p:nvPr/>
        </p:nvCxnSpPr>
        <p:spPr>
          <a:xfrm flipH="1">
            <a:off x="4190468" y="3805235"/>
            <a:ext cx="3811064" cy="0"/>
          </a:xfrm>
          <a:prstGeom prst="line">
            <a:avLst/>
          </a:prstGeom>
          <a:noFill/>
          <a:ln w="6350" cap="rnd">
            <a:solidFill>
              <a:schemeClr val="bg1">
                <a:alpha val="25000"/>
              </a:schemeClr>
            </a:solidFill>
            <a:round/>
          </a:ln>
        </p:spPr>
        <p:style>
          <a:lnRef idx="2">
            <a:schemeClr val="accent1">
              <a:shade val="50000"/>
            </a:schemeClr>
          </a:lnRef>
          <a:fillRef idx="1">
            <a:schemeClr val="accent1"/>
          </a:fillRef>
          <a:effectRef idx="0">
            <a:schemeClr val="accent1"/>
          </a:effectRef>
          <a:fontRef idx="minor">
            <a:schemeClr val="lt1"/>
          </a:fontRef>
        </p:style>
      </p:cxnSp>
      <p:sp>
        <p:nvSpPr>
          <p:cNvPr id="27" name="Rectangle: Rounded Corners 26">
            <a:extLst>
              <a:ext uri="{FF2B5EF4-FFF2-40B4-BE49-F238E27FC236}">
                <a16:creationId xmlns:a16="http://schemas.microsoft.com/office/drawing/2014/main" id="{D2472769-AF3F-E7A0-E400-739FB67117FB}"/>
              </a:ext>
            </a:extLst>
          </p:cNvPr>
          <p:cNvSpPr/>
          <p:nvPr/>
        </p:nvSpPr>
        <p:spPr>
          <a:xfrm>
            <a:off x="8001532" y="3614735"/>
            <a:ext cx="1198884" cy="381000"/>
          </a:xfrm>
          <a:prstGeom prst="roundRect">
            <a:avLst>
              <a:gd name="adj" fmla="val 50000"/>
            </a:avLst>
          </a:prstGeom>
          <a:noFill/>
          <a:ln w="12700" cap="rnd">
            <a:solidFill>
              <a:schemeClr val="bg1">
                <a:alpha val="2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r>
              <a:rPr lang="en-US" sz="1400" spc="30" dirty="0">
                <a:solidFill>
                  <a:srgbClr val="FFFFFF"/>
                </a:solidFill>
                <a:latin typeface="Darker Grotesque" pitchFamily="2" charset="0"/>
                <a:cs typeface="Poppins SemiBold" panose="00000700000000000000" pitchFamily="2" charset="0"/>
              </a:rPr>
              <a:t>Job Focus</a:t>
            </a:r>
            <a:endParaRPr lang="en-GB" sz="1400" spc="30" dirty="0">
              <a:solidFill>
                <a:srgbClr val="FFFFFF"/>
              </a:solidFill>
              <a:latin typeface="Darker Grotesque" pitchFamily="2" charset="0"/>
              <a:cs typeface="Poppins SemiBold" panose="00000700000000000000" pitchFamily="2" charset="0"/>
            </a:endParaRPr>
          </a:p>
        </p:txBody>
      </p:sp>
      <p:sp>
        <p:nvSpPr>
          <p:cNvPr id="29" name="Rectangle: Rounded Corners 28">
            <a:extLst>
              <a:ext uri="{FF2B5EF4-FFF2-40B4-BE49-F238E27FC236}">
                <a16:creationId xmlns:a16="http://schemas.microsoft.com/office/drawing/2014/main" id="{EAAFF40E-172C-36AA-F706-62D16DEB2D26}"/>
              </a:ext>
            </a:extLst>
          </p:cNvPr>
          <p:cNvSpPr/>
          <p:nvPr/>
        </p:nvSpPr>
        <p:spPr>
          <a:xfrm>
            <a:off x="2991584" y="3614735"/>
            <a:ext cx="1198884" cy="381000"/>
          </a:xfrm>
          <a:prstGeom prst="roundRect">
            <a:avLst>
              <a:gd name="adj" fmla="val 50000"/>
            </a:avLst>
          </a:prstGeom>
          <a:noFill/>
          <a:ln w="12700" cap="rnd">
            <a:solidFill>
              <a:schemeClr val="bg1">
                <a:alpha val="2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r>
              <a:rPr lang="en-US" sz="1400" spc="30" dirty="0">
                <a:solidFill>
                  <a:srgbClr val="FFFFFF"/>
                </a:solidFill>
                <a:latin typeface="Darker Grotesque" pitchFamily="2" charset="0"/>
                <a:cs typeface="Poppins SemiBold" panose="00000700000000000000" pitchFamily="2" charset="0"/>
              </a:rPr>
              <a:t>Job Focus</a:t>
            </a:r>
            <a:endParaRPr lang="en-GB" sz="1400" spc="30" dirty="0">
              <a:solidFill>
                <a:srgbClr val="FFFFFF"/>
              </a:solidFill>
              <a:latin typeface="Darker Grotesque" pitchFamily="2" charset="0"/>
              <a:cs typeface="Poppins SemiBold" panose="00000700000000000000" pitchFamily="2" charset="0"/>
            </a:endParaRPr>
          </a:p>
        </p:txBody>
      </p:sp>
      <p:sp>
        <p:nvSpPr>
          <p:cNvPr id="4" name="Rectangle: Rounded Corners 17">
            <a:extLst>
              <a:ext uri="{FF2B5EF4-FFF2-40B4-BE49-F238E27FC236}">
                <a16:creationId xmlns:a16="http://schemas.microsoft.com/office/drawing/2014/main" id="{B9576F7E-43D8-2639-F182-C7CE32419A31}"/>
              </a:ext>
            </a:extLst>
          </p:cNvPr>
          <p:cNvSpPr/>
          <p:nvPr/>
        </p:nvSpPr>
        <p:spPr>
          <a:xfrm>
            <a:off x="5233511" y="1520851"/>
            <a:ext cx="1747390" cy="381000"/>
          </a:xfrm>
          <a:prstGeom prst="roundRect">
            <a:avLst>
              <a:gd name="adj" fmla="val 50000"/>
            </a:avLst>
          </a:prstGeom>
          <a:noFill/>
          <a:ln w="12700" cap="rnd">
            <a:solidFill>
              <a:schemeClr val="bg1">
                <a:alpha val="2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r>
              <a:rPr lang="en-US" sz="1400" spc="30" dirty="0">
                <a:solidFill>
                  <a:srgbClr val="FFFFFF"/>
                </a:solidFill>
                <a:latin typeface="Darker Grotesque" pitchFamily="2" charset="0"/>
                <a:cs typeface="Poppins SemiBold" panose="00000700000000000000" pitchFamily="2" charset="0"/>
              </a:rPr>
              <a:t>Social Engagement</a:t>
            </a:r>
            <a:endParaRPr lang="en-GB" sz="1400" spc="30" dirty="0">
              <a:solidFill>
                <a:srgbClr val="FFFFFF"/>
              </a:solidFill>
              <a:latin typeface="Darker Grotesque" pitchFamily="2" charset="0"/>
              <a:cs typeface="Poppins SemiBold" panose="00000700000000000000" pitchFamily="2" charset="0"/>
            </a:endParaRPr>
          </a:p>
        </p:txBody>
      </p:sp>
      <p:pic>
        <p:nvPicPr>
          <p:cNvPr id="5" name="Picture 4" descr="A close-up of a logo&#10;&#10;AI-generated content may be incorrect.">
            <a:extLst>
              <a:ext uri="{FF2B5EF4-FFF2-40B4-BE49-F238E27FC236}">
                <a16:creationId xmlns:a16="http://schemas.microsoft.com/office/drawing/2014/main" id="{00E8DBC2-7E2F-F395-A151-B6EE0DC67D5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523782" y="5974268"/>
            <a:ext cx="505929" cy="632979"/>
          </a:xfrm>
          <a:prstGeom prst="rect">
            <a:avLst/>
          </a:prstGeom>
        </p:spPr>
      </p:pic>
      <p:pic>
        <p:nvPicPr>
          <p:cNvPr id="1026" name="Picture 2" descr="Wyzr: Meet Friends 40+ - Apps on Google ...">
            <a:extLst>
              <a:ext uri="{FF2B5EF4-FFF2-40B4-BE49-F238E27FC236}">
                <a16:creationId xmlns:a16="http://schemas.microsoft.com/office/drawing/2014/main" id="{3713F106-079B-EB82-BBDD-737A1C79B74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81680" y="4517585"/>
            <a:ext cx="772597" cy="77259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close-up of a logo&#10;&#10;AI-generated content may be incorrect.">
            <a:extLst>
              <a:ext uri="{FF2B5EF4-FFF2-40B4-BE49-F238E27FC236}">
                <a16:creationId xmlns:a16="http://schemas.microsoft.com/office/drawing/2014/main" id="{6CB7C2B6-3BD0-F376-D48B-5B8DD3B4305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76345" y="2348619"/>
            <a:ext cx="751534" cy="940261"/>
          </a:xfrm>
          <a:prstGeom prst="rect">
            <a:avLst/>
          </a:prstGeom>
        </p:spPr>
      </p:pic>
      <p:pic>
        <p:nvPicPr>
          <p:cNvPr id="1030" name="Picture 6" descr="Habitica: Gamify Your Tasks - Apps on Google Play">
            <a:extLst>
              <a:ext uri="{FF2B5EF4-FFF2-40B4-BE49-F238E27FC236}">
                <a16:creationId xmlns:a16="http://schemas.microsoft.com/office/drawing/2014/main" id="{E5CDEEC7-EE3A-E99E-194B-65ED468F706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81680" y="2516282"/>
            <a:ext cx="772598" cy="77259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rofile for LinkedIn">
            <a:extLst>
              <a:ext uri="{FF2B5EF4-FFF2-40B4-BE49-F238E27FC236}">
                <a16:creationId xmlns:a16="http://schemas.microsoft.com/office/drawing/2014/main" id="{4FA1FDAF-259D-594C-4F77-35D914E0C16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37723" y="4544916"/>
            <a:ext cx="772595" cy="772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05643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9"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dissolve">
                                      <p:cBhvr>
                                        <p:cTn id="11" dur="500"/>
                                        <p:tgtEl>
                                          <p:spTgt spid="5"/>
                                        </p:tgtEl>
                                      </p:cBhvr>
                                    </p:animEffect>
                                  </p:childTnLst>
                                </p:cTn>
                              </p:par>
                              <p:par>
                                <p:cTn id="12" presetID="2" presetClass="entr" presetSubtype="4"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ppt_x</p:attrName>
                                        </p:attrNameLst>
                                      </p:cBhvr>
                                      <p:tavLst>
                                        <p:tav tm="0">
                                          <p:val>
                                            <p:strVal val="#ppt_x"/>
                                          </p:val>
                                        </p:tav>
                                        <p:tav tm="100000">
                                          <p:val>
                                            <p:strVal val="#ppt_x"/>
                                          </p:val>
                                        </p:tav>
                                      </p:tavLst>
                                    </p:anim>
                                    <p:anim calcmode="lin" valueType="num">
                                      <p:cBhvr additive="base">
                                        <p:cTn id="15" dur="500" fill="hold"/>
                                        <p:tgtEl>
                                          <p:spTgt spid="5"/>
                                        </p:tgtEl>
                                        <p:attrNameLst>
                                          <p:attrName>ppt_y</p:attrName>
                                        </p:attrNameLst>
                                      </p:cBhvr>
                                      <p:tavLst>
                                        <p:tav tm="0">
                                          <p:val>
                                            <p:strVal val="1+#ppt_h/2"/>
                                          </p:val>
                                        </p:tav>
                                        <p:tav tm="100000">
                                          <p:val>
                                            <p:strVal val="#ppt_y"/>
                                          </p:val>
                                        </p:tav>
                                      </p:tavLst>
                                    </p:anim>
                                  </p:childTnLst>
                                </p:cTn>
                              </p:par>
                              <p:par>
                                <p:cTn id="16" presetID="2" presetClass="entr" presetSubtype="1"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ppt_x"/>
                                          </p:val>
                                        </p:tav>
                                        <p:tav tm="100000">
                                          <p:val>
                                            <p:strVal val="#ppt_x"/>
                                          </p:val>
                                        </p:tav>
                                      </p:tavLst>
                                    </p:anim>
                                    <p:anim calcmode="lin" valueType="num">
                                      <p:cBhvr additive="base">
                                        <p:cTn id="19" dur="500" fill="hold"/>
                                        <p:tgtEl>
                                          <p:spTgt spid="8"/>
                                        </p:tgtEl>
                                        <p:attrNameLst>
                                          <p:attrName>ppt_y</p:attrName>
                                        </p:attrNameLst>
                                      </p:cBhvr>
                                      <p:tavLst>
                                        <p:tav tm="0">
                                          <p:val>
                                            <p:strVal val="0-#ppt_h/2"/>
                                          </p:val>
                                        </p:tav>
                                        <p:tav tm="100000">
                                          <p:val>
                                            <p:strVal val="#ppt_y"/>
                                          </p:val>
                                        </p:tav>
                                      </p:tavLst>
                                    </p:anim>
                                  </p:childTnLst>
                                </p:cTn>
                              </p:par>
                              <p:par>
                                <p:cTn id="20" presetID="9"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par>
                                <p:cTn id="23" presetID="2" presetClass="entr" presetSubtype="4"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CCCD1D-24F7-7818-1BC1-F700A1D07CDD}"/>
              </a:ext>
            </a:extLst>
          </p:cNvPr>
          <p:cNvSpPr txBox="1"/>
          <p:nvPr/>
        </p:nvSpPr>
        <p:spPr>
          <a:xfrm>
            <a:off x="287867" y="2155061"/>
            <a:ext cx="11616266" cy="2547877"/>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9500" b="0" i="0" u="none" strike="noStrike" kern="0" cap="none" spc="0" normalizeH="0" baseline="0" noProof="0" dirty="0">
                <a:ln>
                  <a:noFill/>
                </a:ln>
                <a:solidFill>
                  <a:prstClr val="white"/>
                </a:solidFill>
                <a:effectLst/>
                <a:uLnTx/>
                <a:uFillTx/>
                <a:latin typeface="Darker Grotesque" pitchFamily="2" charset="0"/>
              </a:rPr>
              <a:t>Financials</a:t>
            </a:r>
          </a:p>
        </p:txBody>
      </p:sp>
      <p:grpSp>
        <p:nvGrpSpPr>
          <p:cNvPr id="49" name="Group 48">
            <a:extLst>
              <a:ext uri="{FF2B5EF4-FFF2-40B4-BE49-F238E27FC236}">
                <a16:creationId xmlns:a16="http://schemas.microsoft.com/office/drawing/2014/main" id="{E43BBAD4-DDA2-C048-EC2E-802923933637}"/>
              </a:ext>
            </a:extLst>
          </p:cNvPr>
          <p:cNvGrpSpPr/>
          <p:nvPr/>
        </p:nvGrpSpPr>
        <p:grpSpPr>
          <a:xfrm>
            <a:off x="273788" y="7252050"/>
            <a:ext cx="11670119" cy="5504381"/>
            <a:chOff x="273788" y="369986"/>
            <a:chExt cx="11670119" cy="5504381"/>
          </a:xfrm>
        </p:grpSpPr>
        <p:cxnSp>
          <p:nvCxnSpPr>
            <p:cNvPr id="50" name="Straight Connector 49">
              <a:extLst>
                <a:ext uri="{FF2B5EF4-FFF2-40B4-BE49-F238E27FC236}">
                  <a16:creationId xmlns:a16="http://schemas.microsoft.com/office/drawing/2014/main" id="{6524746B-8AC4-DFFA-F1FE-F0E0A7B3FCF7}"/>
                </a:ext>
              </a:extLst>
            </p:cNvPr>
            <p:cNvCxnSpPr/>
            <p:nvPr/>
          </p:nvCxnSpPr>
          <p:spPr>
            <a:xfrm>
              <a:off x="299484" y="62377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sp>
          <p:nvSpPr>
            <p:cNvPr id="51" name="TextBox 50">
              <a:extLst>
                <a:ext uri="{FF2B5EF4-FFF2-40B4-BE49-F238E27FC236}">
                  <a16:creationId xmlns:a16="http://schemas.microsoft.com/office/drawing/2014/main" id="{5D3E4C0F-FC3B-3A8A-75C7-116DD74F9252}"/>
                </a:ext>
              </a:extLst>
            </p:cNvPr>
            <p:cNvSpPr txBox="1"/>
            <p:nvPr/>
          </p:nvSpPr>
          <p:spPr>
            <a:xfrm>
              <a:off x="281745" y="969272"/>
              <a:ext cx="4046199" cy="493597"/>
            </a:xfrm>
            <a:prstGeom prst="rect">
              <a:avLst/>
            </a:prstGeom>
            <a:noFill/>
          </p:spPr>
          <p:txBody>
            <a:bodyPr wrap="square" lIns="0" tIns="0" rIns="0" bIns="0"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GB" sz="4800" dirty="0"/>
                <a:t>Key metrics</a:t>
              </a:r>
            </a:p>
          </p:txBody>
        </p:sp>
        <p:grpSp>
          <p:nvGrpSpPr>
            <p:cNvPr id="52" name="!!financials">
              <a:extLst>
                <a:ext uri="{FF2B5EF4-FFF2-40B4-BE49-F238E27FC236}">
                  <a16:creationId xmlns:a16="http://schemas.microsoft.com/office/drawing/2014/main" id="{3B59FD37-8508-1303-6FC3-435BBD48C8D1}"/>
                </a:ext>
              </a:extLst>
            </p:cNvPr>
            <p:cNvGrpSpPr/>
            <p:nvPr/>
          </p:nvGrpSpPr>
          <p:grpSpPr>
            <a:xfrm>
              <a:off x="5842207" y="369986"/>
              <a:ext cx="507586" cy="507586"/>
              <a:chOff x="8769760" y="4481585"/>
              <a:chExt cx="507586" cy="507586"/>
            </a:xfrm>
          </p:grpSpPr>
          <p:sp useBgFill="1">
            <p:nvSpPr>
              <p:cNvPr id="89" name="Oval 88">
                <a:extLst>
                  <a:ext uri="{FF2B5EF4-FFF2-40B4-BE49-F238E27FC236}">
                    <a16:creationId xmlns:a16="http://schemas.microsoft.com/office/drawing/2014/main" id="{71372494-2FEC-500A-89E2-DE135F027DE5}"/>
                  </a:ext>
                </a:extLst>
              </p:cNvPr>
              <p:cNvSpPr/>
              <p:nvPr/>
            </p:nvSpPr>
            <p:spPr>
              <a:xfrm>
                <a:off x="8769760" y="4481585"/>
                <a:ext cx="507586" cy="507586"/>
              </a:xfrm>
              <a:prstGeom prst="ellipse">
                <a:avLst/>
              </a:prstGeom>
              <a:blipFill dpi="0" rotWithShape="0">
                <a:blip r:embed="rId2">
                  <a:lum/>
                </a:blip>
                <a:srcRect/>
                <a:stretch>
                  <a:fillRect l="-1558498" t="-308702" r="-743459" b="-942399"/>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90" name="Graphic 89">
                <a:extLst>
                  <a:ext uri="{FF2B5EF4-FFF2-40B4-BE49-F238E27FC236}">
                    <a16:creationId xmlns:a16="http://schemas.microsoft.com/office/drawing/2014/main" id="{863D7D95-48C3-310F-2BD3-64D1BFAA248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97553" y="4609378"/>
                <a:ext cx="252000" cy="252000"/>
              </a:xfrm>
              <a:prstGeom prst="rect">
                <a:avLst/>
              </a:prstGeom>
            </p:spPr>
          </p:pic>
        </p:grpSp>
        <p:grpSp>
          <p:nvGrpSpPr>
            <p:cNvPr id="53" name="Group 52">
              <a:extLst>
                <a:ext uri="{FF2B5EF4-FFF2-40B4-BE49-F238E27FC236}">
                  <a16:creationId xmlns:a16="http://schemas.microsoft.com/office/drawing/2014/main" id="{7CAF66A9-96AC-2ED7-012B-5F2A5E40BF82}"/>
                </a:ext>
              </a:extLst>
            </p:cNvPr>
            <p:cNvGrpSpPr/>
            <p:nvPr/>
          </p:nvGrpSpPr>
          <p:grpSpPr>
            <a:xfrm>
              <a:off x="273788" y="1808361"/>
              <a:ext cx="3733402" cy="1920950"/>
              <a:chOff x="273788" y="1808361"/>
              <a:chExt cx="3733402" cy="1920950"/>
            </a:xfrm>
          </p:grpSpPr>
          <p:sp>
            <p:nvSpPr>
              <p:cNvPr id="84" name="Rectangle: Rounded Corners 83">
                <a:extLst>
                  <a:ext uri="{FF2B5EF4-FFF2-40B4-BE49-F238E27FC236}">
                    <a16:creationId xmlns:a16="http://schemas.microsoft.com/office/drawing/2014/main" id="{5BC76EC0-292D-FEF8-5B0F-2F5F25BDEA7F}"/>
                  </a:ext>
                </a:extLst>
              </p:cNvPr>
              <p:cNvSpPr/>
              <p:nvPr/>
            </p:nvSpPr>
            <p:spPr>
              <a:xfrm>
                <a:off x="273788" y="1808361"/>
                <a:ext cx="3733402" cy="1920950"/>
              </a:xfrm>
              <a:prstGeom prst="roundRect">
                <a:avLst>
                  <a:gd name="adj" fmla="val 12077"/>
                </a:avLst>
              </a:prstGeom>
              <a:solidFill>
                <a:schemeClr val="bg1">
                  <a:alpha val="70000"/>
                </a:schemeClr>
              </a:solidFill>
              <a:ln w="6350">
                <a:solidFill>
                  <a:schemeClr val="bg1"/>
                </a:solidFill>
              </a:ln>
              <a:effectLst>
                <a:outerShdw blurRad="1270000" algn="ctr" rotWithShape="0">
                  <a:schemeClr val="bg1"/>
                </a:outerShdw>
              </a:effectLst>
            </p:spPr>
            <p:txBody>
              <a:bodyPr vert="horz" wrap="none" lIns="91440" tIns="45720" rIns="91440" bIns="45720" rtlCol="0" anchor="ctr"/>
              <a:lstStyle/>
              <a:p>
                <a:pPr algn="ctr"/>
                <a:endParaRPr lang="en-GB" sz="2000" dirty="0">
                  <a:solidFill>
                    <a:schemeClr val="bg1"/>
                  </a:solidFill>
                  <a:latin typeface="Darker Grotesque SemiBold" pitchFamily="2" charset="0"/>
                </a:endParaRPr>
              </a:p>
            </p:txBody>
          </p:sp>
          <p:sp>
            <p:nvSpPr>
              <p:cNvPr id="85" name="Rectangle: Rounded Corners 13">
                <a:extLst>
                  <a:ext uri="{FF2B5EF4-FFF2-40B4-BE49-F238E27FC236}">
                    <a16:creationId xmlns:a16="http://schemas.microsoft.com/office/drawing/2014/main" id="{E3AF9191-3D95-0E36-2840-2048458978D5}"/>
                  </a:ext>
                </a:extLst>
              </p:cNvPr>
              <p:cNvSpPr/>
              <p:nvPr/>
            </p:nvSpPr>
            <p:spPr>
              <a:xfrm>
                <a:off x="3589231" y="3299098"/>
                <a:ext cx="259804" cy="259804"/>
              </a:xfrm>
              <a:prstGeom prst="roundRect">
                <a:avLst>
                  <a:gd name="adj" fmla="val 33110"/>
                </a:avLst>
              </a:prstGeom>
              <a:solidFill>
                <a:schemeClr val="bg1">
                  <a:alpha val="10000"/>
                </a:schemeClr>
              </a:solidFill>
              <a:ln w="6350" cap="rnd">
                <a:solidFill>
                  <a:srgbClr val="484525"/>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1400" b="1" spc="30" dirty="0">
                  <a:solidFill>
                    <a:srgbClr val="484525"/>
                  </a:solidFill>
                  <a:latin typeface="+mj-lt"/>
                  <a:cs typeface="Poppins SemiBold" panose="00000700000000000000" pitchFamily="2" charset="0"/>
                </a:endParaRPr>
              </a:p>
            </p:txBody>
          </p:sp>
          <p:pic>
            <p:nvPicPr>
              <p:cNvPr id="86" name="Graphic 85">
                <a:extLst>
                  <a:ext uri="{FF2B5EF4-FFF2-40B4-BE49-F238E27FC236}">
                    <a16:creationId xmlns:a16="http://schemas.microsoft.com/office/drawing/2014/main" id="{09510F35-2AFA-5BB8-CF02-6EE8FAC6A71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20981" y="3330848"/>
                <a:ext cx="196304" cy="196304"/>
              </a:xfrm>
              <a:prstGeom prst="rect">
                <a:avLst/>
              </a:prstGeom>
            </p:spPr>
          </p:pic>
          <p:sp>
            <p:nvSpPr>
              <p:cNvPr id="87" name="TextBox 86">
                <a:extLst>
                  <a:ext uri="{FF2B5EF4-FFF2-40B4-BE49-F238E27FC236}">
                    <a16:creationId xmlns:a16="http://schemas.microsoft.com/office/drawing/2014/main" id="{B71F0252-730E-57E7-E61B-67A7EABEF815}"/>
                  </a:ext>
                </a:extLst>
              </p:cNvPr>
              <p:cNvSpPr txBox="1"/>
              <p:nvPr/>
            </p:nvSpPr>
            <p:spPr>
              <a:xfrm>
                <a:off x="447761" y="2115461"/>
                <a:ext cx="2268250" cy="678776"/>
              </a:xfrm>
              <a:prstGeom prst="rect">
                <a:avLst/>
              </a:prstGeom>
              <a:noFill/>
            </p:spPr>
            <p:txBody>
              <a:bodyPr wrap="none" lIns="0" tIns="0" rIns="0" bIns="0"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pPr algn="l"/>
                <a:r>
                  <a:rPr lang="en-US" sz="6600" dirty="0">
                    <a:solidFill>
                      <a:srgbClr val="484525"/>
                    </a:solidFill>
                    <a:latin typeface="+mj-lt"/>
                  </a:rPr>
                  <a:t>$97M+</a:t>
                </a:r>
                <a:endParaRPr lang="en-GB" sz="6600" dirty="0">
                  <a:solidFill>
                    <a:srgbClr val="484525"/>
                  </a:solidFill>
                  <a:latin typeface="+mj-lt"/>
                </a:endParaRPr>
              </a:p>
            </p:txBody>
          </p:sp>
          <p:sp>
            <p:nvSpPr>
              <p:cNvPr id="88" name="TextBox 87">
                <a:extLst>
                  <a:ext uri="{FF2B5EF4-FFF2-40B4-BE49-F238E27FC236}">
                    <a16:creationId xmlns:a16="http://schemas.microsoft.com/office/drawing/2014/main" id="{D07F80E1-3D1A-7ABD-78F8-90CF1974A296}"/>
                  </a:ext>
                </a:extLst>
              </p:cNvPr>
              <p:cNvSpPr txBox="1"/>
              <p:nvPr/>
            </p:nvSpPr>
            <p:spPr>
              <a:xfrm>
                <a:off x="483843" y="2804363"/>
                <a:ext cx="3365192" cy="492443"/>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GB" dirty="0">
                    <a:solidFill>
                      <a:srgbClr val="484525"/>
                    </a:solidFill>
                  </a:rPr>
                  <a:t>Provide more information about this key performance indicator.</a:t>
                </a:r>
                <a:endParaRPr lang="en-US" dirty="0">
                  <a:solidFill>
                    <a:srgbClr val="484525"/>
                  </a:solidFill>
                </a:endParaRPr>
              </a:p>
            </p:txBody>
          </p:sp>
        </p:grpSp>
        <p:grpSp>
          <p:nvGrpSpPr>
            <p:cNvPr id="54" name="Group 53">
              <a:extLst>
                <a:ext uri="{FF2B5EF4-FFF2-40B4-BE49-F238E27FC236}">
                  <a16:creationId xmlns:a16="http://schemas.microsoft.com/office/drawing/2014/main" id="{8F730538-205D-0B9C-6D84-764818C7C438}"/>
                </a:ext>
              </a:extLst>
            </p:cNvPr>
            <p:cNvGrpSpPr/>
            <p:nvPr/>
          </p:nvGrpSpPr>
          <p:grpSpPr>
            <a:xfrm>
              <a:off x="8184812" y="1808361"/>
              <a:ext cx="3733402" cy="1920950"/>
              <a:chOff x="273788" y="1808361"/>
              <a:chExt cx="3733402" cy="1920950"/>
            </a:xfrm>
          </p:grpSpPr>
          <p:sp>
            <p:nvSpPr>
              <p:cNvPr id="79" name="Rectangle: Rounded Corners 78">
                <a:extLst>
                  <a:ext uri="{FF2B5EF4-FFF2-40B4-BE49-F238E27FC236}">
                    <a16:creationId xmlns:a16="http://schemas.microsoft.com/office/drawing/2014/main" id="{08ABCF36-F542-EE98-D8F0-68C4DF877444}"/>
                  </a:ext>
                </a:extLst>
              </p:cNvPr>
              <p:cNvSpPr/>
              <p:nvPr/>
            </p:nvSpPr>
            <p:spPr>
              <a:xfrm>
                <a:off x="273788" y="1808361"/>
                <a:ext cx="3733402" cy="1920950"/>
              </a:xfrm>
              <a:prstGeom prst="roundRect">
                <a:avLst>
                  <a:gd name="adj" fmla="val 12077"/>
                </a:avLst>
              </a:prstGeom>
              <a:solidFill>
                <a:schemeClr val="bg1">
                  <a:alpha val="20000"/>
                </a:schemeClr>
              </a:solidFill>
              <a:ln w="6350" cap="rnd">
                <a:solidFill>
                  <a:schemeClr val="bg1">
                    <a:alpha val="3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pc="30" dirty="0">
                  <a:solidFill>
                    <a:srgbClr val="FFFFFF"/>
                  </a:solidFill>
                  <a:latin typeface="Darker Grotesque" pitchFamily="2" charset="0"/>
                  <a:cs typeface="Poppins SemiBold" panose="00000700000000000000" pitchFamily="2" charset="0"/>
                </a:endParaRPr>
              </a:p>
            </p:txBody>
          </p:sp>
          <p:sp>
            <p:nvSpPr>
              <p:cNvPr id="80" name="Rectangle: Rounded Corners 13">
                <a:extLst>
                  <a:ext uri="{FF2B5EF4-FFF2-40B4-BE49-F238E27FC236}">
                    <a16:creationId xmlns:a16="http://schemas.microsoft.com/office/drawing/2014/main" id="{25D0B79D-92CC-C329-6E9D-192CA4764D63}"/>
                  </a:ext>
                </a:extLst>
              </p:cNvPr>
              <p:cNvSpPr/>
              <p:nvPr/>
            </p:nvSpPr>
            <p:spPr>
              <a:xfrm>
                <a:off x="3589231" y="3299098"/>
                <a:ext cx="259804" cy="259804"/>
              </a:xfrm>
              <a:prstGeom prst="roundRect">
                <a:avLst>
                  <a:gd name="adj" fmla="val 33110"/>
                </a:avLst>
              </a:prstGeom>
              <a:solidFill>
                <a:schemeClr val="bg1">
                  <a:alpha val="10000"/>
                </a:schemeClr>
              </a:solidFill>
              <a:ln w="6350" cap="rnd">
                <a:solidFill>
                  <a:schemeClr val="bg1">
                    <a:alpha val="3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1400" b="1" spc="30" dirty="0">
                  <a:solidFill>
                    <a:schemeClr val="bg1"/>
                  </a:solidFill>
                  <a:latin typeface="+mj-lt"/>
                  <a:cs typeface="Poppins SemiBold" panose="00000700000000000000" pitchFamily="2" charset="0"/>
                </a:endParaRPr>
              </a:p>
            </p:txBody>
          </p:sp>
          <p:pic>
            <p:nvPicPr>
              <p:cNvPr id="81" name="Graphic 80">
                <a:extLst>
                  <a:ext uri="{FF2B5EF4-FFF2-40B4-BE49-F238E27FC236}">
                    <a16:creationId xmlns:a16="http://schemas.microsoft.com/office/drawing/2014/main" id="{C3E8C9BB-137E-9B7B-13E9-009C5E0E10D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620981" y="3330848"/>
                <a:ext cx="196304" cy="196304"/>
              </a:xfrm>
              <a:prstGeom prst="rect">
                <a:avLst/>
              </a:prstGeom>
            </p:spPr>
          </p:pic>
          <p:sp>
            <p:nvSpPr>
              <p:cNvPr id="82" name="TextBox 81">
                <a:extLst>
                  <a:ext uri="{FF2B5EF4-FFF2-40B4-BE49-F238E27FC236}">
                    <a16:creationId xmlns:a16="http://schemas.microsoft.com/office/drawing/2014/main" id="{573ACBD1-7D9C-EC58-3E03-1197EFB6A7A8}"/>
                  </a:ext>
                </a:extLst>
              </p:cNvPr>
              <p:cNvSpPr txBox="1"/>
              <p:nvPr/>
            </p:nvSpPr>
            <p:spPr>
              <a:xfrm>
                <a:off x="447761" y="2115461"/>
                <a:ext cx="1384995" cy="678776"/>
              </a:xfrm>
              <a:prstGeom prst="rect">
                <a:avLst/>
              </a:prstGeom>
              <a:noFill/>
            </p:spPr>
            <p:txBody>
              <a:bodyPr wrap="none" lIns="0" tIns="0" rIns="0" bIns="0"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pPr algn="l"/>
                <a:r>
                  <a:rPr lang="en-US" sz="6600" dirty="0">
                    <a:latin typeface="+mj-lt"/>
                  </a:rPr>
                  <a:t>78%</a:t>
                </a:r>
                <a:endParaRPr lang="en-GB" sz="6600" dirty="0">
                  <a:latin typeface="+mj-lt"/>
                </a:endParaRPr>
              </a:p>
            </p:txBody>
          </p:sp>
          <p:sp>
            <p:nvSpPr>
              <p:cNvPr id="83" name="TextBox 82">
                <a:extLst>
                  <a:ext uri="{FF2B5EF4-FFF2-40B4-BE49-F238E27FC236}">
                    <a16:creationId xmlns:a16="http://schemas.microsoft.com/office/drawing/2014/main" id="{4DD689BD-3557-D487-6DE2-16F686914BB6}"/>
                  </a:ext>
                </a:extLst>
              </p:cNvPr>
              <p:cNvSpPr txBox="1"/>
              <p:nvPr/>
            </p:nvSpPr>
            <p:spPr>
              <a:xfrm>
                <a:off x="483843" y="2804363"/>
                <a:ext cx="3365192" cy="492443"/>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GB" dirty="0">
                    <a:solidFill>
                      <a:prstClr val="white">
                        <a:alpha val="50000"/>
                      </a:prstClr>
                    </a:solidFill>
                  </a:rPr>
                  <a:t>Provide more information about this key performance indicator.</a:t>
                </a:r>
                <a:endParaRPr lang="en-US" dirty="0">
                  <a:solidFill>
                    <a:prstClr val="white">
                      <a:alpha val="50000"/>
                    </a:prstClr>
                  </a:solidFill>
                </a:endParaRPr>
              </a:p>
            </p:txBody>
          </p:sp>
        </p:grpSp>
        <p:grpSp>
          <p:nvGrpSpPr>
            <p:cNvPr id="55" name="Group 54">
              <a:extLst>
                <a:ext uri="{FF2B5EF4-FFF2-40B4-BE49-F238E27FC236}">
                  <a16:creationId xmlns:a16="http://schemas.microsoft.com/office/drawing/2014/main" id="{69D12F26-4D99-1D29-4E84-0E99D4D2FD86}"/>
                </a:ext>
              </a:extLst>
            </p:cNvPr>
            <p:cNvGrpSpPr/>
            <p:nvPr/>
          </p:nvGrpSpPr>
          <p:grpSpPr>
            <a:xfrm>
              <a:off x="4229299" y="1808361"/>
              <a:ext cx="3733402" cy="1920950"/>
              <a:chOff x="273788" y="1808361"/>
              <a:chExt cx="3733402" cy="1920950"/>
            </a:xfrm>
          </p:grpSpPr>
          <p:sp>
            <p:nvSpPr>
              <p:cNvPr id="74" name="Rectangle: Rounded Corners 73">
                <a:extLst>
                  <a:ext uri="{FF2B5EF4-FFF2-40B4-BE49-F238E27FC236}">
                    <a16:creationId xmlns:a16="http://schemas.microsoft.com/office/drawing/2014/main" id="{DACF0A22-B500-6A9E-1D24-1C989F2F54FA}"/>
                  </a:ext>
                </a:extLst>
              </p:cNvPr>
              <p:cNvSpPr/>
              <p:nvPr/>
            </p:nvSpPr>
            <p:spPr>
              <a:xfrm>
                <a:off x="273788" y="1808361"/>
                <a:ext cx="3733402" cy="1920950"/>
              </a:xfrm>
              <a:prstGeom prst="roundRect">
                <a:avLst>
                  <a:gd name="adj" fmla="val 12077"/>
                </a:avLst>
              </a:prstGeom>
              <a:solidFill>
                <a:schemeClr val="bg1">
                  <a:alpha val="20000"/>
                </a:schemeClr>
              </a:solidFill>
              <a:ln w="6350" cap="rnd">
                <a:solidFill>
                  <a:schemeClr val="bg1">
                    <a:alpha val="3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pc="30" dirty="0">
                  <a:solidFill>
                    <a:srgbClr val="FFFFFF"/>
                  </a:solidFill>
                  <a:latin typeface="Darker Grotesque" pitchFamily="2" charset="0"/>
                  <a:cs typeface="Poppins SemiBold" panose="00000700000000000000" pitchFamily="2" charset="0"/>
                </a:endParaRPr>
              </a:p>
            </p:txBody>
          </p:sp>
          <p:sp>
            <p:nvSpPr>
              <p:cNvPr id="75" name="Rectangle: Rounded Corners 13">
                <a:extLst>
                  <a:ext uri="{FF2B5EF4-FFF2-40B4-BE49-F238E27FC236}">
                    <a16:creationId xmlns:a16="http://schemas.microsoft.com/office/drawing/2014/main" id="{7415F173-067C-E4A0-CD3B-0E27A0A8BE6F}"/>
                  </a:ext>
                </a:extLst>
              </p:cNvPr>
              <p:cNvSpPr/>
              <p:nvPr/>
            </p:nvSpPr>
            <p:spPr>
              <a:xfrm>
                <a:off x="3589231" y="3299098"/>
                <a:ext cx="259804" cy="259804"/>
              </a:xfrm>
              <a:prstGeom prst="roundRect">
                <a:avLst>
                  <a:gd name="adj" fmla="val 33110"/>
                </a:avLst>
              </a:prstGeom>
              <a:solidFill>
                <a:schemeClr val="bg1">
                  <a:alpha val="10000"/>
                </a:schemeClr>
              </a:solidFill>
              <a:ln w="6350" cap="rnd">
                <a:solidFill>
                  <a:schemeClr val="bg1">
                    <a:alpha val="3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1400" b="1" spc="30" dirty="0">
                  <a:solidFill>
                    <a:schemeClr val="bg1"/>
                  </a:solidFill>
                  <a:latin typeface="+mj-lt"/>
                  <a:cs typeface="Poppins SemiBold" panose="00000700000000000000" pitchFamily="2" charset="0"/>
                </a:endParaRPr>
              </a:p>
            </p:txBody>
          </p:sp>
          <p:pic>
            <p:nvPicPr>
              <p:cNvPr id="76" name="Graphic 75">
                <a:extLst>
                  <a:ext uri="{FF2B5EF4-FFF2-40B4-BE49-F238E27FC236}">
                    <a16:creationId xmlns:a16="http://schemas.microsoft.com/office/drawing/2014/main" id="{102F3937-8C80-D06A-DA95-C322C269639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620981" y="3330848"/>
                <a:ext cx="196304" cy="196304"/>
              </a:xfrm>
              <a:prstGeom prst="rect">
                <a:avLst/>
              </a:prstGeom>
            </p:spPr>
          </p:pic>
          <p:sp>
            <p:nvSpPr>
              <p:cNvPr id="77" name="TextBox 76">
                <a:extLst>
                  <a:ext uri="{FF2B5EF4-FFF2-40B4-BE49-F238E27FC236}">
                    <a16:creationId xmlns:a16="http://schemas.microsoft.com/office/drawing/2014/main" id="{E24BC47B-7759-3658-A1D3-F67E0BA0731F}"/>
                  </a:ext>
                </a:extLst>
              </p:cNvPr>
              <p:cNvSpPr txBox="1"/>
              <p:nvPr/>
            </p:nvSpPr>
            <p:spPr>
              <a:xfrm>
                <a:off x="447761" y="2115461"/>
                <a:ext cx="1112484" cy="678776"/>
              </a:xfrm>
              <a:prstGeom prst="rect">
                <a:avLst/>
              </a:prstGeom>
              <a:noFill/>
            </p:spPr>
            <p:txBody>
              <a:bodyPr wrap="none" lIns="0" tIns="0" rIns="0" bIns="0"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pPr algn="l"/>
                <a:r>
                  <a:rPr lang="en-US" sz="6600" dirty="0">
                    <a:latin typeface="+mj-lt"/>
                  </a:rPr>
                  <a:t>x10</a:t>
                </a:r>
                <a:endParaRPr lang="en-GB" sz="6600" dirty="0">
                  <a:latin typeface="+mj-lt"/>
                </a:endParaRPr>
              </a:p>
            </p:txBody>
          </p:sp>
          <p:sp>
            <p:nvSpPr>
              <p:cNvPr id="78" name="TextBox 77">
                <a:extLst>
                  <a:ext uri="{FF2B5EF4-FFF2-40B4-BE49-F238E27FC236}">
                    <a16:creationId xmlns:a16="http://schemas.microsoft.com/office/drawing/2014/main" id="{A71B6A03-79E7-432C-584D-A3A2C81BEBAA}"/>
                  </a:ext>
                </a:extLst>
              </p:cNvPr>
              <p:cNvSpPr txBox="1"/>
              <p:nvPr/>
            </p:nvSpPr>
            <p:spPr>
              <a:xfrm>
                <a:off x="483843" y="2804363"/>
                <a:ext cx="3365192" cy="492443"/>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GB" dirty="0">
                    <a:solidFill>
                      <a:prstClr val="white">
                        <a:alpha val="50000"/>
                      </a:prstClr>
                    </a:solidFill>
                  </a:rPr>
                  <a:t>Provide more information about this key performance indicator.</a:t>
                </a:r>
                <a:endParaRPr lang="en-US" dirty="0">
                  <a:solidFill>
                    <a:prstClr val="white">
                      <a:alpha val="50000"/>
                    </a:prstClr>
                  </a:solidFill>
                </a:endParaRPr>
              </a:p>
            </p:txBody>
          </p:sp>
        </p:grpSp>
        <p:grpSp>
          <p:nvGrpSpPr>
            <p:cNvPr id="56" name="Group 55">
              <a:extLst>
                <a:ext uri="{FF2B5EF4-FFF2-40B4-BE49-F238E27FC236}">
                  <a16:creationId xmlns:a16="http://schemas.microsoft.com/office/drawing/2014/main" id="{6C27343D-FB93-35AF-40F5-BDAFC5AAD602}"/>
                </a:ext>
              </a:extLst>
            </p:cNvPr>
            <p:cNvGrpSpPr/>
            <p:nvPr/>
          </p:nvGrpSpPr>
          <p:grpSpPr>
            <a:xfrm>
              <a:off x="273788" y="3953417"/>
              <a:ext cx="3733402" cy="1920950"/>
              <a:chOff x="273788" y="1808361"/>
              <a:chExt cx="3733402" cy="1920950"/>
            </a:xfrm>
          </p:grpSpPr>
          <p:sp>
            <p:nvSpPr>
              <p:cNvPr id="69" name="Rectangle: Rounded Corners 68">
                <a:extLst>
                  <a:ext uri="{FF2B5EF4-FFF2-40B4-BE49-F238E27FC236}">
                    <a16:creationId xmlns:a16="http://schemas.microsoft.com/office/drawing/2014/main" id="{01131CC5-EF57-894E-506A-CD8454BC3355}"/>
                  </a:ext>
                </a:extLst>
              </p:cNvPr>
              <p:cNvSpPr/>
              <p:nvPr/>
            </p:nvSpPr>
            <p:spPr>
              <a:xfrm>
                <a:off x="273788" y="1808361"/>
                <a:ext cx="3733402" cy="1920950"/>
              </a:xfrm>
              <a:prstGeom prst="roundRect">
                <a:avLst>
                  <a:gd name="adj" fmla="val 12077"/>
                </a:avLst>
              </a:prstGeom>
              <a:solidFill>
                <a:schemeClr val="bg1">
                  <a:alpha val="20000"/>
                </a:schemeClr>
              </a:solidFill>
              <a:ln w="6350" cap="rnd">
                <a:solidFill>
                  <a:schemeClr val="bg1">
                    <a:alpha val="3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pc="30" dirty="0">
                  <a:solidFill>
                    <a:srgbClr val="FFFFFF"/>
                  </a:solidFill>
                  <a:latin typeface="Darker Grotesque" pitchFamily="2" charset="0"/>
                  <a:cs typeface="Poppins SemiBold" panose="00000700000000000000" pitchFamily="2" charset="0"/>
                </a:endParaRPr>
              </a:p>
            </p:txBody>
          </p:sp>
          <p:sp>
            <p:nvSpPr>
              <p:cNvPr id="70" name="Rectangle: Rounded Corners 13">
                <a:extLst>
                  <a:ext uri="{FF2B5EF4-FFF2-40B4-BE49-F238E27FC236}">
                    <a16:creationId xmlns:a16="http://schemas.microsoft.com/office/drawing/2014/main" id="{6DF9CE2C-E6A8-4A28-F2CE-FE50AEC369F9}"/>
                  </a:ext>
                </a:extLst>
              </p:cNvPr>
              <p:cNvSpPr/>
              <p:nvPr/>
            </p:nvSpPr>
            <p:spPr>
              <a:xfrm>
                <a:off x="3589231" y="3299098"/>
                <a:ext cx="259804" cy="259804"/>
              </a:xfrm>
              <a:prstGeom prst="roundRect">
                <a:avLst>
                  <a:gd name="adj" fmla="val 33110"/>
                </a:avLst>
              </a:prstGeom>
              <a:solidFill>
                <a:schemeClr val="bg1">
                  <a:alpha val="10000"/>
                </a:schemeClr>
              </a:solidFill>
              <a:ln w="6350" cap="rnd">
                <a:solidFill>
                  <a:schemeClr val="bg1">
                    <a:alpha val="3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1400" b="1" spc="30" dirty="0">
                  <a:solidFill>
                    <a:schemeClr val="bg1"/>
                  </a:solidFill>
                  <a:latin typeface="+mj-lt"/>
                  <a:cs typeface="Poppins SemiBold" panose="00000700000000000000" pitchFamily="2" charset="0"/>
                </a:endParaRPr>
              </a:p>
            </p:txBody>
          </p:sp>
          <p:pic>
            <p:nvPicPr>
              <p:cNvPr id="71" name="Graphic 70">
                <a:extLst>
                  <a:ext uri="{FF2B5EF4-FFF2-40B4-BE49-F238E27FC236}">
                    <a16:creationId xmlns:a16="http://schemas.microsoft.com/office/drawing/2014/main" id="{A397A33A-5C33-4B22-0820-9A5D8452B2D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620981" y="3330848"/>
                <a:ext cx="196304" cy="196304"/>
              </a:xfrm>
              <a:prstGeom prst="rect">
                <a:avLst/>
              </a:prstGeom>
            </p:spPr>
          </p:pic>
          <p:sp>
            <p:nvSpPr>
              <p:cNvPr id="72" name="TextBox 71">
                <a:extLst>
                  <a:ext uri="{FF2B5EF4-FFF2-40B4-BE49-F238E27FC236}">
                    <a16:creationId xmlns:a16="http://schemas.microsoft.com/office/drawing/2014/main" id="{D8B92B2D-5231-3CC0-1091-C7C78B0D9346}"/>
                  </a:ext>
                </a:extLst>
              </p:cNvPr>
              <p:cNvSpPr txBox="1"/>
              <p:nvPr/>
            </p:nvSpPr>
            <p:spPr>
              <a:xfrm>
                <a:off x="447761" y="2115461"/>
                <a:ext cx="1412246" cy="678776"/>
              </a:xfrm>
              <a:prstGeom prst="rect">
                <a:avLst/>
              </a:prstGeom>
              <a:noFill/>
            </p:spPr>
            <p:txBody>
              <a:bodyPr wrap="none" lIns="0" tIns="0" rIns="0" bIns="0"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pPr algn="l"/>
                <a:r>
                  <a:rPr lang="en-US" sz="6600" dirty="0">
                    <a:latin typeface="+mj-lt"/>
                  </a:rPr>
                  <a:t>99%</a:t>
                </a:r>
                <a:endParaRPr lang="en-GB" sz="6600" dirty="0">
                  <a:latin typeface="+mj-lt"/>
                </a:endParaRPr>
              </a:p>
            </p:txBody>
          </p:sp>
          <p:sp>
            <p:nvSpPr>
              <p:cNvPr id="73" name="TextBox 72">
                <a:extLst>
                  <a:ext uri="{FF2B5EF4-FFF2-40B4-BE49-F238E27FC236}">
                    <a16:creationId xmlns:a16="http://schemas.microsoft.com/office/drawing/2014/main" id="{50451393-37A2-55DA-1FC9-3FD0C3F4D5BD}"/>
                  </a:ext>
                </a:extLst>
              </p:cNvPr>
              <p:cNvSpPr txBox="1"/>
              <p:nvPr/>
            </p:nvSpPr>
            <p:spPr>
              <a:xfrm>
                <a:off x="483843" y="2804363"/>
                <a:ext cx="3365192" cy="492443"/>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GB" dirty="0">
                    <a:solidFill>
                      <a:prstClr val="white">
                        <a:alpha val="50000"/>
                      </a:prstClr>
                    </a:solidFill>
                  </a:rPr>
                  <a:t>Provide more information about this key performance indicator.</a:t>
                </a:r>
                <a:endParaRPr lang="en-US" dirty="0">
                  <a:solidFill>
                    <a:prstClr val="white">
                      <a:alpha val="50000"/>
                    </a:prstClr>
                  </a:solidFill>
                </a:endParaRPr>
              </a:p>
            </p:txBody>
          </p:sp>
        </p:grpSp>
        <p:grpSp>
          <p:nvGrpSpPr>
            <p:cNvPr id="57" name="Group 56">
              <a:extLst>
                <a:ext uri="{FF2B5EF4-FFF2-40B4-BE49-F238E27FC236}">
                  <a16:creationId xmlns:a16="http://schemas.microsoft.com/office/drawing/2014/main" id="{73D45429-700C-28FE-C3C7-7C70A049C3E9}"/>
                </a:ext>
              </a:extLst>
            </p:cNvPr>
            <p:cNvGrpSpPr/>
            <p:nvPr/>
          </p:nvGrpSpPr>
          <p:grpSpPr>
            <a:xfrm>
              <a:off x="8184812" y="3953417"/>
              <a:ext cx="3733402" cy="1920950"/>
              <a:chOff x="273788" y="1808361"/>
              <a:chExt cx="3733402" cy="1920950"/>
            </a:xfrm>
          </p:grpSpPr>
          <p:sp>
            <p:nvSpPr>
              <p:cNvPr id="64" name="Rectangle: Rounded Corners 63">
                <a:extLst>
                  <a:ext uri="{FF2B5EF4-FFF2-40B4-BE49-F238E27FC236}">
                    <a16:creationId xmlns:a16="http://schemas.microsoft.com/office/drawing/2014/main" id="{BA23A1AB-1FAC-0038-3E32-052EC9101E5D}"/>
                  </a:ext>
                </a:extLst>
              </p:cNvPr>
              <p:cNvSpPr/>
              <p:nvPr/>
            </p:nvSpPr>
            <p:spPr>
              <a:xfrm>
                <a:off x="273788" y="1808361"/>
                <a:ext cx="3733402" cy="1920950"/>
              </a:xfrm>
              <a:prstGeom prst="roundRect">
                <a:avLst>
                  <a:gd name="adj" fmla="val 12077"/>
                </a:avLst>
              </a:prstGeom>
              <a:solidFill>
                <a:schemeClr val="bg1">
                  <a:alpha val="20000"/>
                </a:schemeClr>
              </a:solidFill>
              <a:ln w="6350" cap="rnd">
                <a:solidFill>
                  <a:schemeClr val="bg1">
                    <a:alpha val="3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pc="30" dirty="0">
                  <a:solidFill>
                    <a:srgbClr val="FFFFFF"/>
                  </a:solidFill>
                  <a:latin typeface="Darker Grotesque" pitchFamily="2" charset="0"/>
                  <a:cs typeface="Poppins SemiBold" panose="00000700000000000000" pitchFamily="2" charset="0"/>
                </a:endParaRPr>
              </a:p>
            </p:txBody>
          </p:sp>
          <p:sp>
            <p:nvSpPr>
              <p:cNvPr id="65" name="Rectangle: Rounded Corners 13">
                <a:extLst>
                  <a:ext uri="{FF2B5EF4-FFF2-40B4-BE49-F238E27FC236}">
                    <a16:creationId xmlns:a16="http://schemas.microsoft.com/office/drawing/2014/main" id="{A305DC71-9C50-8968-0212-9CB21DE755B9}"/>
                  </a:ext>
                </a:extLst>
              </p:cNvPr>
              <p:cNvSpPr/>
              <p:nvPr/>
            </p:nvSpPr>
            <p:spPr>
              <a:xfrm>
                <a:off x="3589231" y="3299098"/>
                <a:ext cx="259804" cy="259804"/>
              </a:xfrm>
              <a:prstGeom prst="roundRect">
                <a:avLst>
                  <a:gd name="adj" fmla="val 33110"/>
                </a:avLst>
              </a:prstGeom>
              <a:solidFill>
                <a:schemeClr val="bg1">
                  <a:alpha val="10000"/>
                </a:schemeClr>
              </a:solidFill>
              <a:ln w="6350" cap="rnd">
                <a:solidFill>
                  <a:schemeClr val="bg1">
                    <a:alpha val="3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1400" b="1" spc="30" dirty="0">
                  <a:solidFill>
                    <a:schemeClr val="bg1"/>
                  </a:solidFill>
                  <a:latin typeface="+mj-lt"/>
                  <a:cs typeface="Poppins SemiBold" panose="00000700000000000000" pitchFamily="2" charset="0"/>
                </a:endParaRPr>
              </a:p>
            </p:txBody>
          </p:sp>
          <p:pic>
            <p:nvPicPr>
              <p:cNvPr id="66" name="Graphic 65">
                <a:extLst>
                  <a:ext uri="{FF2B5EF4-FFF2-40B4-BE49-F238E27FC236}">
                    <a16:creationId xmlns:a16="http://schemas.microsoft.com/office/drawing/2014/main" id="{A799058B-7BA4-66A1-0363-B821416D755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620981" y="3330848"/>
                <a:ext cx="196304" cy="196304"/>
              </a:xfrm>
              <a:prstGeom prst="rect">
                <a:avLst/>
              </a:prstGeom>
            </p:spPr>
          </p:pic>
          <p:sp>
            <p:nvSpPr>
              <p:cNvPr id="67" name="TextBox 66">
                <a:extLst>
                  <a:ext uri="{FF2B5EF4-FFF2-40B4-BE49-F238E27FC236}">
                    <a16:creationId xmlns:a16="http://schemas.microsoft.com/office/drawing/2014/main" id="{0A5EA7DE-034D-EA3E-67E6-D11682B8A78C}"/>
                  </a:ext>
                </a:extLst>
              </p:cNvPr>
              <p:cNvSpPr txBox="1"/>
              <p:nvPr/>
            </p:nvSpPr>
            <p:spPr>
              <a:xfrm>
                <a:off x="447761" y="2115461"/>
                <a:ext cx="1949252" cy="678776"/>
              </a:xfrm>
              <a:prstGeom prst="rect">
                <a:avLst/>
              </a:prstGeom>
              <a:noFill/>
            </p:spPr>
            <p:txBody>
              <a:bodyPr wrap="none" lIns="0" tIns="0" rIns="0" bIns="0"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pPr algn="l"/>
                <a:r>
                  <a:rPr lang="en-US" sz="6600" dirty="0">
                    <a:latin typeface="+mj-lt"/>
                  </a:rPr>
                  <a:t>$1.7M</a:t>
                </a:r>
                <a:endParaRPr lang="en-GB" sz="6600" dirty="0">
                  <a:latin typeface="+mj-lt"/>
                </a:endParaRPr>
              </a:p>
            </p:txBody>
          </p:sp>
          <p:sp>
            <p:nvSpPr>
              <p:cNvPr id="68" name="TextBox 67">
                <a:extLst>
                  <a:ext uri="{FF2B5EF4-FFF2-40B4-BE49-F238E27FC236}">
                    <a16:creationId xmlns:a16="http://schemas.microsoft.com/office/drawing/2014/main" id="{AADFA3A1-3A8A-7E32-8952-1E14FF68B99B}"/>
                  </a:ext>
                </a:extLst>
              </p:cNvPr>
              <p:cNvSpPr txBox="1"/>
              <p:nvPr/>
            </p:nvSpPr>
            <p:spPr>
              <a:xfrm>
                <a:off x="483843" y="2804363"/>
                <a:ext cx="3365192" cy="492443"/>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GB" dirty="0">
                    <a:solidFill>
                      <a:prstClr val="white">
                        <a:alpha val="50000"/>
                      </a:prstClr>
                    </a:solidFill>
                  </a:rPr>
                  <a:t>Provide more information about this key performance indicator.</a:t>
                </a:r>
                <a:endParaRPr lang="en-US" dirty="0">
                  <a:solidFill>
                    <a:prstClr val="white">
                      <a:alpha val="50000"/>
                    </a:prstClr>
                  </a:solidFill>
                </a:endParaRPr>
              </a:p>
            </p:txBody>
          </p:sp>
        </p:grpSp>
        <p:grpSp>
          <p:nvGrpSpPr>
            <p:cNvPr id="58" name="Group 57">
              <a:extLst>
                <a:ext uri="{FF2B5EF4-FFF2-40B4-BE49-F238E27FC236}">
                  <a16:creationId xmlns:a16="http://schemas.microsoft.com/office/drawing/2014/main" id="{7C05DF1C-9FEC-2AAA-C749-6F7F61BDAAB6}"/>
                </a:ext>
              </a:extLst>
            </p:cNvPr>
            <p:cNvGrpSpPr/>
            <p:nvPr/>
          </p:nvGrpSpPr>
          <p:grpSpPr>
            <a:xfrm>
              <a:off x="4229299" y="3953417"/>
              <a:ext cx="3733402" cy="1920950"/>
              <a:chOff x="273788" y="1808361"/>
              <a:chExt cx="3733402" cy="1920950"/>
            </a:xfrm>
          </p:grpSpPr>
          <p:sp>
            <p:nvSpPr>
              <p:cNvPr id="59" name="Rectangle: Rounded Corners 58">
                <a:extLst>
                  <a:ext uri="{FF2B5EF4-FFF2-40B4-BE49-F238E27FC236}">
                    <a16:creationId xmlns:a16="http://schemas.microsoft.com/office/drawing/2014/main" id="{C62122E4-73FC-083C-3CE7-2D9F394E4CBE}"/>
                  </a:ext>
                </a:extLst>
              </p:cNvPr>
              <p:cNvSpPr/>
              <p:nvPr/>
            </p:nvSpPr>
            <p:spPr>
              <a:xfrm>
                <a:off x="273788" y="1808361"/>
                <a:ext cx="3733402" cy="1920950"/>
              </a:xfrm>
              <a:prstGeom prst="roundRect">
                <a:avLst>
                  <a:gd name="adj" fmla="val 12077"/>
                </a:avLst>
              </a:prstGeom>
              <a:solidFill>
                <a:schemeClr val="bg1">
                  <a:alpha val="20000"/>
                </a:schemeClr>
              </a:solidFill>
              <a:ln w="6350" cap="rnd">
                <a:solidFill>
                  <a:schemeClr val="bg1">
                    <a:alpha val="3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pc="30" dirty="0">
                  <a:solidFill>
                    <a:srgbClr val="FFFFFF"/>
                  </a:solidFill>
                  <a:latin typeface="Darker Grotesque" pitchFamily="2" charset="0"/>
                  <a:cs typeface="Poppins SemiBold" panose="00000700000000000000" pitchFamily="2" charset="0"/>
                </a:endParaRPr>
              </a:p>
            </p:txBody>
          </p:sp>
          <p:sp>
            <p:nvSpPr>
              <p:cNvPr id="60" name="Rectangle: Rounded Corners 13">
                <a:extLst>
                  <a:ext uri="{FF2B5EF4-FFF2-40B4-BE49-F238E27FC236}">
                    <a16:creationId xmlns:a16="http://schemas.microsoft.com/office/drawing/2014/main" id="{74358380-ACA3-DD5E-E3F9-2C603522B922}"/>
                  </a:ext>
                </a:extLst>
              </p:cNvPr>
              <p:cNvSpPr/>
              <p:nvPr/>
            </p:nvSpPr>
            <p:spPr>
              <a:xfrm>
                <a:off x="3589231" y="3299098"/>
                <a:ext cx="259804" cy="259804"/>
              </a:xfrm>
              <a:prstGeom prst="roundRect">
                <a:avLst>
                  <a:gd name="adj" fmla="val 33110"/>
                </a:avLst>
              </a:prstGeom>
              <a:solidFill>
                <a:schemeClr val="bg1">
                  <a:alpha val="10000"/>
                </a:schemeClr>
              </a:solidFill>
              <a:ln w="6350" cap="rnd">
                <a:solidFill>
                  <a:schemeClr val="bg1">
                    <a:alpha val="3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1400" b="1" spc="30" dirty="0">
                  <a:solidFill>
                    <a:schemeClr val="bg1"/>
                  </a:solidFill>
                  <a:latin typeface="+mj-lt"/>
                  <a:cs typeface="Poppins SemiBold" panose="00000700000000000000" pitchFamily="2" charset="0"/>
                </a:endParaRPr>
              </a:p>
            </p:txBody>
          </p:sp>
          <p:pic>
            <p:nvPicPr>
              <p:cNvPr id="61" name="Graphic 60">
                <a:extLst>
                  <a:ext uri="{FF2B5EF4-FFF2-40B4-BE49-F238E27FC236}">
                    <a16:creationId xmlns:a16="http://schemas.microsoft.com/office/drawing/2014/main" id="{F82CDB29-1387-C5D2-CF9A-76C7A0D1B70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620981" y="3330848"/>
                <a:ext cx="196304" cy="196304"/>
              </a:xfrm>
              <a:prstGeom prst="rect">
                <a:avLst/>
              </a:prstGeom>
            </p:spPr>
          </p:pic>
          <p:sp>
            <p:nvSpPr>
              <p:cNvPr id="62" name="TextBox 61">
                <a:extLst>
                  <a:ext uri="{FF2B5EF4-FFF2-40B4-BE49-F238E27FC236}">
                    <a16:creationId xmlns:a16="http://schemas.microsoft.com/office/drawing/2014/main" id="{3469D3ED-46E6-5564-50EA-6D819A2F0C96}"/>
                  </a:ext>
                </a:extLst>
              </p:cNvPr>
              <p:cNvSpPr txBox="1"/>
              <p:nvPr/>
            </p:nvSpPr>
            <p:spPr>
              <a:xfrm>
                <a:off x="447761" y="2115461"/>
                <a:ext cx="2088713" cy="678776"/>
              </a:xfrm>
              <a:prstGeom prst="rect">
                <a:avLst/>
              </a:prstGeom>
              <a:noFill/>
            </p:spPr>
            <p:txBody>
              <a:bodyPr wrap="none" lIns="0" tIns="0" rIns="0" bIns="0"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pPr algn="l"/>
                <a:r>
                  <a:rPr lang="en-US" sz="6600" dirty="0">
                    <a:latin typeface="+mj-lt"/>
                  </a:rPr>
                  <a:t>770K+</a:t>
                </a:r>
                <a:endParaRPr lang="en-GB" sz="6600" dirty="0">
                  <a:latin typeface="+mj-lt"/>
                </a:endParaRPr>
              </a:p>
            </p:txBody>
          </p:sp>
          <p:sp>
            <p:nvSpPr>
              <p:cNvPr id="63" name="TextBox 62">
                <a:extLst>
                  <a:ext uri="{FF2B5EF4-FFF2-40B4-BE49-F238E27FC236}">
                    <a16:creationId xmlns:a16="http://schemas.microsoft.com/office/drawing/2014/main" id="{15E7E710-06FF-39C6-2C66-90FEF65B31E8}"/>
                  </a:ext>
                </a:extLst>
              </p:cNvPr>
              <p:cNvSpPr txBox="1"/>
              <p:nvPr/>
            </p:nvSpPr>
            <p:spPr>
              <a:xfrm>
                <a:off x="483843" y="2804363"/>
                <a:ext cx="3365192" cy="492443"/>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GB" dirty="0">
                    <a:solidFill>
                      <a:prstClr val="white">
                        <a:alpha val="50000"/>
                      </a:prstClr>
                    </a:solidFill>
                  </a:rPr>
                  <a:t>Provide more information about this key performance indicator.</a:t>
                </a:r>
                <a:endParaRPr lang="en-US" dirty="0">
                  <a:solidFill>
                    <a:prstClr val="white">
                      <a:alpha val="50000"/>
                    </a:prstClr>
                  </a:solidFill>
                </a:endParaRPr>
              </a:p>
            </p:txBody>
          </p:sp>
        </p:grpSp>
      </p:grpSp>
      <p:pic>
        <p:nvPicPr>
          <p:cNvPr id="2" name="Picture 1" descr="A close-up of a logo&#10;&#10;AI-generated content may be incorrect.">
            <a:extLst>
              <a:ext uri="{FF2B5EF4-FFF2-40B4-BE49-F238E27FC236}">
                <a16:creationId xmlns:a16="http://schemas.microsoft.com/office/drawing/2014/main" id="{213E0DC9-36EB-744B-0540-EBABF043218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523782" y="5974268"/>
            <a:ext cx="505929" cy="632979"/>
          </a:xfrm>
          <a:prstGeom prst="rect">
            <a:avLst/>
          </a:prstGeom>
        </p:spPr>
      </p:pic>
    </p:spTree>
    <p:extLst>
      <p:ext uri="{BB962C8B-B14F-4D97-AF65-F5344CB8AC3E}">
        <p14:creationId xmlns:p14="http://schemas.microsoft.com/office/powerpoint/2010/main" val="4034632735"/>
      </p:ext>
    </p:extLst>
  </p:cSld>
  <p:clrMapOvr>
    <a:masterClrMapping/>
  </p:clrMapOvr>
  <mc:AlternateContent xmlns:mc="http://schemas.openxmlformats.org/markup-compatibility/2006" xmlns:p159="http://schemas.microsoft.com/office/powerpoint/2015/09/main">
    <mc:Choice Requires="p159">
      <p:transition spd="slow" advTm="0">
        <p159:morph option="byObjec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9"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par>
                                <p:cTn id="12" presetID="2" presetClass="entr" presetSubtype="4" fill="hold" nodeType="with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fill="hold"/>
                                        <p:tgtEl>
                                          <p:spTgt spid="2"/>
                                        </p:tgtEl>
                                        <p:attrNameLst>
                                          <p:attrName>ppt_x</p:attrName>
                                        </p:attrNameLst>
                                      </p:cBhvr>
                                      <p:tavLst>
                                        <p:tav tm="0">
                                          <p:val>
                                            <p:strVal val="#ppt_x"/>
                                          </p:val>
                                        </p:tav>
                                        <p:tav tm="100000">
                                          <p:val>
                                            <p:strVal val="#ppt_x"/>
                                          </p:val>
                                        </p:tav>
                                      </p:tavLst>
                                    </p:anim>
                                    <p:anim calcmode="lin" valueType="num">
                                      <p:cBhvr additive="base">
                                        <p:cTn id="1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2FB639-1112-1ED9-1906-8EA464A9003B}"/>
              </a:ext>
            </a:extLst>
          </p:cNvPr>
          <p:cNvSpPr txBox="1"/>
          <p:nvPr/>
        </p:nvSpPr>
        <p:spPr>
          <a:xfrm>
            <a:off x="299484" y="407551"/>
            <a:ext cx="801501" cy="185115"/>
          </a:xfrm>
          <a:prstGeom prst="rect">
            <a:avLst/>
          </a:prstGeom>
          <a:noFill/>
        </p:spPr>
        <p:txBody>
          <a:bodyPr wrap="none" lIns="0" tIns="0" rIns="0" bIns="0" rtlCol="0">
            <a:spAutoFit/>
          </a:bodyPr>
          <a:lstStyle/>
          <a:p>
            <a:pPr marL="0" marR="0" lvl="0" indent="0" defTabSz="914400" rtl="0" eaLnBrk="1" fontAlgn="auto" latinLnBrk="0" hangingPunct="1">
              <a:lnSpc>
                <a:spcPct val="6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Darker Grotesque" pitchFamily="2" charset="0"/>
              </a:rPr>
              <a:t>Financials</a:t>
            </a:r>
          </a:p>
        </p:txBody>
      </p:sp>
      <p:grpSp>
        <p:nvGrpSpPr>
          <p:cNvPr id="98" name="Group 97">
            <a:extLst>
              <a:ext uri="{FF2B5EF4-FFF2-40B4-BE49-F238E27FC236}">
                <a16:creationId xmlns:a16="http://schemas.microsoft.com/office/drawing/2014/main" id="{AD6D4C48-33D4-1775-7908-0925B45C1FD0}"/>
              </a:ext>
            </a:extLst>
          </p:cNvPr>
          <p:cNvGrpSpPr/>
          <p:nvPr/>
        </p:nvGrpSpPr>
        <p:grpSpPr>
          <a:xfrm>
            <a:off x="273788" y="369986"/>
            <a:ext cx="11670119" cy="5504381"/>
            <a:chOff x="273788" y="369986"/>
            <a:chExt cx="11670119" cy="5504381"/>
          </a:xfrm>
        </p:grpSpPr>
        <p:cxnSp>
          <p:nvCxnSpPr>
            <p:cNvPr id="10" name="Straight Connector 9">
              <a:extLst>
                <a:ext uri="{FF2B5EF4-FFF2-40B4-BE49-F238E27FC236}">
                  <a16:creationId xmlns:a16="http://schemas.microsoft.com/office/drawing/2014/main" id="{28524FAE-90ED-B32B-21F7-676C0CDD01F7}"/>
                </a:ext>
              </a:extLst>
            </p:cNvPr>
            <p:cNvCxnSpPr/>
            <p:nvPr/>
          </p:nvCxnSpPr>
          <p:spPr>
            <a:xfrm>
              <a:off x="299484" y="62377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sp>
          <p:nvSpPr>
            <p:cNvPr id="57" name="TextBox 56">
              <a:extLst>
                <a:ext uri="{FF2B5EF4-FFF2-40B4-BE49-F238E27FC236}">
                  <a16:creationId xmlns:a16="http://schemas.microsoft.com/office/drawing/2014/main" id="{65C3EDB4-39A5-B89C-1ED3-8E30DE2A5782}"/>
                </a:ext>
              </a:extLst>
            </p:cNvPr>
            <p:cNvSpPr txBox="1"/>
            <p:nvPr/>
          </p:nvSpPr>
          <p:spPr>
            <a:xfrm>
              <a:off x="281745" y="969272"/>
              <a:ext cx="4046199" cy="493597"/>
            </a:xfrm>
            <a:prstGeom prst="rect">
              <a:avLst/>
            </a:prstGeom>
            <a:noFill/>
          </p:spPr>
          <p:txBody>
            <a:bodyPr wrap="square" lIns="0" tIns="0" rIns="0" bIns="0"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GB" sz="4800" dirty="0"/>
                <a:t>Key metrics</a:t>
              </a:r>
            </a:p>
          </p:txBody>
        </p:sp>
        <p:grpSp>
          <p:nvGrpSpPr>
            <p:cNvPr id="59" name="!!financials">
              <a:extLst>
                <a:ext uri="{FF2B5EF4-FFF2-40B4-BE49-F238E27FC236}">
                  <a16:creationId xmlns:a16="http://schemas.microsoft.com/office/drawing/2014/main" id="{9C0CFB6B-EE4B-3333-8811-4FA448482CCD}"/>
                </a:ext>
              </a:extLst>
            </p:cNvPr>
            <p:cNvGrpSpPr/>
            <p:nvPr/>
          </p:nvGrpSpPr>
          <p:grpSpPr>
            <a:xfrm>
              <a:off x="5842207" y="369986"/>
              <a:ext cx="507586" cy="507586"/>
              <a:chOff x="8769760" y="4481585"/>
              <a:chExt cx="507586" cy="507586"/>
            </a:xfrm>
          </p:grpSpPr>
          <p:sp useBgFill="1">
            <p:nvSpPr>
              <p:cNvPr id="60" name="Oval 59">
                <a:extLst>
                  <a:ext uri="{FF2B5EF4-FFF2-40B4-BE49-F238E27FC236}">
                    <a16:creationId xmlns:a16="http://schemas.microsoft.com/office/drawing/2014/main" id="{53EBAA0C-FB11-6D90-8773-672D676BB408}"/>
                  </a:ext>
                </a:extLst>
              </p:cNvPr>
              <p:cNvSpPr/>
              <p:nvPr/>
            </p:nvSpPr>
            <p:spPr>
              <a:xfrm>
                <a:off x="8769760" y="4481585"/>
                <a:ext cx="507586" cy="507586"/>
              </a:xfrm>
              <a:prstGeom prst="ellipse">
                <a:avLst/>
              </a:prstGeom>
              <a:blipFill dpi="0" rotWithShape="0">
                <a:blip r:embed="rId3">
                  <a:lum/>
                </a:blip>
                <a:srcRect/>
                <a:stretch>
                  <a:fillRect l="-1558498" t="-308702" r="-743459" b="-942399"/>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61" name="Graphic 60">
                <a:extLst>
                  <a:ext uri="{FF2B5EF4-FFF2-40B4-BE49-F238E27FC236}">
                    <a16:creationId xmlns:a16="http://schemas.microsoft.com/office/drawing/2014/main" id="{EB7987F8-2A8B-2ACB-3FB4-3BEB12762AB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97553" y="4609378"/>
                <a:ext cx="252000" cy="252000"/>
              </a:xfrm>
              <a:prstGeom prst="rect">
                <a:avLst/>
              </a:prstGeom>
            </p:spPr>
          </p:pic>
        </p:grpSp>
        <p:grpSp>
          <p:nvGrpSpPr>
            <p:cNvPr id="67" name="Group 66">
              <a:extLst>
                <a:ext uri="{FF2B5EF4-FFF2-40B4-BE49-F238E27FC236}">
                  <a16:creationId xmlns:a16="http://schemas.microsoft.com/office/drawing/2014/main" id="{73D7D8C5-C739-A06F-C2C0-C00D862FF9AD}"/>
                </a:ext>
              </a:extLst>
            </p:cNvPr>
            <p:cNvGrpSpPr/>
            <p:nvPr/>
          </p:nvGrpSpPr>
          <p:grpSpPr>
            <a:xfrm>
              <a:off x="273788" y="1808361"/>
              <a:ext cx="3733402" cy="1920950"/>
              <a:chOff x="273788" y="1808361"/>
              <a:chExt cx="3733402" cy="1920950"/>
            </a:xfrm>
          </p:grpSpPr>
          <p:sp>
            <p:nvSpPr>
              <p:cNvPr id="46" name="Rectangle: Rounded Corners 45">
                <a:extLst>
                  <a:ext uri="{FF2B5EF4-FFF2-40B4-BE49-F238E27FC236}">
                    <a16:creationId xmlns:a16="http://schemas.microsoft.com/office/drawing/2014/main" id="{696B6050-19F7-CE6A-D277-6C5EBB8F7529}"/>
                  </a:ext>
                </a:extLst>
              </p:cNvPr>
              <p:cNvSpPr/>
              <p:nvPr/>
            </p:nvSpPr>
            <p:spPr>
              <a:xfrm>
                <a:off x="273788" y="1808361"/>
                <a:ext cx="3733402" cy="1920950"/>
              </a:xfrm>
              <a:prstGeom prst="roundRect">
                <a:avLst>
                  <a:gd name="adj" fmla="val 12077"/>
                </a:avLst>
              </a:prstGeom>
              <a:solidFill>
                <a:schemeClr val="bg1">
                  <a:alpha val="70000"/>
                </a:schemeClr>
              </a:solidFill>
              <a:ln w="6350">
                <a:solidFill>
                  <a:schemeClr val="bg1"/>
                </a:solidFill>
              </a:ln>
              <a:effectLst>
                <a:outerShdw blurRad="1270000" algn="ctr" rotWithShape="0">
                  <a:schemeClr val="bg1"/>
                </a:outerShdw>
              </a:effectLst>
            </p:spPr>
            <p:txBody>
              <a:bodyPr vert="horz" wrap="none" lIns="91440" tIns="45720" rIns="91440" bIns="45720" rtlCol="0" anchor="ctr"/>
              <a:lstStyle/>
              <a:p>
                <a:pPr algn="ctr"/>
                <a:endParaRPr lang="en-GB" sz="2000" dirty="0">
                  <a:solidFill>
                    <a:schemeClr val="bg1"/>
                  </a:solidFill>
                  <a:latin typeface="Darker Grotesque SemiBold" pitchFamily="2" charset="0"/>
                </a:endParaRPr>
              </a:p>
            </p:txBody>
          </p:sp>
          <p:sp>
            <p:nvSpPr>
              <p:cNvPr id="63" name="Rectangle: Rounded Corners 13">
                <a:extLst>
                  <a:ext uri="{FF2B5EF4-FFF2-40B4-BE49-F238E27FC236}">
                    <a16:creationId xmlns:a16="http://schemas.microsoft.com/office/drawing/2014/main" id="{25C20132-15A1-C2ED-507E-8BAC35C1143C}"/>
                  </a:ext>
                </a:extLst>
              </p:cNvPr>
              <p:cNvSpPr/>
              <p:nvPr/>
            </p:nvSpPr>
            <p:spPr>
              <a:xfrm>
                <a:off x="3589231" y="3299098"/>
                <a:ext cx="259804" cy="259804"/>
              </a:xfrm>
              <a:prstGeom prst="roundRect">
                <a:avLst>
                  <a:gd name="adj" fmla="val 33110"/>
                </a:avLst>
              </a:prstGeom>
              <a:solidFill>
                <a:schemeClr val="bg1">
                  <a:alpha val="10000"/>
                </a:schemeClr>
              </a:solidFill>
              <a:ln w="6350" cap="rnd">
                <a:solidFill>
                  <a:srgbClr val="484525"/>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1400" b="1" spc="30" dirty="0">
                  <a:solidFill>
                    <a:srgbClr val="484525"/>
                  </a:solidFill>
                  <a:latin typeface="+mj-lt"/>
                  <a:cs typeface="Poppins SemiBold" panose="00000700000000000000" pitchFamily="2" charset="0"/>
                </a:endParaRPr>
              </a:p>
            </p:txBody>
          </p:sp>
          <p:pic>
            <p:nvPicPr>
              <p:cNvPr id="64" name="Graphic 63">
                <a:extLst>
                  <a:ext uri="{FF2B5EF4-FFF2-40B4-BE49-F238E27FC236}">
                    <a16:creationId xmlns:a16="http://schemas.microsoft.com/office/drawing/2014/main" id="{1EC7A7B9-AE6B-7275-D5F6-A4ADC4DB8BC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20981" y="3330848"/>
                <a:ext cx="196304" cy="196304"/>
              </a:xfrm>
              <a:prstGeom prst="rect">
                <a:avLst/>
              </a:prstGeom>
            </p:spPr>
          </p:pic>
          <p:sp>
            <p:nvSpPr>
              <p:cNvPr id="65" name="TextBox 64">
                <a:extLst>
                  <a:ext uri="{FF2B5EF4-FFF2-40B4-BE49-F238E27FC236}">
                    <a16:creationId xmlns:a16="http://schemas.microsoft.com/office/drawing/2014/main" id="{FC7D78AB-947D-A92C-3221-BF2DBF6BB03B}"/>
                  </a:ext>
                </a:extLst>
              </p:cNvPr>
              <p:cNvSpPr txBox="1"/>
              <p:nvPr/>
            </p:nvSpPr>
            <p:spPr>
              <a:xfrm>
                <a:off x="447761" y="2115461"/>
                <a:ext cx="2646558" cy="680507"/>
              </a:xfrm>
              <a:prstGeom prst="rect">
                <a:avLst/>
              </a:prstGeom>
              <a:noFill/>
            </p:spPr>
            <p:txBody>
              <a:bodyPr wrap="none" lIns="0" tIns="0" rIns="0" bIns="0"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pPr algn="l"/>
                <a:r>
                  <a:rPr lang="en-US" sz="6600" dirty="0">
                    <a:solidFill>
                      <a:srgbClr val="484525"/>
                    </a:solidFill>
                    <a:latin typeface="+mj-lt"/>
                  </a:rPr>
                  <a:t>$6.5M+</a:t>
                </a:r>
                <a:endParaRPr lang="en-GB" sz="6600" dirty="0">
                  <a:solidFill>
                    <a:srgbClr val="484525"/>
                  </a:solidFill>
                  <a:latin typeface="+mj-lt"/>
                </a:endParaRPr>
              </a:p>
            </p:txBody>
          </p:sp>
          <p:sp>
            <p:nvSpPr>
              <p:cNvPr id="66" name="TextBox 65">
                <a:extLst>
                  <a:ext uri="{FF2B5EF4-FFF2-40B4-BE49-F238E27FC236}">
                    <a16:creationId xmlns:a16="http://schemas.microsoft.com/office/drawing/2014/main" id="{71C61858-D410-0978-1490-E49005429F6F}"/>
                  </a:ext>
                </a:extLst>
              </p:cNvPr>
              <p:cNvSpPr txBox="1"/>
              <p:nvPr/>
            </p:nvSpPr>
            <p:spPr>
              <a:xfrm>
                <a:off x="483843" y="2804363"/>
                <a:ext cx="3365192" cy="738664"/>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GB" dirty="0">
                    <a:solidFill>
                      <a:srgbClr val="484525"/>
                    </a:solidFill>
                  </a:rPr>
                  <a:t>from impact-focused VCs like Acumen scales '</a:t>
                </a:r>
                <a:r>
                  <a:rPr lang="en-GB" dirty="0" err="1">
                    <a:solidFill>
                      <a:srgbClr val="484525"/>
                    </a:solidFill>
                  </a:rPr>
                  <a:t>LifeQuest</a:t>
                </a:r>
                <a:r>
                  <a:rPr lang="en-GB" dirty="0">
                    <a:solidFill>
                      <a:srgbClr val="484525"/>
                    </a:solidFill>
                  </a:rPr>
                  <a:t>' to 600K+ users by 2030 with Series A and B rounds.</a:t>
                </a:r>
                <a:endParaRPr lang="en-US" dirty="0">
                  <a:solidFill>
                    <a:srgbClr val="484525"/>
                  </a:solidFill>
                </a:endParaRPr>
              </a:p>
            </p:txBody>
          </p:sp>
        </p:grpSp>
        <p:grpSp>
          <p:nvGrpSpPr>
            <p:cNvPr id="68" name="Group 67">
              <a:extLst>
                <a:ext uri="{FF2B5EF4-FFF2-40B4-BE49-F238E27FC236}">
                  <a16:creationId xmlns:a16="http://schemas.microsoft.com/office/drawing/2014/main" id="{370882DA-B048-2D6C-D92E-86AB13988B51}"/>
                </a:ext>
              </a:extLst>
            </p:cNvPr>
            <p:cNvGrpSpPr/>
            <p:nvPr/>
          </p:nvGrpSpPr>
          <p:grpSpPr>
            <a:xfrm>
              <a:off x="8184812" y="1808361"/>
              <a:ext cx="3733402" cy="1920950"/>
              <a:chOff x="273788" y="1808361"/>
              <a:chExt cx="3733402" cy="1920950"/>
            </a:xfrm>
          </p:grpSpPr>
          <p:sp>
            <p:nvSpPr>
              <p:cNvPr id="69" name="Rectangle: Rounded Corners 68">
                <a:extLst>
                  <a:ext uri="{FF2B5EF4-FFF2-40B4-BE49-F238E27FC236}">
                    <a16:creationId xmlns:a16="http://schemas.microsoft.com/office/drawing/2014/main" id="{87A2DB65-FC9F-16C6-D7C0-C9D7D08DDF20}"/>
                  </a:ext>
                </a:extLst>
              </p:cNvPr>
              <p:cNvSpPr/>
              <p:nvPr/>
            </p:nvSpPr>
            <p:spPr>
              <a:xfrm>
                <a:off x="273788" y="1808361"/>
                <a:ext cx="3733402" cy="1920950"/>
              </a:xfrm>
              <a:prstGeom prst="roundRect">
                <a:avLst>
                  <a:gd name="adj" fmla="val 12077"/>
                </a:avLst>
              </a:prstGeom>
              <a:solidFill>
                <a:schemeClr val="bg1">
                  <a:alpha val="20000"/>
                </a:schemeClr>
              </a:solidFill>
              <a:ln w="6350" cap="rnd">
                <a:solidFill>
                  <a:schemeClr val="bg1">
                    <a:alpha val="3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pc="30" dirty="0">
                  <a:solidFill>
                    <a:srgbClr val="FFFFFF"/>
                  </a:solidFill>
                  <a:latin typeface="Darker Grotesque" pitchFamily="2" charset="0"/>
                  <a:cs typeface="Poppins SemiBold" panose="00000700000000000000" pitchFamily="2" charset="0"/>
                </a:endParaRPr>
              </a:p>
            </p:txBody>
          </p:sp>
          <p:sp>
            <p:nvSpPr>
              <p:cNvPr id="70" name="Rectangle: Rounded Corners 13">
                <a:extLst>
                  <a:ext uri="{FF2B5EF4-FFF2-40B4-BE49-F238E27FC236}">
                    <a16:creationId xmlns:a16="http://schemas.microsoft.com/office/drawing/2014/main" id="{A9EF6409-A39A-BAD0-6FCC-20BD7BD3FB04}"/>
                  </a:ext>
                </a:extLst>
              </p:cNvPr>
              <p:cNvSpPr/>
              <p:nvPr/>
            </p:nvSpPr>
            <p:spPr>
              <a:xfrm>
                <a:off x="3589231" y="3299098"/>
                <a:ext cx="259804" cy="259804"/>
              </a:xfrm>
              <a:prstGeom prst="roundRect">
                <a:avLst>
                  <a:gd name="adj" fmla="val 33110"/>
                </a:avLst>
              </a:prstGeom>
              <a:solidFill>
                <a:schemeClr val="bg1">
                  <a:alpha val="10000"/>
                </a:schemeClr>
              </a:solidFill>
              <a:ln w="6350" cap="rnd">
                <a:solidFill>
                  <a:schemeClr val="bg1">
                    <a:alpha val="3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1400" b="1" spc="30" dirty="0">
                  <a:solidFill>
                    <a:schemeClr val="bg1"/>
                  </a:solidFill>
                  <a:latin typeface="+mj-lt"/>
                  <a:cs typeface="Poppins SemiBold" panose="00000700000000000000" pitchFamily="2" charset="0"/>
                </a:endParaRPr>
              </a:p>
            </p:txBody>
          </p:sp>
          <p:pic>
            <p:nvPicPr>
              <p:cNvPr id="71" name="Graphic 70">
                <a:extLst>
                  <a:ext uri="{FF2B5EF4-FFF2-40B4-BE49-F238E27FC236}">
                    <a16:creationId xmlns:a16="http://schemas.microsoft.com/office/drawing/2014/main" id="{E1185557-74EC-B6CE-8967-9D9E15340AB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620981" y="3330848"/>
                <a:ext cx="196304" cy="196304"/>
              </a:xfrm>
              <a:prstGeom prst="rect">
                <a:avLst/>
              </a:prstGeom>
            </p:spPr>
          </p:pic>
          <p:sp>
            <p:nvSpPr>
              <p:cNvPr id="72" name="TextBox 71">
                <a:extLst>
                  <a:ext uri="{FF2B5EF4-FFF2-40B4-BE49-F238E27FC236}">
                    <a16:creationId xmlns:a16="http://schemas.microsoft.com/office/drawing/2014/main" id="{C90FADB8-6583-C209-66F1-7873886DB0C0}"/>
                  </a:ext>
                </a:extLst>
              </p:cNvPr>
              <p:cNvSpPr txBox="1"/>
              <p:nvPr/>
            </p:nvSpPr>
            <p:spPr>
              <a:xfrm>
                <a:off x="447761" y="2115461"/>
                <a:ext cx="2157642" cy="680507"/>
              </a:xfrm>
              <a:prstGeom prst="rect">
                <a:avLst/>
              </a:prstGeom>
              <a:noFill/>
            </p:spPr>
            <p:txBody>
              <a:bodyPr wrap="none" lIns="0" tIns="0" rIns="0" bIns="0"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pPr algn="l"/>
                <a:r>
                  <a:rPr lang="en-US" sz="6600" dirty="0">
                    <a:latin typeface="+mj-lt"/>
                  </a:rPr>
                  <a:t>$800K</a:t>
                </a:r>
                <a:endParaRPr lang="en-GB" sz="6600" dirty="0">
                  <a:latin typeface="+mj-lt"/>
                </a:endParaRPr>
              </a:p>
            </p:txBody>
          </p:sp>
          <p:sp>
            <p:nvSpPr>
              <p:cNvPr id="73" name="TextBox 72">
                <a:extLst>
                  <a:ext uri="{FF2B5EF4-FFF2-40B4-BE49-F238E27FC236}">
                    <a16:creationId xmlns:a16="http://schemas.microsoft.com/office/drawing/2014/main" id="{304EC4FA-4E22-E4E3-185D-3C438CDE9790}"/>
                  </a:ext>
                </a:extLst>
              </p:cNvPr>
              <p:cNvSpPr txBox="1"/>
              <p:nvPr/>
            </p:nvSpPr>
            <p:spPr>
              <a:xfrm>
                <a:off x="483843" y="2804363"/>
                <a:ext cx="3365192" cy="738664"/>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US" dirty="0"/>
                  <a:t>U.S. Department of Labor and Innovate UK supports '</a:t>
                </a:r>
                <a:r>
                  <a:rPr lang="en-US" dirty="0" err="1"/>
                  <a:t>LifeQuest’s</a:t>
                </a:r>
                <a:r>
                  <a:rPr lang="en-US" dirty="0"/>
                  <a:t>' job re-entry mission through 2027.</a:t>
                </a:r>
              </a:p>
            </p:txBody>
          </p:sp>
        </p:grpSp>
        <p:grpSp>
          <p:nvGrpSpPr>
            <p:cNvPr id="74" name="Group 73">
              <a:extLst>
                <a:ext uri="{FF2B5EF4-FFF2-40B4-BE49-F238E27FC236}">
                  <a16:creationId xmlns:a16="http://schemas.microsoft.com/office/drawing/2014/main" id="{95816078-C965-EAD5-8D2A-0794FB6DE0F5}"/>
                </a:ext>
              </a:extLst>
            </p:cNvPr>
            <p:cNvGrpSpPr/>
            <p:nvPr/>
          </p:nvGrpSpPr>
          <p:grpSpPr>
            <a:xfrm>
              <a:off x="4229299" y="1808361"/>
              <a:ext cx="3733402" cy="1920950"/>
              <a:chOff x="273788" y="1808361"/>
              <a:chExt cx="3733402" cy="1920950"/>
            </a:xfrm>
          </p:grpSpPr>
          <p:sp>
            <p:nvSpPr>
              <p:cNvPr id="75" name="Rectangle: Rounded Corners 74">
                <a:extLst>
                  <a:ext uri="{FF2B5EF4-FFF2-40B4-BE49-F238E27FC236}">
                    <a16:creationId xmlns:a16="http://schemas.microsoft.com/office/drawing/2014/main" id="{58478EEA-A369-0668-90A1-54EA35BDC4A0}"/>
                  </a:ext>
                </a:extLst>
              </p:cNvPr>
              <p:cNvSpPr/>
              <p:nvPr/>
            </p:nvSpPr>
            <p:spPr>
              <a:xfrm>
                <a:off x="273788" y="1808361"/>
                <a:ext cx="3733402" cy="1920950"/>
              </a:xfrm>
              <a:prstGeom prst="roundRect">
                <a:avLst>
                  <a:gd name="adj" fmla="val 12077"/>
                </a:avLst>
              </a:prstGeom>
              <a:solidFill>
                <a:schemeClr val="bg1">
                  <a:alpha val="20000"/>
                </a:schemeClr>
              </a:solidFill>
              <a:ln w="6350" cap="rnd">
                <a:solidFill>
                  <a:schemeClr val="bg1">
                    <a:alpha val="3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pc="30" dirty="0">
                  <a:solidFill>
                    <a:srgbClr val="FFFFFF"/>
                  </a:solidFill>
                  <a:latin typeface="Darker Grotesque" pitchFamily="2" charset="0"/>
                  <a:cs typeface="Poppins SemiBold" panose="00000700000000000000" pitchFamily="2" charset="0"/>
                </a:endParaRPr>
              </a:p>
            </p:txBody>
          </p:sp>
          <p:sp>
            <p:nvSpPr>
              <p:cNvPr id="76" name="Rectangle: Rounded Corners 13">
                <a:extLst>
                  <a:ext uri="{FF2B5EF4-FFF2-40B4-BE49-F238E27FC236}">
                    <a16:creationId xmlns:a16="http://schemas.microsoft.com/office/drawing/2014/main" id="{3D2CAC81-13DB-DD55-AEED-9FA22051C83A}"/>
                  </a:ext>
                </a:extLst>
              </p:cNvPr>
              <p:cNvSpPr/>
              <p:nvPr/>
            </p:nvSpPr>
            <p:spPr>
              <a:xfrm>
                <a:off x="3589231" y="3299098"/>
                <a:ext cx="259804" cy="259804"/>
              </a:xfrm>
              <a:prstGeom prst="roundRect">
                <a:avLst>
                  <a:gd name="adj" fmla="val 33110"/>
                </a:avLst>
              </a:prstGeom>
              <a:solidFill>
                <a:schemeClr val="bg1">
                  <a:alpha val="10000"/>
                </a:schemeClr>
              </a:solidFill>
              <a:ln w="6350" cap="rnd">
                <a:solidFill>
                  <a:schemeClr val="bg1">
                    <a:alpha val="3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1400" b="1" spc="30" dirty="0">
                  <a:solidFill>
                    <a:schemeClr val="bg1"/>
                  </a:solidFill>
                  <a:latin typeface="+mj-lt"/>
                  <a:cs typeface="Poppins SemiBold" panose="00000700000000000000" pitchFamily="2" charset="0"/>
                </a:endParaRPr>
              </a:p>
            </p:txBody>
          </p:sp>
          <p:pic>
            <p:nvPicPr>
              <p:cNvPr id="77" name="Graphic 76">
                <a:extLst>
                  <a:ext uri="{FF2B5EF4-FFF2-40B4-BE49-F238E27FC236}">
                    <a16:creationId xmlns:a16="http://schemas.microsoft.com/office/drawing/2014/main" id="{930877C8-EDA9-3CC9-BC10-61BEC7A51D3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620981" y="3330848"/>
                <a:ext cx="196304" cy="196304"/>
              </a:xfrm>
              <a:prstGeom prst="rect">
                <a:avLst/>
              </a:prstGeom>
            </p:spPr>
          </p:pic>
          <p:sp>
            <p:nvSpPr>
              <p:cNvPr id="78" name="TextBox 77">
                <a:extLst>
                  <a:ext uri="{FF2B5EF4-FFF2-40B4-BE49-F238E27FC236}">
                    <a16:creationId xmlns:a16="http://schemas.microsoft.com/office/drawing/2014/main" id="{904A0760-FD95-48F7-0363-7F063195BFF7}"/>
                  </a:ext>
                </a:extLst>
              </p:cNvPr>
              <p:cNvSpPr txBox="1"/>
              <p:nvPr/>
            </p:nvSpPr>
            <p:spPr>
              <a:xfrm>
                <a:off x="447761" y="2115461"/>
                <a:ext cx="1463542" cy="680507"/>
              </a:xfrm>
              <a:prstGeom prst="rect">
                <a:avLst/>
              </a:prstGeom>
              <a:noFill/>
            </p:spPr>
            <p:txBody>
              <a:bodyPr wrap="none" lIns="0" tIns="0" rIns="0" bIns="0"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pPr algn="l"/>
                <a:r>
                  <a:rPr lang="en-US" sz="6600" dirty="0">
                    <a:latin typeface="+mj-lt"/>
                  </a:rPr>
                  <a:t>85%</a:t>
                </a:r>
                <a:endParaRPr lang="en-GB" sz="6600" dirty="0">
                  <a:latin typeface="+mj-lt"/>
                </a:endParaRPr>
              </a:p>
            </p:txBody>
          </p:sp>
          <p:sp>
            <p:nvSpPr>
              <p:cNvPr id="79" name="TextBox 78">
                <a:extLst>
                  <a:ext uri="{FF2B5EF4-FFF2-40B4-BE49-F238E27FC236}">
                    <a16:creationId xmlns:a16="http://schemas.microsoft.com/office/drawing/2014/main" id="{B125649E-A50A-AA00-56C7-40B9EC8900FB}"/>
                  </a:ext>
                </a:extLst>
              </p:cNvPr>
              <p:cNvSpPr txBox="1"/>
              <p:nvPr/>
            </p:nvSpPr>
            <p:spPr>
              <a:xfrm>
                <a:off x="483843" y="2804363"/>
                <a:ext cx="3365192" cy="738664"/>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GB" dirty="0">
                    <a:solidFill>
                      <a:prstClr val="white">
                        <a:alpha val="50000"/>
                      </a:prstClr>
                    </a:solidFill>
                  </a:rPr>
                  <a:t>85% retention (above the 30% industry average for social apps) due to quests (e.g., "Player Meetup)</a:t>
                </a:r>
                <a:endParaRPr lang="en-US" dirty="0">
                  <a:solidFill>
                    <a:prstClr val="white">
                      <a:alpha val="50000"/>
                    </a:prstClr>
                  </a:solidFill>
                </a:endParaRPr>
              </a:p>
            </p:txBody>
          </p:sp>
        </p:grpSp>
        <p:grpSp>
          <p:nvGrpSpPr>
            <p:cNvPr id="80" name="Group 79">
              <a:extLst>
                <a:ext uri="{FF2B5EF4-FFF2-40B4-BE49-F238E27FC236}">
                  <a16:creationId xmlns:a16="http://schemas.microsoft.com/office/drawing/2014/main" id="{6245DB80-761B-42A4-820D-A46E5B7DD3E1}"/>
                </a:ext>
              </a:extLst>
            </p:cNvPr>
            <p:cNvGrpSpPr/>
            <p:nvPr/>
          </p:nvGrpSpPr>
          <p:grpSpPr>
            <a:xfrm>
              <a:off x="273788" y="3953417"/>
              <a:ext cx="3733402" cy="1920950"/>
              <a:chOff x="273788" y="1808361"/>
              <a:chExt cx="3733402" cy="1920950"/>
            </a:xfrm>
          </p:grpSpPr>
          <p:sp>
            <p:nvSpPr>
              <p:cNvPr id="81" name="Rectangle: Rounded Corners 80">
                <a:extLst>
                  <a:ext uri="{FF2B5EF4-FFF2-40B4-BE49-F238E27FC236}">
                    <a16:creationId xmlns:a16="http://schemas.microsoft.com/office/drawing/2014/main" id="{80552CD0-4F4D-A3E5-D98F-7302F9C1B5EB}"/>
                  </a:ext>
                </a:extLst>
              </p:cNvPr>
              <p:cNvSpPr/>
              <p:nvPr/>
            </p:nvSpPr>
            <p:spPr>
              <a:xfrm>
                <a:off x="273788" y="1808361"/>
                <a:ext cx="3733402" cy="1920950"/>
              </a:xfrm>
              <a:prstGeom prst="roundRect">
                <a:avLst>
                  <a:gd name="adj" fmla="val 12077"/>
                </a:avLst>
              </a:prstGeom>
              <a:solidFill>
                <a:schemeClr val="bg1">
                  <a:alpha val="20000"/>
                </a:schemeClr>
              </a:solidFill>
              <a:ln w="6350" cap="rnd">
                <a:solidFill>
                  <a:schemeClr val="bg1">
                    <a:alpha val="3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pc="30" dirty="0">
                  <a:solidFill>
                    <a:srgbClr val="FFFFFF"/>
                  </a:solidFill>
                  <a:latin typeface="Darker Grotesque" pitchFamily="2" charset="0"/>
                  <a:cs typeface="Poppins SemiBold" panose="00000700000000000000" pitchFamily="2" charset="0"/>
                </a:endParaRPr>
              </a:p>
            </p:txBody>
          </p:sp>
          <p:sp>
            <p:nvSpPr>
              <p:cNvPr id="82" name="Rectangle: Rounded Corners 13">
                <a:extLst>
                  <a:ext uri="{FF2B5EF4-FFF2-40B4-BE49-F238E27FC236}">
                    <a16:creationId xmlns:a16="http://schemas.microsoft.com/office/drawing/2014/main" id="{E1BFFFF7-B31F-BC1E-5BA8-AB610439CE42}"/>
                  </a:ext>
                </a:extLst>
              </p:cNvPr>
              <p:cNvSpPr/>
              <p:nvPr/>
            </p:nvSpPr>
            <p:spPr>
              <a:xfrm>
                <a:off x="3589231" y="3299098"/>
                <a:ext cx="259804" cy="259804"/>
              </a:xfrm>
              <a:prstGeom prst="roundRect">
                <a:avLst>
                  <a:gd name="adj" fmla="val 33110"/>
                </a:avLst>
              </a:prstGeom>
              <a:solidFill>
                <a:schemeClr val="bg1">
                  <a:alpha val="10000"/>
                </a:schemeClr>
              </a:solidFill>
              <a:ln w="6350" cap="rnd">
                <a:solidFill>
                  <a:schemeClr val="bg1">
                    <a:alpha val="3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1400" b="1" spc="30" dirty="0">
                  <a:solidFill>
                    <a:schemeClr val="bg1"/>
                  </a:solidFill>
                  <a:latin typeface="+mj-lt"/>
                  <a:cs typeface="Poppins SemiBold" panose="00000700000000000000" pitchFamily="2" charset="0"/>
                </a:endParaRPr>
              </a:p>
            </p:txBody>
          </p:sp>
          <p:pic>
            <p:nvPicPr>
              <p:cNvPr id="83" name="Graphic 82">
                <a:extLst>
                  <a:ext uri="{FF2B5EF4-FFF2-40B4-BE49-F238E27FC236}">
                    <a16:creationId xmlns:a16="http://schemas.microsoft.com/office/drawing/2014/main" id="{D7A08E49-C6D8-C38D-457D-AB51EB13E0E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620981" y="3330848"/>
                <a:ext cx="196304" cy="196304"/>
              </a:xfrm>
              <a:prstGeom prst="rect">
                <a:avLst/>
              </a:prstGeom>
            </p:spPr>
          </p:pic>
          <p:sp>
            <p:nvSpPr>
              <p:cNvPr id="84" name="TextBox 83">
                <a:extLst>
                  <a:ext uri="{FF2B5EF4-FFF2-40B4-BE49-F238E27FC236}">
                    <a16:creationId xmlns:a16="http://schemas.microsoft.com/office/drawing/2014/main" id="{A06A85C1-A32E-0073-F6F8-C1DECCC1D7E8}"/>
                  </a:ext>
                </a:extLst>
              </p:cNvPr>
              <p:cNvSpPr txBox="1"/>
              <p:nvPr/>
            </p:nvSpPr>
            <p:spPr>
              <a:xfrm>
                <a:off x="447761" y="2115461"/>
                <a:ext cx="2157642" cy="680507"/>
              </a:xfrm>
              <a:prstGeom prst="rect">
                <a:avLst/>
              </a:prstGeom>
              <a:noFill/>
            </p:spPr>
            <p:txBody>
              <a:bodyPr wrap="none" lIns="0" tIns="0" rIns="0" bIns="0"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pPr algn="l"/>
                <a:r>
                  <a:rPr lang="en-US" sz="6600" dirty="0">
                    <a:latin typeface="+mj-lt"/>
                  </a:rPr>
                  <a:t>$250K</a:t>
                </a:r>
                <a:endParaRPr lang="en-GB" sz="6600" dirty="0">
                  <a:latin typeface="+mj-lt"/>
                </a:endParaRPr>
              </a:p>
            </p:txBody>
          </p:sp>
          <p:sp>
            <p:nvSpPr>
              <p:cNvPr id="85" name="TextBox 84">
                <a:extLst>
                  <a:ext uri="{FF2B5EF4-FFF2-40B4-BE49-F238E27FC236}">
                    <a16:creationId xmlns:a16="http://schemas.microsoft.com/office/drawing/2014/main" id="{ACB9A9C1-9F4B-FCF0-4A95-C0A2A26DC495}"/>
                  </a:ext>
                </a:extLst>
              </p:cNvPr>
              <p:cNvSpPr txBox="1"/>
              <p:nvPr/>
            </p:nvSpPr>
            <p:spPr>
              <a:xfrm>
                <a:off x="483843" y="2804363"/>
                <a:ext cx="3365192" cy="738664"/>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GB" dirty="0">
                    <a:solidFill>
                      <a:prstClr val="white">
                        <a:alpha val="50000"/>
                      </a:prstClr>
                    </a:solidFill>
                  </a:rPr>
                  <a:t>Kickstarter in 2025 validates '</a:t>
                </a:r>
                <a:r>
                  <a:rPr lang="en-GB" dirty="0" err="1">
                    <a:solidFill>
                      <a:prstClr val="white">
                        <a:alpha val="50000"/>
                      </a:prstClr>
                    </a:solidFill>
                  </a:rPr>
                  <a:t>LifeQuest’s</a:t>
                </a:r>
                <a:r>
                  <a:rPr lang="en-GB" dirty="0">
                    <a:solidFill>
                      <a:prstClr val="white">
                        <a:alpha val="50000"/>
                      </a:prstClr>
                    </a:solidFill>
                  </a:rPr>
                  <a:t>' demand while funding initial marketing to reach 25K users.</a:t>
                </a:r>
                <a:endParaRPr lang="en-US" dirty="0">
                  <a:solidFill>
                    <a:prstClr val="white">
                      <a:alpha val="50000"/>
                    </a:prstClr>
                  </a:solidFill>
                </a:endParaRPr>
              </a:p>
            </p:txBody>
          </p:sp>
        </p:grpSp>
        <p:grpSp>
          <p:nvGrpSpPr>
            <p:cNvPr id="86" name="Group 85">
              <a:extLst>
                <a:ext uri="{FF2B5EF4-FFF2-40B4-BE49-F238E27FC236}">
                  <a16:creationId xmlns:a16="http://schemas.microsoft.com/office/drawing/2014/main" id="{91033CB8-B4AC-8559-C94F-CB2058217412}"/>
                </a:ext>
              </a:extLst>
            </p:cNvPr>
            <p:cNvGrpSpPr/>
            <p:nvPr/>
          </p:nvGrpSpPr>
          <p:grpSpPr>
            <a:xfrm>
              <a:off x="8184812" y="3953417"/>
              <a:ext cx="3733402" cy="1920950"/>
              <a:chOff x="273788" y="1808361"/>
              <a:chExt cx="3733402" cy="1920950"/>
            </a:xfrm>
          </p:grpSpPr>
          <p:sp>
            <p:nvSpPr>
              <p:cNvPr id="87" name="Rectangle: Rounded Corners 86">
                <a:extLst>
                  <a:ext uri="{FF2B5EF4-FFF2-40B4-BE49-F238E27FC236}">
                    <a16:creationId xmlns:a16="http://schemas.microsoft.com/office/drawing/2014/main" id="{34EA7879-98FF-2DF4-3251-0E546CDF02BF}"/>
                  </a:ext>
                </a:extLst>
              </p:cNvPr>
              <p:cNvSpPr/>
              <p:nvPr/>
            </p:nvSpPr>
            <p:spPr>
              <a:xfrm>
                <a:off x="273788" y="1808361"/>
                <a:ext cx="3733402" cy="1920950"/>
              </a:xfrm>
              <a:prstGeom prst="roundRect">
                <a:avLst>
                  <a:gd name="adj" fmla="val 12077"/>
                </a:avLst>
              </a:prstGeom>
              <a:solidFill>
                <a:schemeClr val="bg1">
                  <a:alpha val="20000"/>
                </a:schemeClr>
              </a:solidFill>
              <a:ln w="6350" cap="rnd">
                <a:solidFill>
                  <a:schemeClr val="bg1">
                    <a:alpha val="3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pc="30" dirty="0">
                  <a:solidFill>
                    <a:srgbClr val="FFFFFF"/>
                  </a:solidFill>
                  <a:latin typeface="Darker Grotesque" pitchFamily="2" charset="0"/>
                  <a:cs typeface="Poppins SemiBold" panose="00000700000000000000" pitchFamily="2" charset="0"/>
                </a:endParaRPr>
              </a:p>
            </p:txBody>
          </p:sp>
          <p:sp>
            <p:nvSpPr>
              <p:cNvPr id="88" name="Rectangle: Rounded Corners 13">
                <a:extLst>
                  <a:ext uri="{FF2B5EF4-FFF2-40B4-BE49-F238E27FC236}">
                    <a16:creationId xmlns:a16="http://schemas.microsoft.com/office/drawing/2014/main" id="{455CBCAC-564C-FC0D-3FF8-67902556B674}"/>
                  </a:ext>
                </a:extLst>
              </p:cNvPr>
              <p:cNvSpPr/>
              <p:nvPr/>
            </p:nvSpPr>
            <p:spPr>
              <a:xfrm>
                <a:off x="3589231" y="3299098"/>
                <a:ext cx="259804" cy="259804"/>
              </a:xfrm>
              <a:prstGeom prst="roundRect">
                <a:avLst>
                  <a:gd name="adj" fmla="val 33110"/>
                </a:avLst>
              </a:prstGeom>
              <a:solidFill>
                <a:schemeClr val="bg1">
                  <a:alpha val="10000"/>
                </a:schemeClr>
              </a:solidFill>
              <a:ln w="6350" cap="rnd">
                <a:solidFill>
                  <a:schemeClr val="bg1">
                    <a:alpha val="3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1400" b="1" spc="30" dirty="0">
                  <a:solidFill>
                    <a:schemeClr val="bg1"/>
                  </a:solidFill>
                  <a:latin typeface="+mj-lt"/>
                  <a:cs typeface="Poppins SemiBold" panose="00000700000000000000" pitchFamily="2" charset="0"/>
                </a:endParaRPr>
              </a:p>
            </p:txBody>
          </p:sp>
          <p:pic>
            <p:nvPicPr>
              <p:cNvPr id="89" name="Graphic 88">
                <a:extLst>
                  <a:ext uri="{FF2B5EF4-FFF2-40B4-BE49-F238E27FC236}">
                    <a16:creationId xmlns:a16="http://schemas.microsoft.com/office/drawing/2014/main" id="{76B1F8C2-B683-051F-007A-AFBDC14C860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620981" y="3330848"/>
                <a:ext cx="196304" cy="196304"/>
              </a:xfrm>
              <a:prstGeom prst="rect">
                <a:avLst/>
              </a:prstGeom>
            </p:spPr>
          </p:pic>
          <p:sp>
            <p:nvSpPr>
              <p:cNvPr id="90" name="TextBox 89">
                <a:extLst>
                  <a:ext uri="{FF2B5EF4-FFF2-40B4-BE49-F238E27FC236}">
                    <a16:creationId xmlns:a16="http://schemas.microsoft.com/office/drawing/2014/main" id="{E23ECEC8-5E2C-93CA-4590-D35052F6C0E9}"/>
                  </a:ext>
                </a:extLst>
              </p:cNvPr>
              <p:cNvSpPr txBox="1"/>
              <p:nvPr/>
            </p:nvSpPr>
            <p:spPr>
              <a:xfrm>
                <a:off x="447761" y="2115461"/>
                <a:ext cx="1463542" cy="680507"/>
              </a:xfrm>
              <a:prstGeom prst="rect">
                <a:avLst/>
              </a:prstGeom>
              <a:noFill/>
            </p:spPr>
            <p:txBody>
              <a:bodyPr wrap="none" lIns="0" tIns="0" rIns="0" bIns="0"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pPr algn="l"/>
                <a:r>
                  <a:rPr lang="en-US" sz="6600" dirty="0">
                    <a:latin typeface="+mj-lt"/>
                  </a:rPr>
                  <a:t>95%</a:t>
                </a:r>
                <a:endParaRPr lang="en-GB" sz="6600" dirty="0">
                  <a:latin typeface="+mj-lt"/>
                </a:endParaRPr>
              </a:p>
            </p:txBody>
          </p:sp>
          <p:sp>
            <p:nvSpPr>
              <p:cNvPr id="91" name="TextBox 90">
                <a:extLst>
                  <a:ext uri="{FF2B5EF4-FFF2-40B4-BE49-F238E27FC236}">
                    <a16:creationId xmlns:a16="http://schemas.microsoft.com/office/drawing/2014/main" id="{57BBBC03-C343-56F3-46D5-A1C6F9761DEB}"/>
                  </a:ext>
                </a:extLst>
              </p:cNvPr>
              <p:cNvSpPr txBox="1"/>
              <p:nvPr/>
            </p:nvSpPr>
            <p:spPr>
              <a:xfrm>
                <a:off x="483843" y="2804363"/>
                <a:ext cx="3365192" cy="738664"/>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GB" dirty="0">
                    <a:solidFill>
                      <a:prstClr val="white">
                        <a:alpha val="50000"/>
                      </a:prstClr>
                    </a:solidFill>
                  </a:rPr>
                  <a:t>completion of quests (e.g., "Resume Boost," 200 Quest Coins) due to gamification, and flexibility</a:t>
                </a:r>
                <a:endParaRPr lang="en-US" dirty="0">
                  <a:solidFill>
                    <a:prstClr val="white">
                      <a:alpha val="50000"/>
                    </a:prstClr>
                  </a:solidFill>
                </a:endParaRPr>
              </a:p>
            </p:txBody>
          </p:sp>
        </p:grpSp>
        <p:grpSp>
          <p:nvGrpSpPr>
            <p:cNvPr id="92" name="Group 91">
              <a:extLst>
                <a:ext uri="{FF2B5EF4-FFF2-40B4-BE49-F238E27FC236}">
                  <a16:creationId xmlns:a16="http://schemas.microsoft.com/office/drawing/2014/main" id="{0293DF0D-1834-12B8-A8B9-6B3F745CB3FF}"/>
                </a:ext>
              </a:extLst>
            </p:cNvPr>
            <p:cNvGrpSpPr/>
            <p:nvPr/>
          </p:nvGrpSpPr>
          <p:grpSpPr>
            <a:xfrm>
              <a:off x="4229299" y="3953417"/>
              <a:ext cx="3733402" cy="1920950"/>
              <a:chOff x="273788" y="1808361"/>
              <a:chExt cx="3733402" cy="1920950"/>
            </a:xfrm>
          </p:grpSpPr>
          <p:sp>
            <p:nvSpPr>
              <p:cNvPr id="93" name="Rectangle: Rounded Corners 92">
                <a:extLst>
                  <a:ext uri="{FF2B5EF4-FFF2-40B4-BE49-F238E27FC236}">
                    <a16:creationId xmlns:a16="http://schemas.microsoft.com/office/drawing/2014/main" id="{79719F98-0D13-81DF-BD3E-4726D7EF7C6F}"/>
                  </a:ext>
                </a:extLst>
              </p:cNvPr>
              <p:cNvSpPr/>
              <p:nvPr/>
            </p:nvSpPr>
            <p:spPr>
              <a:xfrm>
                <a:off x="273788" y="1808361"/>
                <a:ext cx="3733402" cy="1920950"/>
              </a:xfrm>
              <a:prstGeom prst="roundRect">
                <a:avLst>
                  <a:gd name="adj" fmla="val 12077"/>
                </a:avLst>
              </a:prstGeom>
              <a:solidFill>
                <a:schemeClr val="bg1">
                  <a:alpha val="20000"/>
                </a:schemeClr>
              </a:solidFill>
              <a:ln w="6350" cap="rnd">
                <a:solidFill>
                  <a:schemeClr val="bg1">
                    <a:alpha val="3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pc="30" dirty="0">
                  <a:solidFill>
                    <a:srgbClr val="FFFFFF"/>
                  </a:solidFill>
                  <a:latin typeface="Darker Grotesque" pitchFamily="2" charset="0"/>
                  <a:cs typeface="Poppins SemiBold" panose="00000700000000000000" pitchFamily="2" charset="0"/>
                </a:endParaRPr>
              </a:p>
            </p:txBody>
          </p:sp>
          <p:sp>
            <p:nvSpPr>
              <p:cNvPr id="94" name="Rectangle: Rounded Corners 13">
                <a:extLst>
                  <a:ext uri="{FF2B5EF4-FFF2-40B4-BE49-F238E27FC236}">
                    <a16:creationId xmlns:a16="http://schemas.microsoft.com/office/drawing/2014/main" id="{DBF49780-92B3-D9B0-0C37-110C6734809B}"/>
                  </a:ext>
                </a:extLst>
              </p:cNvPr>
              <p:cNvSpPr/>
              <p:nvPr/>
            </p:nvSpPr>
            <p:spPr>
              <a:xfrm>
                <a:off x="3589231" y="3299098"/>
                <a:ext cx="259804" cy="259804"/>
              </a:xfrm>
              <a:prstGeom prst="roundRect">
                <a:avLst>
                  <a:gd name="adj" fmla="val 33110"/>
                </a:avLst>
              </a:prstGeom>
              <a:solidFill>
                <a:schemeClr val="bg1">
                  <a:alpha val="10000"/>
                </a:schemeClr>
              </a:solidFill>
              <a:ln w="6350" cap="rnd">
                <a:solidFill>
                  <a:schemeClr val="bg1">
                    <a:alpha val="3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1400" b="1" spc="30" dirty="0">
                  <a:solidFill>
                    <a:schemeClr val="bg1"/>
                  </a:solidFill>
                  <a:latin typeface="+mj-lt"/>
                  <a:cs typeface="Poppins SemiBold" panose="00000700000000000000" pitchFamily="2" charset="0"/>
                </a:endParaRPr>
              </a:p>
            </p:txBody>
          </p:sp>
          <p:pic>
            <p:nvPicPr>
              <p:cNvPr id="95" name="Graphic 94">
                <a:extLst>
                  <a:ext uri="{FF2B5EF4-FFF2-40B4-BE49-F238E27FC236}">
                    <a16:creationId xmlns:a16="http://schemas.microsoft.com/office/drawing/2014/main" id="{03AACA7D-8C11-7A6B-1637-5D3422BA709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620981" y="3330848"/>
                <a:ext cx="196304" cy="196304"/>
              </a:xfrm>
              <a:prstGeom prst="rect">
                <a:avLst/>
              </a:prstGeom>
            </p:spPr>
          </p:pic>
          <p:sp>
            <p:nvSpPr>
              <p:cNvPr id="96" name="TextBox 95">
                <a:extLst>
                  <a:ext uri="{FF2B5EF4-FFF2-40B4-BE49-F238E27FC236}">
                    <a16:creationId xmlns:a16="http://schemas.microsoft.com/office/drawing/2014/main" id="{12AB57A0-A283-562A-B393-83D23703EC66}"/>
                  </a:ext>
                </a:extLst>
              </p:cNvPr>
              <p:cNvSpPr txBox="1"/>
              <p:nvPr/>
            </p:nvSpPr>
            <p:spPr>
              <a:xfrm>
                <a:off x="447761" y="2115461"/>
                <a:ext cx="2579232" cy="680507"/>
              </a:xfrm>
              <a:prstGeom prst="rect">
                <a:avLst/>
              </a:prstGeom>
              <a:noFill/>
            </p:spPr>
            <p:txBody>
              <a:bodyPr wrap="none" lIns="0" tIns="0" rIns="0" bIns="0"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pPr algn="l"/>
                <a:r>
                  <a:rPr lang="en-US" sz="6600" dirty="0">
                    <a:latin typeface="+mj-lt"/>
                  </a:rPr>
                  <a:t>$400K+</a:t>
                </a:r>
                <a:endParaRPr lang="en-GB" sz="6600" dirty="0">
                  <a:latin typeface="+mj-lt"/>
                </a:endParaRPr>
              </a:p>
            </p:txBody>
          </p:sp>
          <p:sp>
            <p:nvSpPr>
              <p:cNvPr id="97" name="TextBox 96">
                <a:extLst>
                  <a:ext uri="{FF2B5EF4-FFF2-40B4-BE49-F238E27FC236}">
                    <a16:creationId xmlns:a16="http://schemas.microsoft.com/office/drawing/2014/main" id="{1399C07B-AD89-1F6D-6903-73BEDC41435B}"/>
                  </a:ext>
                </a:extLst>
              </p:cNvPr>
              <p:cNvSpPr txBox="1"/>
              <p:nvPr/>
            </p:nvSpPr>
            <p:spPr>
              <a:xfrm>
                <a:off x="483843" y="2804363"/>
                <a:ext cx="3365192" cy="738664"/>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GB" dirty="0">
                    <a:solidFill>
                      <a:prstClr val="white">
                        <a:alpha val="50000"/>
                      </a:prstClr>
                    </a:solidFill>
                  </a:rPr>
                  <a:t>from Ford and Gates Foundations by 2028 drives '</a:t>
                </a:r>
                <a:r>
                  <a:rPr lang="en-GB" dirty="0" err="1">
                    <a:solidFill>
                      <a:prstClr val="white">
                        <a:alpha val="50000"/>
                      </a:prstClr>
                    </a:solidFill>
                  </a:rPr>
                  <a:t>LifeQuest’s</a:t>
                </a:r>
                <a:r>
                  <a:rPr lang="en-GB" dirty="0">
                    <a:solidFill>
                      <a:prstClr val="white">
                        <a:alpha val="50000"/>
                      </a:prstClr>
                    </a:solidFill>
                  </a:rPr>
                  <a:t>' loneliness reduction studies and scalability.</a:t>
                </a:r>
                <a:endParaRPr lang="en-US" dirty="0">
                  <a:solidFill>
                    <a:prstClr val="white">
                      <a:alpha val="50000"/>
                    </a:prstClr>
                  </a:solidFill>
                </a:endParaRPr>
              </a:p>
            </p:txBody>
          </p:sp>
        </p:grpSp>
      </p:grpSp>
      <p:pic>
        <p:nvPicPr>
          <p:cNvPr id="3" name="Picture 2" descr="A close-up of a logo&#10;&#10;AI-generated content may be incorrect.">
            <a:extLst>
              <a:ext uri="{FF2B5EF4-FFF2-40B4-BE49-F238E27FC236}">
                <a16:creationId xmlns:a16="http://schemas.microsoft.com/office/drawing/2014/main" id="{8FBA4832-6662-BC3F-1E2D-5C14AB26D10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523782" y="5974268"/>
            <a:ext cx="505929" cy="632979"/>
          </a:xfrm>
          <a:prstGeom prst="rect">
            <a:avLst/>
          </a:prstGeom>
        </p:spPr>
      </p:pic>
    </p:spTree>
    <p:extLst>
      <p:ext uri="{BB962C8B-B14F-4D97-AF65-F5344CB8AC3E}">
        <p14:creationId xmlns:p14="http://schemas.microsoft.com/office/powerpoint/2010/main" val="288642717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par>
                                <p:cTn id="9" presetID="9"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dissolve">
                                      <p:cBhvr>
                                        <p:cTn id="11" dur="500"/>
                                        <p:tgtEl>
                                          <p:spTgt spid="3"/>
                                        </p:tgtEl>
                                      </p:cBhvr>
                                    </p:animEffect>
                                  </p:childTnLst>
                                </p:cTn>
                              </p:par>
                              <p:par>
                                <p:cTn id="12" presetID="2" presetClass="entr" presetSubtype="4" fill="hold" nodeType="with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ppt_x"/>
                                          </p:val>
                                        </p:tav>
                                        <p:tav tm="100000">
                                          <p:val>
                                            <p:strVal val="#ppt_x"/>
                                          </p:val>
                                        </p:tav>
                                      </p:tavLst>
                                    </p:anim>
                                    <p:anim calcmode="lin" valueType="num">
                                      <p:cBhvr additive="base">
                                        <p:cTn id="1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CCCD1D-24F7-7818-1BC1-F700A1D07CDD}"/>
              </a:ext>
            </a:extLst>
          </p:cNvPr>
          <p:cNvSpPr txBox="1"/>
          <p:nvPr/>
        </p:nvSpPr>
        <p:spPr>
          <a:xfrm>
            <a:off x="287867" y="2155061"/>
            <a:ext cx="11616266" cy="2547877"/>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9500" b="0" i="0" u="none" strike="noStrike" kern="0" cap="none" spc="0" normalizeH="0" baseline="0" noProof="0" dirty="0">
                <a:ln>
                  <a:noFill/>
                </a:ln>
                <a:solidFill>
                  <a:prstClr val="white"/>
                </a:solidFill>
                <a:effectLst/>
                <a:uLnTx/>
                <a:uFillTx/>
                <a:latin typeface="Darker Grotesque" pitchFamily="2" charset="0"/>
              </a:rPr>
              <a:t>Thank You </a:t>
            </a:r>
          </a:p>
        </p:txBody>
      </p:sp>
      <p:pic>
        <p:nvPicPr>
          <p:cNvPr id="2" name="Picture 1" descr="A close-up of a logo&#10;&#10;AI-generated content may be incorrect.">
            <a:extLst>
              <a:ext uri="{FF2B5EF4-FFF2-40B4-BE49-F238E27FC236}">
                <a16:creationId xmlns:a16="http://schemas.microsoft.com/office/drawing/2014/main" id="{337E4CB3-CC27-5D05-1FCF-CD70C85CB5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23782" y="5974268"/>
            <a:ext cx="505929" cy="632979"/>
          </a:xfrm>
          <a:prstGeom prst="rect">
            <a:avLst/>
          </a:prstGeom>
        </p:spPr>
      </p:pic>
      <p:grpSp>
        <p:nvGrpSpPr>
          <p:cNvPr id="3" name="Group 2">
            <a:extLst>
              <a:ext uri="{FF2B5EF4-FFF2-40B4-BE49-F238E27FC236}">
                <a16:creationId xmlns:a16="http://schemas.microsoft.com/office/drawing/2014/main" id="{3DE628E5-522A-A2E5-702C-991DC4C0540C}"/>
              </a:ext>
            </a:extLst>
          </p:cNvPr>
          <p:cNvGrpSpPr/>
          <p:nvPr/>
        </p:nvGrpSpPr>
        <p:grpSpPr>
          <a:xfrm>
            <a:off x="287867" y="7063409"/>
            <a:ext cx="11644423" cy="4656647"/>
            <a:chOff x="299484" y="503583"/>
            <a:chExt cx="11644423" cy="4656647"/>
          </a:xfrm>
        </p:grpSpPr>
        <p:cxnSp>
          <p:nvCxnSpPr>
            <p:cNvPr id="5" name="Straight Connector 4">
              <a:extLst>
                <a:ext uri="{FF2B5EF4-FFF2-40B4-BE49-F238E27FC236}">
                  <a16:creationId xmlns:a16="http://schemas.microsoft.com/office/drawing/2014/main" id="{1338ECC3-7149-86E7-E3A9-36A2B10E980E}"/>
                </a:ext>
              </a:extLst>
            </p:cNvPr>
            <p:cNvCxnSpPr/>
            <p:nvPr/>
          </p:nvCxnSpPr>
          <p:spPr>
            <a:xfrm>
              <a:off x="299484" y="78848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sp useBgFill="1">
          <p:nvSpPr>
            <p:cNvPr id="6" name="Oval 5">
              <a:extLst>
                <a:ext uri="{FF2B5EF4-FFF2-40B4-BE49-F238E27FC236}">
                  <a16:creationId xmlns:a16="http://schemas.microsoft.com/office/drawing/2014/main" id="{7BD4A9BB-09F4-F070-0616-105D468B651D}"/>
                </a:ext>
              </a:extLst>
            </p:cNvPr>
            <p:cNvSpPr/>
            <p:nvPr/>
          </p:nvSpPr>
          <p:spPr>
            <a:xfrm>
              <a:off x="5842207" y="503583"/>
              <a:ext cx="507586" cy="507586"/>
            </a:xfrm>
            <a:prstGeom prst="ellipse">
              <a:avLst/>
            </a:prstGeom>
            <a:blipFill dpi="0" rotWithShape="0">
              <a:blip r:embed="rId4">
                <a:lum/>
              </a:blip>
              <a:srcRect/>
              <a:stretch>
                <a:fillRect l="-1922467" t="-367961" r="-379491" b="-883140"/>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p:nvSpPr>
            <p:cNvPr id="7" name="TextBox 6">
              <a:extLst>
                <a:ext uri="{FF2B5EF4-FFF2-40B4-BE49-F238E27FC236}">
                  <a16:creationId xmlns:a16="http://schemas.microsoft.com/office/drawing/2014/main" id="{3877B526-C73C-1B0A-4086-A3BF5BFF20D8}"/>
                </a:ext>
              </a:extLst>
            </p:cNvPr>
            <p:cNvSpPr txBox="1"/>
            <p:nvPr/>
          </p:nvSpPr>
          <p:spPr>
            <a:xfrm>
              <a:off x="2046652" y="2424055"/>
              <a:ext cx="8150086" cy="2360005"/>
            </a:xfrm>
            <a:prstGeom prst="rect">
              <a:avLst/>
            </a:prstGeom>
            <a:noFill/>
          </p:spPr>
          <p:txBody>
            <a:bodyPr wrap="square"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pPr algn="ctr"/>
              <a:r>
                <a:rPr lang="en-GB" sz="4800" dirty="0"/>
                <a:t>With your support, </a:t>
              </a:r>
              <a:r>
                <a:rPr lang="en-GB" sz="4800" dirty="0" err="1"/>
                <a:t>LifeQuest</a:t>
              </a:r>
              <a:r>
                <a:rPr lang="en-GB" sz="4800" dirty="0"/>
                <a:t> will transform unemployment into opportunity, connecting 600K+ lives by 2030—let's make loneliness a thing of the past!</a:t>
              </a:r>
            </a:p>
          </p:txBody>
        </p:sp>
        <p:sp>
          <p:nvSpPr>
            <p:cNvPr id="8" name="TextBox 7">
              <a:extLst>
                <a:ext uri="{FF2B5EF4-FFF2-40B4-BE49-F238E27FC236}">
                  <a16:creationId xmlns:a16="http://schemas.microsoft.com/office/drawing/2014/main" id="{B18D66E8-4E78-C50E-7EC4-D6FEBD9E6D6A}"/>
                </a:ext>
              </a:extLst>
            </p:cNvPr>
            <p:cNvSpPr txBox="1"/>
            <p:nvPr/>
          </p:nvSpPr>
          <p:spPr>
            <a:xfrm>
              <a:off x="2046652" y="4882333"/>
              <a:ext cx="8150086" cy="277897"/>
            </a:xfrm>
            <a:prstGeom prst="rect">
              <a:avLst/>
            </a:prstGeom>
            <a:noFill/>
          </p:spPr>
          <p:txBody>
            <a:bodyPr wrap="square"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pPr algn="ctr"/>
              <a:r>
                <a:rPr lang="en-GB" sz="1800" dirty="0">
                  <a:solidFill>
                    <a:schemeClr val="tx1">
                      <a:lumMod val="50000"/>
                      <a:lumOff val="50000"/>
                    </a:schemeClr>
                  </a:solidFill>
                </a:rPr>
                <a:t>Questions?</a:t>
              </a:r>
            </a:p>
          </p:txBody>
        </p:sp>
      </p:grpSp>
    </p:spTree>
    <p:extLst>
      <p:ext uri="{BB962C8B-B14F-4D97-AF65-F5344CB8AC3E}">
        <p14:creationId xmlns:p14="http://schemas.microsoft.com/office/powerpoint/2010/main" val="3234984323"/>
      </p:ext>
    </p:extLst>
  </p:cSld>
  <p:clrMapOvr>
    <a:masterClrMapping/>
  </p:clrMapOvr>
  <mc:AlternateContent xmlns:mc="http://schemas.openxmlformats.org/markup-compatibility/2006" xmlns:p159="http://schemas.microsoft.com/office/powerpoint/2015/09/main">
    <mc:Choice Requires="p159">
      <p:transition spd="slow" advTm="0">
        <p159:morph option="byObjec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9"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par>
                                <p:cTn id="12" presetID="2" presetClass="entr" presetSubtype="4" fill="hold" nodeType="with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fill="hold"/>
                                        <p:tgtEl>
                                          <p:spTgt spid="2"/>
                                        </p:tgtEl>
                                        <p:attrNameLst>
                                          <p:attrName>ppt_x</p:attrName>
                                        </p:attrNameLst>
                                      </p:cBhvr>
                                      <p:tavLst>
                                        <p:tav tm="0">
                                          <p:val>
                                            <p:strVal val="#ppt_x"/>
                                          </p:val>
                                        </p:tav>
                                        <p:tav tm="100000">
                                          <p:val>
                                            <p:strVal val="#ppt_x"/>
                                          </p:val>
                                        </p:tav>
                                      </p:tavLst>
                                    </p:anim>
                                    <p:anim calcmode="lin" valueType="num">
                                      <p:cBhvr additive="base">
                                        <p:cTn id="1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49201F-4C62-73C1-5D02-47FC1133D852}"/>
              </a:ext>
            </a:extLst>
          </p:cNvPr>
          <p:cNvSpPr txBox="1"/>
          <p:nvPr/>
        </p:nvSpPr>
        <p:spPr>
          <a:xfrm>
            <a:off x="299484" y="407551"/>
            <a:ext cx="979435" cy="185564"/>
          </a:xfrm>
          <a:prstGeom prst="rect">
            <a:avLst/>
          </a:prstGeom>
          <a:noFill/>
        </p:spPr>
        <p:txBody>
          <a:bodyPr wrap="none" lIns="0" tIns="0" rIns="0" bIns="0" rtlCol="0">
            <a:spAutoFit/>
          </a:bodyPr>
          <a:lstStyle/>
          <a:p>
            <a:pPr marL="0" marR="0" lvl="0" indent="0" defTabSz="914400" rtl="0" eaLnBrk="1" fontAlgn="auto" latinLnBrk="0" hangingPunct="1">
              <a:lnSpc>
                <a:spcPct val="6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Darker Grotesque" pitchFamily="2" charset="0"/>
              </a:rPr>
              <a:t>Thank You</a:t>
            </a:r>
          </a:p>
        </p:txBody>
      </p:sp>
      <p:pic>
        <p:nvPicPr>
          <p:cNvPr id="52" name="Graphic 51">
            <a:extLst>
              <a:ext uri="{FF2B5EF4-FFF2-40B4-BE49-F238E27FC236}">
                <a16:creationId xmlns:a16="http://schemas.microsoft.com/office/drawing/2014/main" id="{31D8CC29-B332-A082-0B8B-3852195CB9E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70000" y="631376"/>
            <a:ext cx="252000" cy="252000"/>
          </a:xfrm>
          <a:prstGeom prst="rect">
            <a:avLst/>
          </a:prstGeom>
        </p:spPr>
      </p:pic>
      <p:pic>
        <p:nvPicPr>
          <p:cNvPr id="3" name="Picture 2" descr="A close-up of a logo&#10;&#10;AI-generated content may be incorrect.">
            <a:extLst>
              <a:ext uri="{FF2B5EF4-FFF2-40B4-BE49-F238E27FC236}">
                <a16:creationId xmlns:a16="http://schemas.microsoft.com/office/drawing/2014/main" id="{C156221D-AE1A-12E8-8491-38BE1358BE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23782" y="5974268"/>
            <a:ext cx="505929" cy="632979"/>
          </a:xfrm>
          <a:prstGeom prst="rect">
            <a:avLst/>
          </a:prstGeom>
        </p:spPr>
      </p:pic>
      <p:grpSp>
        <p:nvGrpSpPr>
          <p:cNvPr id="10" name="Group 9">
            <a:extLst>
              <a:ext uri="{FF2B5EF4-FFF2-40B4-BE49-F238E27FC236}">
                <a16:creationId xmlns:a16="http://schemas.microsoft.com/office/drawing/2014/main" id="{760EB89D-F70E-B9E7-3A79-AC84C7C0DA19}"/>
              </a:ext>
            </a:extLst>
          </p:cNvPr>
          <p:cNvGrpSpPr/>
          <p:nvPr/>
        </p:nvGrpSpPr>
        <p:grpSpPr>
          <a:xfrm>
            <a:off x="299484" y="503583"/>
            <a:ext cx="11644423" cy="5001572"/>
            <a:chOff x="299484" y="503583"/>
            <a:chExt cx="11644423" cy="5001572"/>
          </a:xfrm>
        </p:grpSpPr>
        <p:cxnSp>
          <p:nvCxnSpPr>
            <p:cNvPr id="6" name="Straight Connector 5">
              <a:extLst>
                <a:ext uri="{FF2B5EF4-FFF2-40B4-BE49-F238E27FC236}">
                  <a16:creationId xmlns:a16="http://schemas.microsoft.com/office/drawing/2014/main" id="{DAF469FA-AF7F-70C6-5D0C-057DB7FD6D02}"/>
                </a:ext>
              </a:extLst>
            </p:cNvPr>
            <p:cNvCxnSpPr/>
            <p:nvPr/>
          </p:nvCxnSpPr>
          <p:spPr>
            <a:xfrm>
              <a:off x="299484" y="78848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sp useBgFill="1">
          <p:nvSpPr>
            <p:cNvPr id="51" name="Oval 50">
              <a:extLst>
                <a:ext uri="{FF2B5EF4-FFF2-40B4-BE49-F238E27FC236}">
                  <a16:creationId xmlns:a16="http://schemas.microsoft.com/office/drawing/2014/main" id="{09683DC7-473B-6AA2-69C1-28122D7CF70F}"/>
                </a:ext>
              </a:extLst>
            </p:cNvPr>
            <p:cNvSpPr/>
            <p:nvPr/>
          </p:nvSpPr>
          <p:spPr>
            <a:xfrm>
              <a:off x="5842207" y="503583"/>
              <a:ext cx="507586" cy="507586"/>
            </a:xfrm>
            <a:prstGeom prst="ellipse">
              <a:avLst/>
            </a:prstGeom>
            <a:blipFill dpi="0" rotWithShape="0">
              <a:blip r:embed="rId6">
                <a:lum/>
              </a:blip>
              <a:srcRect/>
              <a:stretch>
                <a:fillRect l="-1922467" t="-367961" r="-379491" b="-883140"/>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p:nvSpPr>
            <p:cNvPr id="193" name="TextBox 192">
              <a:extLst>
                <a:ext uri="{FF2B5EF4-FFF2-40B4-BE49-F238E27FC236}">
                  <a16:creationId xmlns:a16="http://schemas.microsoft.com/office/drawing/2014/main" id="{E074EF48-D9AB-18C0-755A-019342DFCA01}"/>
                </a:ext>
              </a:extLst>
            </p:cNvPr>
            <p:cNvSpPr txBox="1"/>
            <p:nvPr/>
          </p:nvSpPr>
          <p:spPr>
            <a:xfrm>
              <a:off x="2046652" y="2424055"/>
              <a:ext cx="8150086" cy="2803203"/>
            </a:xfrm>
            <a:prstGeom prst="rect">
              <a:avLst/>
            </a:prstGeom>
            <a:noFill/>
          </p:spPr>
          <p:txBody>
            <a:bodyPr wrap="square"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pPr algn="ctr"/>
              <a:r>
                <a:rPr lang="en-GB" sz="4800" dirty="0"/>
                <a:t>With your support, </a:t>
              </a:r>
              <a:r>
                <a:rPr lang="en-GB" sz="4800" dirty="0" err="1"/>
                <a:t>LifeQuest</a:t>
              </a:r>
              <a:r>
                <a:rPr lang="en-GB" sz="4800" dirty="0"/>
                <a:t> will transform unemployment into opportunity, connecting </a:t>
              </a:r>
              <a:r>
                <a:rPr lang="en-GB" sz="4800" b="1" dirty="0"/>
                <a:t>600K+ lives </a:t>
              </a:r>
              <a:r>
                <a:rPr lang="en-GB" sz="4800" dirty="0"/>
                <a:t>by 2030—let's make loneliness a thing of the past!</a:t>
              </a:r>
            </a:p>
          </p:txBody>
        </p:sp>
        <p:sp>
          <p:nvSpPr>
            <p:cNvPr id="5" name="TextBox 4">
              <a:extLst>
                <a:ext uri="{FF2B5EF4-FFF2-40B4-BE49-F238E27FC236}">
                  <a16:creationId xmlns:a16="http://schemas.microsoft.com/office/drawing/2014/main" id="{D3BAEDCD-EF2A-7E19-C57F-895A929E674F}"/>
                </a:ext>
              </a:extLst>
            </p:cNvPr>
            <p:cNvSpPr txBox="1"/>
            <p:nvPr/>
          </p:nvSpPr>
          <p:spPr>
            <a:xfrm>
              <a:off x="2020957" y="5227258"/>
              <a:ext cx="8150086" cy="277897"/>
            </a:xfrm>
            <a:prstGeom prst="rect">
              <a:avLst/>
            </a:prstGeom>
            <a:noFill/>
          </p:spPr>
          <p:txBody>
            <a:bodyPr wrap="square"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pPr algn="ctr"/>
              <a:r>
                <a:rPr lang="en-GB" sz="1800" dirty="0">
                  <a:solidFill>
                    <a:schemeClr val="tx1">
                      <a:lumMod val="50000"/>
                      <a:lumOff val="50000"/>
                    </a:schemeClr>
                  </a:solidFill>
                </a:rPr>
                <a:t>Questions?</a:t>
              </a:r>
            </a:p>
          </p:txBody>
        </p:sp>
      </p:grpSp>
    </p:spTree>
    <p:extLst>
      <p:ext uri="{BB962C8B-B14F-4D97-AF65-F5344CB8AC3E}">
        <p14:creationId xmlns:p14="http://schemas.microsoft.com/office/powerpoint/2010/main" val="19182050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par>
                                <p:cTn id="9" presetID="9"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dissolve">
                                      <p:cBhvr>
                                        <p:cTn id="11" dur="500"/>
                                        <p:tgtEl>
                                          <p:spTgt spid="3"/>
                                        </p:tgtEl>
                                      </p:cBhvr>
                                    </p:animEffect>
                                  </p:childTnLst>
                                </p:cTn>
                              </p:par>
                              <p:par>
                                <p:cTn id="12" presetID="2" presetClass="entr" presetSubtype="4" fill="hold" nodeType="with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ppt_x"/>
                                          </p:val>
                                        </p:tav>
                                        <p:tav tm="100000">
                                          <p:val>
                                            <p:strVal val="#ppt_x"/>
                                          </p:val>
                                        </p:tav>
                                      </p:tavLst>
                                    </p:anim>
                                    <p:anim calcmode="lin" valueType="num">
                                      <p:cBhvr additive="base">
                                        <p:cTn id="1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BRIGHTSLIDE_SLIDE_COLLAPSED" val="TRU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Thesis PPT">
      <a:dk1>
        <a:sysClr val="windowText" lastClr="000000"/>
      </a:dk1>
      <a:lt1>
        <a:sysClr val="window" lastClr="FFFFFF"/>
      </a:lt1>
      <a:dk2>
        <a:srgbClr val="140812"/>
      </a:dk2>
      <a:lt2>
        <a:srgbClr val="D8D9DC"/>
      </a:lt2>
      <a:accent1>
        <a:srgbClr val="00FFB3"/>
      </a:accent1>
      <a:accent2>
        <a:srgbClr val="00F1FF"/>
      </a:accent2>
      <a:accent3>
        <a:srgbClr val="4775E7"/>
      </a:accent3>
      <a:accent4>
        <a:srgbClr val="8730EA"/>
      </a:accent4>
      <a:accent5>
        <a:srgbClr val="FD6364"/>
      </a:accent5>
      <a:accent6>
        <a:srgbClr val="D54773"/>
      </a:accent6>
      <a:hlink>
        <a:srgbClr val="4775E7"/>
      </a:hlink>
      <a:folHlink>
        <a:srgbClr val="8C8C8C"/>
      </a:folHlink>
    </a:clrScheme>
    <a:fontScheme name="Darker Grotesque">
      <a:majorFont>
        <a:latin typeface="Darker Grotesque SemiBold"/>
        <a:ea typeface=""/>
        <a:cs typeface=""/>
      </a:majorFont>
      <a:minorFont>
        <a:latin typeface="Darker Grotesque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1547</TotalTime>
  <Words>1294</Words>
  <Application>Microsoft Macintosh PowerPoint</Application>
  <PresentationFormat>Widescreen</PresentationFormat>
  <Paragraphs>205</Paragraphs>
  <Slides>20</Slides>
  <Notes>9</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20</vt:i4>
      </vt:variant>
    </vt:vector>
  </HeadingPairs>
  <TitlesOfParts>
    <vt:vector size="33" baseType="lpstr">
      <vt:lpstr>Aptos</vt:lpstr>
      <vt:lpstr>Aptos Display</vt:lpstr>
      <vt:lpstr>Arial</vt:lpstr>
      <vt:lpstr>Calibri</vt:lpstr>
      <vt:lpstr>Darker Grotesque</vt:lpstr>
      <vt:lpstr>Darker Grotesque Medium</vt:lpstr>
      <vt:lpstr>Darker Grotesque SemiBold</vt:lpstr>
      <vt:lpstr>Merriweather</vt:lpstr>
      <vt:lpstr>Playfair Display</vt:lpstr>
      <vt:lpstr>Poppins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One Skill</dc:creator>
  <cp:lastModifiedBy>Diler, Manav</cp:lastModifiedBy>
  <cp:revision>4</cp:revision>
  <dcterms:created xsi:type="dcterms:W3CDTF">2024-07-26T12:33:19Z</dcterms:created>
  <dcterms:modified xsi:type="dcterms:W3CDTF">2025-03-09T13:37:57Z</dcterms:modified>
</cp:coreProperties>
</file>